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2.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3.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4.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5.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6.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7.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8.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9.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10.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11.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12.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13.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3"/>
  </p:notesMasterIdLst>
  <p:handoutMasterIdLst>
    <p:handoutMasterId r:id="rId24"/>
  </p:handoutMasterIdLst>
  <p:sldIdLst>
    <p:sldId id="274" r:id="rId3"/>
    <p:sldId id="257" r:id="rId4"/>
    <p:sldId id="260" r:id="rId5"/>
    <p:sldId id="321" r:id="rId6"/>
    <p:sldId id="261" r:id="rId7"/>
    <p:sldId id="259" r:id="rId8"/>
    <p:sldId id="306" r:id="rId9"/>
    <p:sldId id="296" r:id="rId10"/>
    <p:sldId id="295" r:id="rId11"/>
    <p:sldId id="294" r:id="rId12"/>
    <p:sldId id="299" r:id="rId13"/>
    <p:sldId id="300" r:id="rId14"/>
    <p:sldId id="325" r:id="rId15"/>
    <p:sldId id="326" r:id="rId16"/>
    <p:sldId id="263" r:id="rId17"/>
    <p:sldId id="298" r:id="rId18"/>
    <p:sldId id="305" r:id="rId19"/>
    <p:sldId id="270" r:id="rId20"/>
    <p:sldId id="276" r:id="rId21"/>
    <p:sldId id="273"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669" userDrawn="1">
          <p15:clr>
            <a:srgbClr val="A4A3A4"/>
          </p15:clr>
        </p15:guide>
        <p15:guide id="4" pos="932" userDrawn="1">
          <p15:clr>
            <a:srgbClr val="A4A3A4"/>
          </p15:clr>
        </p15:guide>
        <p15:guide id="5" pos="7596" userDrawn="1">
          <p15:clr>
            <a:srgbClr val="A4A3A4"/>
          </p15:clr>
        </p15:guide>
        <p15:guide id="6" pos="4067" userDrawn="1">
          <p15:clr>
            <a:srgbClr val="A4A3A4"/>
          </p15:clr>
        </p15:guide>
        <p15:guide id="7" orient="horz" pos="1089" userDrawn="1">
          <p15:clr>
            <a:srgbClr val="A4A3A4"/>
          </p15:clr>
        </p15:guide>
        <p15:guide id="8" pos="5494" userDrawn="1">
          <p15:clr>
            <a:srgbClr val="A4A3A4"/>
          </p15:clr>
        </p15:guide>
        <p15:guide id="9" pos="1958" userDrawn="1">
          <p15:clr>
            <a:srgbClr val="A4A3A4"/>
          </p15:clr>
        </p15:guide>
        <p15:guide id="10" orient="horz" pos="2194" userDrawn="1">
          <p15:clr>
            <a:srgbClr val="A4A3A4"/>
          </p15:clr>
        </p15:guide>
        <p15:guide id="12" orient="horz" pos="3329" userDrawn="1">
          <p15:clr>
            <a:srgbClr val="A4A3A4"/>
          </p15:clr>
        </p15:guide>
        <p15:guide id="13" pos="3617" userDrawn="1">
          <p15:clr>
            <a:srgbClr val="A4A3A4"/>
          </p15:clr>
        </p15:guide>
        <p15:guide id="14" orient="horz" pos="372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DEDE"/>
    <a:srgbClr val="00C0C4"/>
    <a:srgbClr val="6C25A9"/>
    <a:srgbClr val="7A3285"/>
    <a:srgbClr val="BC107E"/>
    <a:srgbClr val="5E068C"/>
    <a:srgbClr val="FF9600"/>
    <a:srgbClr val="7B2B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66" autoAdjust="0"/>
    <p:restoredTop sz="96414"/>
  </p:normalViewPr>
  <p:slideViewPr>
    <p:cSldViewPr snapToGrid="0" showGuides="1">
      <p:cViewPr varScale="1">
        <p:scale>
          <a:sx n="118" d="100"/>
          <a:sy n="118" d="100"/>
        </p:scale>
        <p:origin x="232" y="488"/>
      </p:cViewPr>
      <p:guideLst>
        <p:guide pos="3840"/>
        <p:guide orient="horz" pos="669"/>
        <p:guide pos="932"/>
        <p:guide pos="7596"/>
        <p:guide pos="4067"/>
        <p:guide orient="horz" pos="1089"/>
        <p:guide pos="5494"/>
        <p:guide pos="1958"/>
        <p:guide orient="horz" pos="2194"/>
        <p:guide orient="horz" pos="3329"/>
        <p:guide pos="3617"/>
        <p:guide orient="horz" pos="372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2025/12/18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2025/12/18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latinLnBrk="1"/>
            <a:r>
              <a:rPr lang="zh-CN" altLang="en-US" b="0" i="0" dirty="0">
                <a:solidFill>
                  <a:srgbClr val="0D1239"/>
                </a:solidFill>
                <a:effectLst/>
                <a:latin typeface="PingFang SC" panose="020B0400000000000000" pitchFamily="34" charset="-122"/>
                <a:ea typeface="PingFang SC" panose="020B0400000000000000" pitchFamily="34" charset="-122"/>
              </a:rPr>
              <a:t>互联网已成为当今世界最重要的基础设施，深刻影响着生产生活的各个方面。通过主动或被动测量，能够感知网络中的设备与服务状态，进而绘制网络资产分布和掌握网络安全态势，为运维保障与业务决策提供数据支撑。</a:t>
            </a:r>
            <a:endParaRPr lang="en-US" altLang="zh-CN" b="0" i="0" dirty="0">
              <a:solidFill>
                <a:srgbClr val="0D1239"/>
              </a:solidFill>
              <a:effectLst/>
              <a:latin typeface="PingFang SC" panose="020B0400000000000000" pitchFamily="34" charset="-122"/>
              <a:ea typeface="PingFang SC" panose="020B0400000000000000" pitchFamily="34" charset="-122"/>
            </a:endParaRPr>
          </a:p>
          <a:p>
            <a:pPr algn="l" latinLnBrk="1"/>
            <a:endParaRPr lang="zh-CN" altLang="en-US" b="0" i="0" dirty="0">
              <a:solidFill>
                <a:srgbClr val="0D1239"/>
              </a:solidFill>
              <a:effectLst/>
              <a:latin typeface="PingFang SC" panose="020B0400000000000000" pitchFamily="34" charset="-122"/>
              <a:ea typeface="PingFang SC" panose="020B0400000000000000" pitchFamily="34" charset="-122"/>
            </a:endParaRPr>
          </a:p>
          <a:p>
            <a:pPr algn="l" latinLnBrk="1"/>
            <a:r>
              <a:rPr lang="zh-CN" altLang="en-US" b="0" i="0" dirty="0">
                <a:solidFill>
                  <a:srgbClr val="0D1239"/>
                </a:solidFill>
                <a:effectLst/>
                <a:latin typeface="PingFang SC" panose="020B0400000000000000" pitchFamily="34" charset="-122"/>
                <a:ea typeface="PingFang SC" panose="020B0400000000000000" pitchFamily="34" charset="-122"/>
              </a:rPr>
              <a:t>对云厂商而言，实时的全球测量更是一项关键基础能力：一方面，用户与业务分布在不同国家、运营商与 </a:t>
            </a:r>
            <a:r>
              <a:rPr lang="en" altLang="zh-CN" b="0" i="0" dirty="0">
                <a:solidFill>
                  <a:srgbClr val="0D1239"/>
                </a:solidFill>
                <a:effectLst/>
                <a:latin typeface="PingFang SC" panose="020B0400000000000000" pitchFamily="34" charset="-122"/>
                <a:ea typeface="PingFang SC" panose="020B0400000000000000" pitchFamily="34" charset="-122"/>
              </a:rPr>
              <a:t>ASN</a:t>
            </a:r>
            <a:r>
              <a:rPr lang="zh-CN" altLang="en" b="0" i="0" dirty="0">
                <a:solidFill>
                  <a:srgbClr val="0D1239"/>
                </a:solidFill>
                <a:effectLst/>
                <a:latin typeface="PingFang SC" panose="020B0400000000000000" pitchFamily="34" charset="-122"/>
                <a:ea typeface="PingFang SC" panose="020B0400000000000000" pitchFamily="34" charset="-122"/>
              </a:rPr>
              <a:t>，</a:t>
            </a:r>
            <a:r>
              <a:rPr lang="zh-CN" altLang="en-US" b="0" i="0" dirty="0">
                <a:solidFill>
                  <a:srgbClr val="0D1239"/>
                </a:solidFill>
                <a:effectLst/>
                <a:latin typeface="PingFang SC" panose="020B0400000000000000" pitchFamily="34" charset="-122"/>
                <a:ea typeface="PingFang SC" panose="020B0400000000000000" pitchFamily="34" charset="-122"/>
              </a:rPr>
              <a:t>需要持续、客观地跟踪公有云服务的 </a:t>
            </a:r>
            <a:r>
              <a:rPr lang="en" altLang="zh-CN" b="0" i="0" dirty="0">
                <a:solidFill>
                  <a:srgbClr val="0D1239"/>
                </a:solidFill>
                <a:effectLst/>
                <a:latin typeface="PingFang SC" panose="020B0400000000000000" pitchFamily="34" charset="-122"/>
                <a:ea typeface="PingFang SC" panose="020B0400000000000000" pitchFamily="34" charset="-122"/>
              </a:rPr>
              <a:t>SLA </a:t>
            </a:r>
            <a:r>
              <a:rPr lang="zh-CN" altLang="en-US" b="0" i="0" dirty="0">
                <a:solidFill>
                  <a:srgbClr val="0D1239"/>
                </a:solidFill>
                <a:effectLst/>
                <a:latin typeface="PingFang SC" panose="020B0400000000000000" pitchFamily="34" charset="-122"/>
                <a:ea typeface="PingFang SC" panose="020B0400000000000000" pitchFamily="34" charset="-122"/>
              </a:rPr>
              <a:t>与兑现情况；另一方面，</a:t>
            </a:r>
            <a:r>
              <a:rPr lang="en" altLang="zh-CN" b="0" i="0" dirty="0">
                <a:solidFill>
                  <a:srgbClr val="0D1239"/>
                </a:solidFill>
                <a:effectLst/>
                <a:latin typeface="PingFang SC" panose="020B0400000000000000" pitchFamily="34" charset="-122"/>
                <a:ea typeface="PingFang SC" panose="020B0400000000000000" pitchFamily="34" charset="-122"/>
              </a:rPr>
              <a:t>BGP </a:t>
            </a:r>
            <a:r>
              <a:rPr lang="zh-CN" altLang="en-US" b="0" i="0" dirty="0">
                <a:solidFill>
                  <a:srgbClr val="0D1239"/>
                </a:solidFill>
                <a:effectLst/>
                <a:latin typeface="PingFang SC" panose="020B0400000000000000" pitchFamily="34" charset="-122"/>
                <a:ea typeface="PingFang SC" panose="020B0400000000000000" pitchFamily="34" charset="-122"/>
              </a:rPr>
              <a:t>路由变化、跨域链路拥塞或局部故障可能在分钟级影响大规模用户体验。借助主动探测，能够及时发现网络性能劣化与异常，快速定位，并为流量调度、路径选择与容灾切换提供实时依据。</a:t>
            </a:r>
            <a:endParaRPr lang="en-US" altLang="zh-CN" b="0" i="0" dirty="0">
              <a:solidFill>
                <a:srgbClr val="0D1239"/>
              </a:solidFill>
              <a:effectLst/>
              <a:latin typeface="PingFang SC" panose="020B0400000000000000" pitchFamily="34" charset="-122"/>
              <a:ea typeface="PingFang SC" panose="020B0400000000000000" pitchFamily="34" charset="-122"/>
            </a:endParaRPr>
          </a:p>
          <a:p>
            <a:pPr algn="l" latinLnBrk="1"/>
            <a:endParaRPr lang="zh-CN" altLang="en-US" b="0" i="0" dirty="0">
              <a:solidFill>
                <a:srgbClr val="0D1239"/>
              </a:solidFill>
              <a:effectLst/>
              <a:latin typeface="PingFang SC" panose="020B0400000000000000" pitchFamily="34" charset="-122"/>
              <a:ea typeface="PingFang SC" panose="020B0400000000000000" pitchFamily="34" charset="-122"/>
            </a:endParaRPr>
          </a:p>
          <a:p>
            <a:pPr algn="l" latinLnBrk="1"/>
            <a:r>
              <a:rPr lang="zh-CN" altLang="en-US" b="0" i="0" dirty="0">
                <a:solidFill>
                  <a:srgbClr val="0D1239"/>
                </a:solidFill>
                <a:effectLst/>
                <a:latin typeface="PingFang SC" panose="020B0400000000000000" pitchFamily="34" charset="-122"/>
                <a:ea typeface="PingFang SC" panose="020B0400000000000000" pitchFamily="34" charset="-122"/>
              </a:rPr>
              <a:t>在 </a:t>
            </a:r>
            <a:r>
              <a:rPr lang="en" altLang="zh-CN" b="0" i="0" dirty="0">
                <a:solidFill>
                  <a:srgbClr val="0D1239"/>
                </a:solidFill>
                <a:effectLst/>
                <a:latin typeface="PingFang SC" panose="020B0400000000000000" pitchFamily="34" charset="-122"/>
                <a:ea typeface="PingFang SC" panose="020B0400000000000000" pitchFamily="34" charset="-122"/>
              </a:rPr>
              <a:t>IPv4 </a:t>
            </a:r>
            <a:r>
              <a:rPr lang="zh-CN" altLang="en-US" b="0" i="0" dirty="0">
                <a:solidFill>
                  <a:srgbClr val="0D1239"/>
                </a:solidFill>
                <a:effectLst/>
                <a:latin typeface="PingFang SC" panose="020B0400000000000000" pitchFamily="34" charset="-122"/>
                <a:ea typeface="PingFang SC" panose="020B0400000000000000" pitchFamily="34" charset="-122"/>
              </a:rPr>
              <a:t>场景下，互联网探测可以通过遍历地址空间获取活跃地址集合，对这些地址进行实时探测即可实现对网络质量的持续感知与分析。随着移动互联网与物联网的发展推动 </a:t>
            </a:r>
            <a:r>
              <a:rPr lang="en" altLang="zh-CN" b="0" i="0" dirty="0">
                <a:solidFill>
                  <a:srgbClr val="0D1239"/>
                </a:solidFill>
                <a:effectLst/>
                <a:latin typeface="PingFang SC" panose="020B0400000000000000" pitchFamily="34" charset="-122"/>
                <a:ea typeface="PingFang SC" panose="020B0400000000000000" pitchFamily="34" charset="-122"/>
              </a:rPr>
              <a:t>IPv6 </a:t>
            </a:r>
            <a:r>
              <a:rPr lang="zh-CN" altLang="en-US" b="0" i="0" dirty="0">
                <a:solidFill>
                  <a:srgbClr val="0D1239"/>
                </a:solidFill>
                <a:effectLst/>
                <a:latin typeface="PingFang SC" panose="020B0400000000000000" pitchFamily="34" charset="-122"/>
                <a:ea typeface="PingFang SC" panose="020B0400000000000000" pitchFamily="34" charset="-122"/>
              </a:rPr>
              <a:t>加速部署，巨大的地址空间是的探测方法需要进一步考虑长期持续性、地址代表性与结果可运维</a:t>
            </a:r>
            <a:endParaRPr lang="en-US" altLang="zh-CN" b="0" i="0" dirty="0">
              <a:solidFill>
                <a:srgbClr val="0D1239"/>
              </a:solidFill>
              <a:effectLst/>
              <a:latin typeface="PingFang SC" panose="020B0400000000000000" pitchFamily="34" charset="-122"/>
              <a:ea typeface="PingFang SC" panose="020B0400000000000000" pitchFamily="34" charset="-122"/>
            </a:endParaRPr>
          </a:p>
          <a:p>
            <a:pPr algn="l" latinLnBrk="1"/>
            <a:endParaRPr lang="en-US" altLang="zh-CN" b="0" i="0" dirty="0">
              <a:solidFill>
                <a:srgbClr val="0D1239"/>
              </a:solidFill>
              <a:effectLst/>
              <a:latin typeface="PingFang SC" panose="020B0400000000000000" pitchFamily="34" charset="-122"/>
              <a:ea typeface="PingFang SC" panose="020B0400000000000000" pitchFamily="34" charset="-122"/>
            </a:endParaRPr>
          </a:p>
          <a:p>
            <a:pPr algn="l" latinLnBrk="1"/>
            <a:endParaRPr lang="en-US" altLang="zh-CN" b="0" i="0" dirty="0">
              <a:solidFill>
                <a:srgbClr val="0D1239"/>
              </a:solidFill>
              <a:effectLst/>
              <a:latin typeface="PingFang SC" panose="020B0400000000000000" pitchFamily="34" charset="-122"/>
              <a:ea typeface="PingFang SC" panose="020B0400000000000000" pitchFamily="34" charset="-122"/>
            </a:endParaRPr>
          </a:p>
          <a:p>
            <a:pPr algn="l">
              <a:buFont typeface="+mj-lt"/>
              <a:buAutoNum type="arabicPeriod"/>
            </a:pPr>
            <a:r>
              <a:rPr lang="zh-CN" altLang="en-US" b="0" i="0" dirty="0">
                <a:solidFill>
                  <a:srgbClr val="0D1239"/>
                </a:solidFill>
                <a:effectLst/>
                <a:latin typeface="PingFang SC" panose="020B0400000000000000" pitchFamily="34" charset="-122"/>
                <a:ea typeface="PingFang SC" panose="020B0400000000000000" pitchFamily="34" charset="-122"/>
              </a:rPr>
              <a:t>互联网探测的价值与作用</a:t>
            </a:r>
          </a:p>
          <a:p>
            <a:pPr algn="l">
              <a:buFont typeface="+mj-lt"/>
              <a:buAutoNum type="arabicPeriod"/>
            </a:pPr>
            <a:r>
              <a:rPr lang="zh-CN" altLang="en-US" b="0" i="0" dirty="0">
                <a:solidFill>
                  <a:srgbClr val="0D1239"/>
                </a:solidFill>
                <a:effectLst/>
                <a:latin typeface="PingFang SC" panose="020B0400000000000000" pitchFamily="34" charset="-122"/>
                <a:ea typeface="PingFang SC" panose="020B0400000000000000" pitchFamily="34" charset="-122"/>
              </a:rPr>
              <a:t>云厂商的全球实时测量需求</a:t>
            </a:r>
          </a:p>
          <a:p>
            <a:pPr algn="l" latinLnBrk="1"/>
            <a:r>
              <a:rPr lang="en" altLang="zh-CN" b="0" i="0" dirty="0">
                <a:solidFill>
                  <a:srgbClr val="0D1239"/>
                </a:solidFill>
                <a:effectLst/>
                <a:latin typeface="PingFang SC" panose="020B0400000000000000" pitchFamily="34" charset="-122"/>
                <a:ea typeface="PingFang SC" panose="020B0400000000000000" pitchFamily="34" charset="-122"/>
              </a:rPr>
              <a:t>IPv6 </a:t>
            </a:r>
            <a:r>
              <a:rPr lang="zh-CN" altLang="en-US" b="0" i="0" dirty="0">
                <a:solidFill>
                  <a:srgbClr val="0D1239"/>
                </a:solidFill>
                <a:effectLst/>
                <a:latin typeface="PingFang SC" panose="020B0400000000000000" pitchFamily="34" charset="-122"/>
                <a:ea typeface="PingFang SC" panose="020B0400000000000000" pitchFamily="34" charset="-122"/>
              </a:rPr>
              <a:t>时代的可持续探测挑战</a:t>
            </a:r>
            <a:br>
              <a:rPr lang="en-US" altLang="zh-CN" b="0" i="0" dirty="0">
                <a:solidFill>
                  <a:srgbClr val="0D1239"/>
                </a:solidFill>
                <a:effectLst/>
                <a:latin typeface="PingFang SC" panose="020B0400000000000000" pitchFamily="34" charset="-122"/>
                <a:ea typeface="PingFang SC" panose="020B0400000000000000" pitchFamily="34" charset="-122"/>
              </a:rPr>
            </a:br>
            <a:br>
              <a:rPr lang="en-US" altLang="zh-CN" b="0" i="0" dirty="0">
                <a:solidFill>
                  <a:srgbClr val="0D1239"/>
                </a:solidFill>
                <a:effectLst/>
                <a:latin typeface="PingFang SC" panose="020B0400000000000000" pitchFamily="34" charset="-122"/>
                <a:ea typeface="PingFang SC" panose="020B0400000000000000" pitchFamily="34" charset="-122"/>
              </a:rPr>
            </a:br>
            <a:r>
              <a:rPr lang="zh-CN" altLang="en-US" b="0" i="0" dirty="0">
                <a:solidFill>
                  <a:srgbClr val="0D1239"/>
                </a:solidFill>
                <a:effectLst/>
                <a:latin typeface="PingFang SC" panose="020B0400000000000000" pitchFamily="34" charset="-122"/>
                <a:ea typeface="PingFang SC" panose="020B0400000000000000" pitchFamily="34" charset="-122"/>
              </a:rPr>
              <a:t>第一段</a:t>
            </a:r>
          </a:p>
          <a:p>
            <a:pPr algn="l">
              <a:buFont typeface="Arial" panose="020B0604020202020204" pitchFamily="34" charset="0"/>
              <a:buChar char="•"/>
            </a:pPr>
            <a:r>
              <a:rPr lang="zh-CN" altLang="en-US" b="0" i="0" dirty="0">
                <a:solidFill>
                  <a:srgbClr val="0D1239"/>
                </a:solidFill>
                <a:effectLst/>
                <a:latin typeface="PingFang SC" panose="020B0400000000000000" pitchFamily="34" charset="-122"/>
                <a:ea typeface="PingFang SC" panose="020B0400000000000000" pitchFamily="34" charset="-122"/>
              </a:rPr>
              <a:t>主动或被动测量</a:t>
            </a:r>
          </a:p>
          <a:p>
            <a:pPr algn="l">
              <a:buFont typeface="Arial" panose="020B0604020202020204" pitchFamily="34" charset="0"/>
              <a:buChar char="•"/>
            </a:pPr>
            <a:r>
              <a:rPr lang="zh-CN" altLang="en-US" b="0" i="0" dirty="0">
                <a:solidFill>
                  <a:srgbClr val="0D1239"/>
                </a:solidFill>
                <a:effectLst/>
                <a:latin typeface="PingFang SC" panose="020B0400000000000000" pitchFamily="34" charset="-122"/>
                <a:ea typeface="PingFang SC" panose="020B0400000000000000" pitchFamily="34" charset="-122"/>
              </a:rPr>
              <a:t>设备与服务状态</a:t>
            </a:r>
          </a:p>
          <a:p>
            <a:pPr algn="l">
              <a:buFont typeface="Arial" panose="020B0604020202020204" pitchFamily="34" charset="0"/>
              <a:buChar char="•"/>
            </a:pPr>
            <a:r>
              <a:rPr lang="zh-CN" altLang="en-US" b="0" i="0" dirty="0">
                <a:solidFill>
                  <a:srgbClr val="0D1239"/>
                </a:solidFill>
                <a:effectLst/>
                <a:latin typeface="PingFang SC" panose="020B0400000000000000" pitchFamily="34" charset="-122"/>
                <a:ea typeface="PingFang SC" panose="020B0400000000000000" pitchFamily="34" charset="-122"/>
              </a:rPr>
              <a:t>网络资产分布</a:t>
            </a:r>
          </a:p>
          <a:p>
            <a:pPr algn="l">
              <a:buFont typeface="Arial" panose="020B0604020202020204" pitchFamily="34" charset="0"/>
              <a:buChar char="•"/>
            </a:pPr>
            <a:r>
              <a:rPr lang="zh-CN" altLang="en-US" b="0" i="0" dirty="0">
                <a:solidFill>
                  <a:srgbClr val="0D1239"/>
                </a:solidFill>
                <a:effectLst/>
                <a:latin typeface="PingFang SC" panose="020B0400000000000000" pitchFamily="34" charset="-122"/>
                <a:ea typeface="PingFang SC" panose="020B0400000000000000" pitchFamily="34" charset="-122"/>
              </a:rPr>
              <a:t>网络安全态势</a:t>
            </a:r>
          </a:p>
          <a:p>
            <a:pPr algn="l">
              <a:buFont typeface="Arial" panose="020B0604020202020204" pitchFamily="34" charset="0"/>
              <a:buChar char="•"/>
            </a:pPr>
            <a:r>
              <a:rPr lang="zh-CN" altLang="en-US" b="0" i="0" dirty="0">
                <a:solidFill>
                  <a:srgbClr val="0D1239"/>
                </a:solidFill>
                <a:effectLst/>
                <a:latin typeface="PingFang SC" panose="020B0400000000000000" pitchFamily="34" charset="-122"/>
                <a:ea typeface="PingFang SC" panose="020B0400000000000000" pitchFamily="34" charset="-122"/>
              </a:rPr>
              <a:t>运维保障与业务决策</a:t>
            </a:r>
          </a:p>
          <a:p>
            <a:pPr algn="l" latinLnBrk="1"/>
            <a:r>
              <a:rPr lang="zh-CN" altLang="en-US" b="0" i="0" dirty="0">
                <a:solidFill>
                  <a:srgbClr val="0D1239"/>
                </a:solidFill>
                <a:effectLst/>
                <a:latin typeface="PingFang SC" panose="020B0400000000000000" pitchFamily="34" charset="-122"/>
                <a:ea typeface="PingFang SC" panose="020B0400000000000000" pitchFamily="34" charset="-122"/>
              </a:rPr>
              <a:t>第二段</a:t>
            </a:r>
          </a:p>
          <a:p>
            <a:pPr algn="l">
              <a:buFont typeface="Arial" panose="020B0604020202020204" pitchFamily="34" charset="0"/>
              <a:buChar char="•"/>
            </a:pPr>
            <a:r>
              <a:rPr lang="zh-CN" altLang="en-US" b="0" i="0" dirty="0">
                <a:solidFill>
                  <a:srgbClr val="0D1239"/>
                </a:solidFill>
                <a:effectLst/>
                <a:latin typeface="PingFang SC" panose="020B0400000000000000" pitchFamily="34" charset="-122"/>
                <a:ea typeface="PingFang SC" panose="020B0400000000000000" pitchFamily="34" charset="-122"/>
              </a:rPr>
              <a:t>实时的全球测量</a:t>
            </a:r>
          </a:p>
          <a:p>
            <a:pPr algn="l">
              <a:buFont typeface="Arial" panose="020B0604020202020204" pitchFamily="34" charset="0"/>
              <a:buChar char="•"/>
            </a:pPr>
            <a:r>
              <a:rPr lang="en" altLang="zh-CN" b="0" i="0" dirty="0">
                <a:solidFill>
                  <a:srgbClr val="0D1239"/>
                </a:solidFill>
                <a:effectLst/>
                <a:latin typeface="PingFang SC" panose="020B0400000000000000" pitchFamily="34" charset="-122"/>
                <a:ea typeface="PingFang SC" panose="020B0400000000000000" pitchFamily="34" charset="-122"/>
              </a:rPr>
              <a:t>SLA</a:t>
            </a:r>
          </a:p>
          <a:p>
            <a:pPr algn="l">
              <a:buFont typeface="Arial" panose="020B0604020202020204" pitchFamily="34" charset="0"/>
              <a:buChar char="•"/>
            </a:pPr>
            <a:r>
              <a:rPr lang="en" altLang="zh-CN" b="0" i="0" dirty="0">
                <a:solidFill>
                  <a:srgbClr val="0D1239"/>
                </a:solidFill>
                <a:effectLst/>
                <a:latin typeface="PingFang SC" panose="020B0400000000000000" pitchFamily="34" charset="-122"/>
                <a:ea typeface="PingFang SC" panose="020B0400000000000000" pitchFamily="34" charset="-122"/>
              </a:rPr>
              <a:t>BGP </a:t>
            </a:r>
            <a:r>
              <a:rPr lang="zh-CN" altLang="en-US" b="0" i="0" dirty="0">
                <a:solidFill>
                  <a:srgbClr val="0D1239"/>
                </a:solidFill>
                <a:effectLst/>
                <a:latin typeface="PingFang SC" panose="020B0400000000000000" pitchFamily="34" charset="-122"/>
                <a:ea typeface="PingFang SC" panose="020B0400000000000000" pitchFamily="34" charset="-122"/>
              </a:rPr>
              <a:t>路由变化</a:t>
            </a:r>
          </a:p>
          <a:p>
            <a:pPr algn="l">
              <a:buFont typeface="Arial" panose="020B0604020202020204" pitchFamily="34" charset="0"/>
              <a:buChar char="•"/>
            </a:pPr>
            <a:r>
              <a:rPr lang="zh-CN" altLang="en-US" b="0" i="0" dirty="0">
                <a:solidFill>
                  <a:srgbClr val="0D1239"/>
                </a:solidFill>
                <a:effectLst/>
                <a:latin typeface="PingFang SC" panose="020B0400000000000000" pitchFamily="34" charset="-122"/>
                <a:ea typeface="PingFang SC" panose="020B0400000000000000" pitchFamily="34" charset="-122"/>
              </a:rPr>
              <a:t>跨域链路拥塞或局部故障</a:t>
            </a:r>
          </a:p>
          <a:p>
            <a:pPr algn="l">
              <a:buFont typeface="Arial" panose="020B0604020202020204" pitchFamily="34" charset="0"/>
              <a:buChar char="•"/>
            </a:pPr>
            <a:r>
              <a:rPr lang="zh-CN" altLang="en-US" b="0" i="0" dirty="0">
                <a:solidFill>
                  <a:srgbClr val="0D1239"/>
                </a:solidFill>
                <a:effectLst/>
                <a:latin typeface="PingFang SC" panose="020B0400000000000000" pitchFamily="34" charset="-122"/>
                <a:ea typeface="PingFang SC" panose="020B0400000000000000" pitchFamily="34" charset="-122"/>
              </a:rPr>
              <a:t>流量调度、路径选择与容灾切换（或加粗其中任意两个）</a:t>
            </a:r>
          </a:p>
          <a:p>
            <a:pPr algn="l" latinLnBrk="1"/>
            <a:r>
              <a:rPr lang="zh-CN" altLang="en-US" b="0" i="0" dirty="0">
                <a:solidFill>
                  <a:srgbClr val="0D1239"/>
                </a:solidFill>
                <a:effectLst/>
                <a:latin typeface="PingFang SC" panose="020B0400000000000000" pitchFamily="34" charset="-122"/>
                <a:ea typeface="PingFang SC" panose="020B0400000000000000" pitchFamily="34" charset="-122"/>
              </a:rPr>
              <a:t>第三段</a:t>
            </a:r>
          </a:p>
          <a:p>
            <a:pPr algn="l">
              <a:buFont typeface="Arial" panose="020B0604020202020204" pitchFamily="34" charset="0"/>
              <a:buChar char="•"/>
            </a:pPr>
            <a:r>
              <a:rPr lang="en" altLang="zh-CN" b="0" i="0" dirty="0">
                <a:solidFill>
                  <a:srgbClr val="0D1239"/>
                </a:solidFill>
                <a:effectLst/>
                <a:latin typeface="PingFang SC" panose="020B0400000000000000" pitchFamily="34" charset="-122"/>
                <a:ea typeface="PingFang SC" panose="020B0400000000000000" pitchFamily="34" charset="-122"/>
              </a:rPr>
              <a:t>IPv4</a:t>
            </a:r>
          </a:p>
          <a:p>
            <a:pPr algn="l">
              <a:buFont typeface="Arial" panose="020B0604020202020204" pitchFamily="34" charset="0"/>
              <a:buChar char="•"/>
            </a:pPr>
            <a:r>
              <a:rPr lang="zh-CN" altLang="en-US" b="0" i="0" dirty="0">
                <a:solidFill>
                  <a:srgbClr val="0D1239"/>
                </a:solidFill>
                <a:effectLst/>
                <a:latin typeface="PingFang SC" panose="020B0400000000000000" pitchFamily="34" charset="-122"/>
                <a:ea typeface="PingFang SC" panose="020B0400000000000000" pitchFamily="34" charset="-122"/>
              </a:rPr>
              <a:t>遍历地址空间</a:t>
            </a:r>
          </a:p>
          <a:p>
            <a:pPr algn="l">
              <a:buFont typeface="Arial" panose="020B0604020202020204" pitchFamily="34" charset="0"/>
              <a:buChar char="•"/>
            </a:pPr>
            <a:r>
              <a:rPr lang="zh-CN" altLang="en-US" b="0" i="0" dirty="0">
                <a:solidFill>
                  <a:srgbClr val="0D1239"/>
                </a:solidFill>
                <a:effectLst/>
                <a:latin typeface="PingFang SC" panose="020B0400000000000000" pitchFamily="34" charset="-122"/>
                <a:ea typeface="PingFang SC" panose="020B0400000000000000" pitchFamily="34" charset="-122"/>
              </a:rPr>
              <a:t>活跃地址集合</a:t>
            </a:r>
          </a:p>
          <a:p>
            <a:pPr algn="l">
              <a:buFont typeface="Arial" panose="020B0604020202020204" pitchFamily="34" charset="0"/>
              <a:buChar char="•"/>
            </a:pPr>
            <a:r>
              <a:rPr lang="en" altLang="zh-CN" b="0" i="0" dirty="0">
                <a:solidFill>
                  <a:srgbClr val="0D1239"/>
                </a:solidFill>
                <a:effectLst/>
                <a:latin typeface="PingFang SC" panose="020B0400000000000000" pitchFamily="34" charset="-122"/>
                <a:ea typeface="PingFang SC" panose="020B0400000000000000" pitchFamily="34" charset="-122"/>
              </a:rPr>
              <a:t>IPv6 </a:t>
            </a:r>
            <a:r>
              <a:rPr lang="zh-CN" altLang="en-US" b="0" i="0" dirty="0">
                <a:solidFill>
                  <a:srgbClr val="0D1239"/>
                </a:solidFill>
                <a:effectLst/>
                <a:latin typeface="PingFang SC" panose="020B0400000000000000" pitchFamily="34" charset="-122"/>
                <a:ea typeface="PingFang SC" panose="020B0400000000000000" pitchFamily="34" charset="-122"/>
              </a:rPr>
              <a:t>加速部署</a:t>
            </a:r>
          </a:p>
          <a:p>
            <a:pPr algn="l">
              <a:buFont typeface="Arial" panose="020B0604020202020204" pitchFamily="34" charset="0"/>
              <a:buChar char="•"/>
            </a:pPr>
            <a:r>
              <a:rPr lang="zh-CN" altLang="en-US" b="0" i="0" dirty="0">
                <a:solidFill>
                  <a:srgbClr val="0D1239"/>
                </a:solidFill>
                <a:effectLst/>
                <a:latin typeface="PingFang SC" panose="020B0400000000000000" pitchFamily="34" charset="-122"/>
                <a:ea typeface="PingFang SC" panose="020B0400000000000000" pitchFamily="34" charset="-122"/>
              </a:rPr>
              <a:t>巨大的地址空间</a:t>
            </a:r>
          </a:p>
          <a:p>
            <a:pPr algn="l">
              <a:buFont typeface="Arial" panose="020B0604020202020204" pitchFamily="34" charset="0"/>
              <a:buChar char="•"/>
            </a:pPr>
            <a:r>
              <a:rPr lang="zh-CN" altLang="en-US" b="0" i="0" dirty="0">
                <a:solidFill>
                  <a:srgbClr val="0D1239"/>
                </a:solidFill>
                <a:effectLst/>
                <a:latin typeface="PingFang SC" panose="020B0400000000000000" pitchFamily="34" charset="-122"/>
                <a:ea typeface="PingFang SC" panose="020B0400000000000000" pitchFamily="34" charset="-122"/>
              </a:rPr>
              <a:t>长期持续性、地址代表性、结果可运维（可合并为一处加粗）</a:t>
            </a:r>
          </a:p>
          <a:p>
            <a:pPr algn="l">
              <a:buFont typeface="+mj-lt"/>
              <a:buAutoNum type="arabicPeriod"/>
            </a:pPr>
            <a:endParaRPr lang="zh-CN" altLang="en-US" b="0" i="0" dirty="0">
              <a:solidFill>
                <a:srgbClr val="0D1239"/>
              </a:solidFill>
              <a:effectLst/>
              <a:latin typeface="PingFang SC" panose="020B0400000000000000" pitchFamily="34" charset="-122"/>
              <a:ea typeface="PingFang SC" panose="020B0400000000000000" pitchFamily="34" charset="-122"/>
            </a:endParaRPr>
          </a:p>
          <a:p>
            <a:pPr algn="l" latinLnBrk="1"/>
            <a:endParaRPr lang="zh-CN" altLang="en-US" b="0" i="0" dirty="0">
              <a:solidFill>
                <a:srgbClr val="0D1239"/>
              </a:solidFill>
              <a:effectLst/>
              <a:latin typeface="PingFang SC" panose="020B0400000000000000" pitchFamily="34" charset="-122"/>
              <a:ea typeface="PingFang SC" panose="020B0400000000000000"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整体流程图：日志搜集、存储、日志解析、异常检测、报告【重点】</a:t>
            </a:r>
          </a:p>
          <a:p>
            <a:endParaRPr lang="zh-CN" altLang="en-US" dirty="0"/>
          </a:p>
          <a:p>
            <a:r>
              <a:rPr lang="zh-CN" altLang="en-US" dirty="0"/>
              <a:t>logstash最主要的功能是从input获取数据，通过filter处理，再输出到指定的地方。</a:t>
            </a:r>
          </a:p>
          <a:p>
            <a:r>
              <a:rPr lang="zh-CN" altLang="en-US" dirty="0"/>
              <a:t>一般我们收集日志都是在后台运行，建议使用nohup、screen或者supervisor这样的方式启动。</a:t>
            </a:r>
          </a:p>
          <a:p>
            <a:r>
              <a:rPr lang="zh-CN" altLang="en-US" dirty="0"/>
              <a:t>log-agent</a:t>
            </a:r>
          </a:p>
          <a:p>
            <a:endParaRPr lang="en-US" altLang="zh-CN" dirty="0"/>
          </a:p>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整体流程图：日志搜集、存储、日志解析、异常检测、报告【重点】</a:t>
            </a:r>
            <a:endParaRPr lang="en-US" altLang="zh-CN" dirty="0"/>
          </a:p>
          <a:p>
            <a:endParaRPr lang="en-US" altLang="zh-CN" dirty="0"/>
          </a:p>
          <a:p>
            <a:r>
              <a:rPr lang="en-US" altLang="zh-CN" dirty="0"/>
              <a:t>IPv6</a:t>
            </a:r>
            <a:r>
              <a:rPr lang="zh-CN" altLang="en-US" dirty="0"/>
              <a:t>目标地址生成</a:t>
            </a:r>
            <a:endParaRPr lang="en-US" altLang="zh-CN" dirty="0"/>
          </a:p>
          <a:p>
            <a:r>
              <a:rPr lang="zh-CN" altLang="en-US" dirty="0"/>
              <a:t>实时网络质量探测</a:t>
            </a:r>
            <a:endParaRPr lang="en-US" altLang="zh-CN" dirty="0"/>
          </a:p>
          <a:p>
            <a:r>
              <a:rPr lang="zh-CN" altLang="en-US" dirty="0"/>
              <a:t>网络异常检测</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IPv6</a:t>
            </a:r>
            <a:r>
              <a:rPr lang="zh-CN" altLang="en-US" dirty="0"/>
              <a:t>目标地址生成</a:t>
            </a:r>
            <a:endParaRPr kumimoji="0" lang="en-US" altLang="zh-CN" dirty="0"/>
          </a:p>
          <a:p>
            <a:endParaRPr kumimoji="1" lang="en-US" altLang="zh-CN" dirty="0"/>
          </a:p>
          <a:p>
            <a:r>
              <a:rPr kumimoji="1" lang="zh-CN" altLang="en-US" dirty="0"/>
              <a:t>目的：学习已有的</a:t>
            </a:r>
            <a:r>
              <a:rPr kumimoji="1" lang="en-US" altLang="zh-CN" dirty="0"/>
              <a:t>IPv6</a:t>
            </a:r>
            <a:r>
              <a:rPr kumimoji="1" lang="zh-CN" altLang="en-US" dirty="0"/>
              <a:t>地址特征，预测出可能活跃的目标地址进行可达性探测，提供上层服务</a:t>
            </a:r>
            <a:endParaRPr kumimoji="1" lang="en-US" altLang="zh-CN" dirty="0"/>
          </a:p>
          <a:p>
            <a:r>
              <a:rPr kumimoji="1" lang="zh-CN" altLang="en-US" dirty="0"/>
              <a:t>基于统计的方法</a:t>
            </a:r>
            <a:endParaRPr kumimoji="1" lang="en-US" altLang="zh-CN" dirty="0"/>
          </a:p>
          <a:p>
            <a:endParaRPr kumimoji="1" lang="en-US" altLang="zh-CN" dirty="0"/>
          </a:p>
          <a:p>
            <a:pPr marL="0" algn="ctr" rtl="0" eaLnBrk="1" fontAlgn="ctr" latinLnBrk="0" hangingPunct="1">
              <a:spcBef>
                <a:spcPts val="0"/>
              </a:spcBef>
              <a:spcAft>
                <a:spcPts val="0"/>
              </a:spcAft>
            </a:pPr>
            <a:r>
              <a:rPr lang="zh-CN" altLang="zh-CN" sz="1800" b="1" i="0" u="none" strike="noStrike" kern="1200" baseline="0" dirty="0">
                <a:solidFill>
                  <a:srgbClr val="000000"/>
                </a:solidFill>
                <a:effectLst/>
                <a:latin typeface="Times New Roman" panose="02020603050405020304" pitchFamily="18" charset="0"/>
                <a:ea typeface="微软雅黑" panose="020B0503020204020204" pitchFamily="34" charset="-122"/>
              </a:rPr>
              <a:t>算法类型</a:t>
            </a:r>
            <a:endParaRPr lang="zh-CN" altLang="zh-CN"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zh-CN" altLang="zh-CN" sz="1800" b="1" i="0" u="none" strike="noStrike" kern="1200" baseline="0" dirty="0">
                <a:solidFill>
                  <a:srgbClr val="000000"/>
                </a:solidFill>
                <a:effectLst/>
                <a:latin typeface="Times New Roman" panose="02020603050405020304" pitchFamily="18" charset="0"/>
                <a:ea typeface="微软雅黑" panose="020B0503020204020204" pitchFamily="34" charset="-122"/>
              </a:rPr>
              <a:t>工作机制</a:t>
            </a:r>
            <a:endParaRPr lang="zh-CN" altLang="zh-CN"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zh-CN" altLang="zh-CN" sz="1800" b="1" i="0" u="none" strike="noStrike" kern="1200" baseline="0" dirty="0">
                <a:solidFill>
                  <a:srgbClr val="000000"/>
                </a:solidFill>
                <a:effectLst/>
                <a:latin typeface="Times New Roman" panose="02020603050405020304" pitchFamily="18" charset="0"/>
                <a:ea typeface="微软雅黑" panose="020B0503020204020204" pitchFamily="34" charset="-122"/>
              </a:rPr>
              <a:t>代表工作</a:t>
            </a:r>
            <a:endParaRPr lang="zh-CN" altLang="zh-CN" sz="1800" b="0" i="0" u="none" strike="noStrike" dirty="0">
              <a:effectLst/>
              <a:latin typeface="Arial" panose="020B0604020202020204" pitchFamily="34" charset="0"/>
            </a:endParaRPr>
          </a:p>
          <a:p>
            <a:pPr marL="0" algn="l" rtl="0" eaLnBrk="1" fontAlgn="ctr"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DNS </a:t>
            </a: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解析</a:t>
            </a:r>
            <a:endParaRPr lang="zh-CN" altLang="zh-CN" sz="1800" b="0" i="0" u="none" strike="noStrike" dirty="0">
              <a:effectLst/>
              <a:latin typeface="Arial" panose="020B0604020202020204" pitchFamily="34" charset="0"/>
            </a:endParaRPr>
          </a:p>
          <a:p>
            <a:pPr marL="0" algn="just" rtl="0" eaLnBrk="1" fontAlgn="ctr" latinLnBrk="0" hangingPunct="1">
              <a:spcBef>
                <a:spcPts val="0"/>
              </a:spcBef>
              <a:spcAft>
                <a:spcPts val="0"/>
              </a:spcAft>
            </a:pP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DNS</a:t>
            </a: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解析的</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AAAA</a:t>
            </a: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记录中获取活跃</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IPv6</a:t>
            </a: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地址</a:t>
            </a:r>
            <a:endParaRPr lang="zh-CN" altLang="zh-CN" sz="1800" b="0" i="0" u="none" strike="noStrike" dirty="0">
              <a:effectLst/>
              <a:latin typeface="Arial" panose="020B0604020202020204" pitchFamily="34" charset="0"/>
            </a:endParaRPr>
          </a:p>
          <a:p>
            <a:pPr marL="0" marR="0" indent="0" algn="just" rtl="0" eaLnBrk="1" fontAlgn="auto"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[Something from Nothing]-</a:t>
            </a:r>
            <a:r>
              <a:rPr lang="en-US" altLang="zh-CN" sz="1800" b="0" i="0" u="none" strike="noStrike" kern="1200" baseline="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Fiebig</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T. PAM 2017.</a:t>
            </a:r>
            <a:endParaRPr lang="zh-CN" altLang="zh-CN" sz="1800" b="0" i="0" u="none" strike="noStrike" dirty="0">
              <a:effectLst/>
              <a:latin typeface="Arial" panose="020B0604020202020204" pitchFamily="34" charset="0"/>
            </a:endParaRPr>
          </a:p>
          <a:p>
            <a:pPr marL="0" indent="0" algn="just" rtl="0" eaLnBrk="1" fontAlgn="ctr"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[In </a:t>
            </a:r>
            <a:r>
              <a:rPr lang="en-US" altLang="zh-CN" sz="1800" b="0" i="0" u="none" strike="noStrike" kern="1200" baseline="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rdns</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we trust]-</a:t>
            </a:r>
            <a:r>
              <a:rPr lang="en-US" altLang="zh-CN" sz="1800" b="0" i="0" u="none" strike="noStrike" kern="1200" baseline="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Fiebig</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T. PAM 2018.</a:t>
            </a:r>
            <a:endParaRPr lang="zh-CN" altLang="zh-CN" sz="1800" b="0" i="0" u="none" strike="noStrike" dirty="0">
              <a:effectLst/>
              <a:latin typeface="Arial" panose="020B0604020202020204" pitchFamily="34" charset="0"/>
            </a:endParaRPr>
          </a:p>
          <a:p>
            <a:pPr marL="0" indent="0" algn="just" rtl="0" eaLnBrk="1" fontAlgn="ctr"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[Enumerating IPv6 Address]-</a:t>
            </a:r>
            <a:r>
              <a:rPr lang="en-US" altLang="zh-CN" sz="1800" b="0" i="0" u="none" strike="noStrike" kern="1200" baseline="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Borgolte</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K. S&amp;P 2018.</a:t>
            </a:r>
            <a:endParaRPr lang="zh-CN" altLang="zh-CN"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众包平台</a:t>
            </a:r>
            <a:endParaRPr lang="zh-CN" altLang="zh-CN" sz="1800" b="0" i="0" u="none" strike="noStrike" dirty="0">
              <a:effectLst/>
              <a:latin typeface="Arial" panose="020B0604020202020204" pitchFamily="34" charset="0"/>
            </a:endParaRPr>
          </a:p>
          <a:p>
            <a:pPr marL="0" algn="just" rtl="0" eaLnBrk="1" fontAlgn="ctr" latinLnBrk="0" hangingPunct="1">
              <a:spcBef>
                <a:spcPts val="0"/>
              </a:spcBef>
              <a:spcAft>
                <a:spcPts val="0"/>
              </a:spcAft>
            </a:pP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众包平台获取自愿者访问信息，并从流量中提取活跃</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IPv6</a:t>
            </a: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地址</a:t>
            </a:r>
            <a:endParaRPr lang="zh-CN" altLang="zh-CN" sz="1800" b="0" i="0" u="none" strike="noStrike" dirty="0">
              <a:effectLst/>
              <a:latin typeface="Arial" panose="020B0604020202020204" pitchFamily="34" charset="0"/>
            </a:endParaRPr>
          </a:p>
          <a:p>
            <a:pPr marL="0" marR="0" indent="0" algn="just" rtl="0" eaLnBrk="1" fontAlgn="auto"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[MTURK]-</a:t>
            </a:r>
            <a:r>
              <a:rPr lang="en-US" altLang="zh-CN" sz="1800" b="0" i="0" u="none" strike="noStrike" kern="1200" baseline="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Foremski</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P, </a:t>
            </a:r>
            <a:r>
              <a:rPr lang="en-US" altLang="zh-CN" sz="1800" b="0" i="0" u="none" strike="noStrike" kern="1200" baseline="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Plonka</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D. SIGCOMM 2015.</a:t>
            </a:r>
            <a:endParaRPr lang="zh-CN" altLang="zh-CN" sz="1800" b="0" i="0" u="none" strike="noStrike" dirty="0">
              <a:effectLst/>
              <a:latin typeface="Arial" panose="020B0604020202020204" pitchFamily="34" charset="0"/>
            </a:endParaRPr>
          </a:p>
          <a:p>
            <a:pPr marL="0" marR="0" indent="0" algn="just" rtl="0" eaLnBrk="1" fontAlgn="auto"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[IPv6 hitlist]-Gasser O, </a:t>
            </a:r>
            <a:r>
              <a:rPr lang="en-US" altLang="zh-CN" sz="1800" b="0" i="0" u="none" strike="noStrike" kern="1200" baseline="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Scheitle</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Q. IMC 2018.</a:t>
            </a:r>
            <a:endParaRPr lang="zh-CN" altLang="zh-CN" sz="1800" b="0" i="0" u="none" strike="noStrike" dirty="0">
              <a:effectLst/>
              <a:latin typeface="Arial" panose="020B0604020202020204" pitchFamily="34" charset="0"/>
            </a:endParaRPr>
          </a:p>
          <a:p>
            <a:pPr marL="0" algn="l" rtl="0" eaLnBrk="1" fontAlgn="ctr" latinLnBrk="0" hangingPunct="1">
              <a:spcBef>
                <a:spcPts val="0"/>
              </a:spcBef>
              <a:spcAft>
                <a:spcPts val="0"/>
              </a:spcAft>
            </a:pP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公开数据下载</a:t>
            </a:r>
            <a:endParaRPr lang="zh-CN" altLang="zh-CN" sz="1800" b="0" i="0" u="none" strike="noStrike" dirty="0">
              <a:effectLst/>
              <a:latin typeface="Arial" panose="020B0604020202020204" pitchFamily="34" charset="0"/>
            </a:endParaRPr>
          </a:p>
          <a:p>
            <a:pPr marL="0" algn="just" rtl="0" eaLnBrk="1" fontAlgn="ctr" latinLnBrk="0" hangingPunct="1">
              <a:spcBef>
                <a:spcPts val="0"/>
              </a:spcBef>
              <a:spcAft>
                <a:spcPts val="0"/>
              </a:spcAft>
            </a:pP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共公开的数据网站获取</a:t>
            </a:r>
            <a:endParaRPr lang="zh-CN" altLang="zh-CN" sz="1800" b="0" i="0" u="none" strike="noStrike" dirty="0">
              <a:effectLst/>
              <a:latin typeface="Arial" panose="020B0604020202020204" pitchFamily="34" charset="0"/>
            </a:endParaRPr>
          </a:p>
          <a:p>
            <a:pPr marL="0" marR="0" indent="0" algn="just" rtl="0" eaLnBrk="1" fontAlgn="auto"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[IPv6 hitlist]-Gasser O, </a:t>
            </a:r>
            <a:r>
              <a:rPr lang="en-US" altLang="zh-CN" sz="1800" b="0" i="0" u="none" strike="noStrike" kern="1200" baseline="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Scheitle</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Q. IMC 2018.</a:t>
            </a:r>
          </a:p>
          <a:p>
            <a:pPr marL="0" marR="0" indent="0" algn="just" rtl="0" eaLnBrk="1" fontAlgn="auto" latinLnBrk="0" hangingPunct="1">
              <a:spcBef>
                <a:spcPts val="0"/>
              </a:spcBef>
              <a:spcAft>
                <a:spcPts val="0"/>
              </a:spcAft>
            </a:pPr>
            <a:endPar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indent="0" algn="just" rtl="0" eaLnBrk="1" fontAlgn="auto" latinLnBrk="0" hangingPunct="1">
              <a:spcBef>
                <a:spcPts val="0"/>
              </a:spcBef>
              <a:spcAft>
                <a:spcPts val="0"/>
              </a:spcAft>
            </a:pPr>
            <a:endPar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rtl="0" eaLnBrk="1" fontAlgn="ctr" latinLnBrk="0" hangingPunct="1">
              <a:spcBef>
                <a:spcPts val="0"/>
              </a:spcBef>
              <a:spcAft>
                <a:spcPts val="0"/>
              </a:spcAft>
            </a:pPr>
            <a:r>
              <a:rPr lang="zh-CN" altLang="zh-CN" sz="1800" b="1" i="0" u="none" strike="noStrike" kern="1200" baseline="0" dirty="0">
                <a:solidFill>
                  <a:srgbClr val="000000"/>
                </a:solidFill>
                <a:effectLst/>
                <a:latin typeface="Times New Roman" panose="02020603050405020304" pitchFamily="18" charset="0"/>
                <a:ea typeface="微软雅黑" panose="020B0503020204020204" pitchFamily="34" charset="-122"/>
              </a:rPr>
              <a:t>算法类型</a:t>
            </a:r>
            <a:endParaRPr lang="zh-CN" altLang="zh-CN"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zh-CN" altLang="zh-CN" sz="1800" b="1" i="0" u="none" strike="noStrike" kern="1200" baseline="0" dirty="0">
                <a:solidFill>
                  <a:srgbClr val="000000"/>
                </a:solidFill>
                <a:effectLst/>
                <a:latin typeface="Times New Roman" panose="02020603050405020304" pitchFamily="18" charset="0"/>
                <a:ea typeface="微软雅黑" panose="020B0503020204020204" pitchFamily="34" charset="-122"/>
              </a:rPr>
              <a:t>工作机制</a:t>
            </a:r>
            <a:endParaRPr lang="zh-CN" altLang="zh-CN"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zh-CN" altLang="zh-CN" sz="1800" b="1" i="0" u="none" strike="noStrike" kern="1200" baseline="0" dirty="0">
                <a:solidFill>
                  <a:srgbClr val="000000"/>
                </a:solidFill>
                <a:effectLst/>
                <a:latin typeface="Times New Roman" panose="02020603050405020304" pitchFamily="18" charset="0"/>
                <a:ea typeface="微软雅黑" panose="020B0503020204020204" pitchFamily="34" charset="-122"/>
              </a:rPr>
              <a:t>代表工作</a:t>
            </a:r>
            <a:endParaRPr lang="zh-CN" altLang="zh-CN" sz="1800" b="0" i="0" u="none" strike="noStrike" dirty="0">
              <a:effectLst/>
              <a:latin typeface="Arial" panose="020B0604020202020204" pitchFamily="34" charset="0"/>
            </a:endParaRPr>
          </a:p>
          <a:p>
            <a:pPr marL="0" algn="l" rtl="0" eaLnBrk="1" fontAlgn="ctr"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CDN</a:t>
            </a: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日志获取</a:t>
            </a:r>
            <a:endParaRPr lang="zh-CN" altLang="zh-CN" sz="1800" b="0" i="0" u="none" strike="noStrike" dirty="0">
              <a:effectLst/>
              <a:latin typeface="Arial" panose="020B0604020202020204" pitchFamily="34" charset="0"/>
            </a:endParaRPr>
          </a:p>
          <a:p>
            <a:pPr marL="0" algn="just" rtl="0" eaLnBrk="1" fontAlgn="ctr" latinLnBrk="0" hangingPunct="1">
              <a:spcBef>
                <a:spcPts val="0"/>
              </a:spcBef>
              <a:spcAft>
                <a:spcPts val="0"/>
              </a:spcAft>
            </a:pPr>
            <a:r>
              <a:rPr lang="zh-CN"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启用了</a:t>
            </a:r>
            <a:r>
              <a:rPr lang="en-GB"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IPv6</a:t>
            </a:r>
            <a:r>
              <a:rPr lang="zh-CN"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的内容分发网络服务器作为关键节点，并从这些服务器的请求日志中提取</a:t>
            </a:r>
            <a:endParaRPr lang="zh-CN" altLang="zh-CN" sz="1800" b="0" i="0" u="none" strike="noStrike" dirty="0">
              <a:effectLst/>
              <a:latin typeface="Arial" panose="020B0604020202020204" pitchFamily="34" charset="0"/>
            </a:endParaRPr>
          </a:p>
          <a:p>
            <a:pPr marL="0" marR="0" indent="0" algn="just" rtl="0" eaLnBrk="1" fontAlgn="auto"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i="0" u="none" strike="noStrike" kern="1200" dirty="0">
                <a:solidFill>
                  <a:srgbClr val="000000"/>
                </a:solidFill>
                <a:effectLst/>
                <a:latin typeface="Arial" panose="020B0604020202020204" pitchFamily="34" charset="0"/>
                <a:ea typeface="PMingLiU" panose="02020500000000000000" pitchFamily="18" charset="-120"/>
              </a:rPr>
              <a:t>Temporal and Spatial Classification of Active IPv6 Addresses</a:t>
            </a: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GB" altLang="zh-CN" sz="1800" b="0" i="0" u="none" strike="noStrike" kern="1200" baseline="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lonka</a:t>
            </a:r>
            <a:r>
              <a:rPr lang="en-GB"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D, Berger A.IMC,2015</a:t>
            </a:r>
            <a:endParaRPr lang="zh-CN" altLang="zh-CN"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IXP</a:t>
            </a: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提取</a:t>
            </a:r>
            <a:endParaRPr lang="zh-CN" altLang="zh-CN" sz="1800" b="0" i="0" u="none" strike="noStrike" dirty="0">
              <a:effectLst/>
              <a:latin typeface="Arial" panose="020B0604020202020204" pitchFamily="34" charset="0"/>
            </a:endParaRPr>
          </a:p>
          <a:p>
            <a:pPr marL="0" algn="just" rtl="0" eaLnBrk="1" fontAlgn="ctr" latinLnBrk="0" hangingPunct="1">
              <a:spcBef>
                <a:spcPts val="0"/>
              </a:spcBef>
              <a:spcAft>
                <a:spcPts val="0"/>
              </a:spcAft>
            </a:pPr>
            <a:r>
              <a:rPr lang="zh-CN"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互联网交换节点</a:t>
            </a:r>
            <a:r>
              <a:rPr lang="en-US"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IXP</a:t>
            </a:r>
            <a:r>
              <a:rPr lang="zh-CN"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中提取网络流量。</a:t>
            </a:r>
            <a:endParaRPr lang="zh-CN" altLang="zh-CN" sz="1800" b="0" i="0" u="none" strike="noStrike" dirty="0">
              <a:effectLst/>
              <a:latin typeface="Arial" panose="020B0604020202020204" pitchFamily="34" charset="0"/>
            </a:endParaRPr>
          </a:p>
          <a:p>
            <a:pPr marL="0" marR="0" indent="0" algn="just" rtl="0" eaLnBrk="1" fontAlgn="auto"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[Scanning the IPv6 Internet:]-Gasser O. et al. TMA 2016.</a:t>
            </a:r>
            <a:endParaRPr lang="zh-CN" altLang="zh-CN" sz="1800" b="0" i="0" u="none" strike="noStrike" dirty="0">
              <a:effectLst/>
              <a:latin typeface="Arial" panose="020B0604020202020204" pitchFamily="34" charset="0"/>
            </a:endParaRPr>
          </a:p>
          <a:p>
            <a:pPr marL="0" algn="l" rtl="0" eaLnBrk="1" fontAlgn="ctr"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NTP</a:t>
            </a: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服务器获取</a:t>
            </a:r>
            <a:endParaRPr lang="zh-CN" altLang="zh-CN" sz="1800" b="0" i="0" u="none" strike="noStrike" dirty="0">
              <a:effectLst/>
              <a:latin typeface="Arial" panose="020B0604020202020204" pitchFamily="34" charset="0"/>
            </a:endParaRPr>
          </a:p>
          <a:p>
            <a:pPr marL="0" algn="just" rtl="0" eaLnBrk="1" fontAlgn="ctr" latinLnBrk="0" hangingPunct="1">
              <a:spcBef>
                <a:spcPts val="0"/>
              </a:spcBef>
              <a:spcAft>
                <a:spcPts val="0"/>
              </a:spcAft>
            </a:pPr>
            <a:r>
              <a:rPr lang="en-GB"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NTP</a:t>
            </a:r>
            <a:r>
              <a:rPr lang="zh-CN"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rPr>
              <a:t>服务器作为网络关键节点，从用户的请求记录日志中提取</a:t>
            </a:r>
            <a:endParaRPr lang="zh-CN" altLang="zh-CN" sz="1800" b="0" i="0" u="none" strike="noStrike" dirty="0">
              <a:effectLst/>
              <a:latin typeface="Arial" panose="020B0604020202020204" pitchFamily="34" charset="0"/>
            </a:endParaRPr>
          </a:p>
          <a:p>
            <a:pPr marL="0" marR="0" indent="0" algn="just" rtl="0" eaLnBrk="1" fontAlgn="auto" latinLnBrk="0" hangingPunct="1">
              <a:spcBef>
                <a:spcPts val="0"/>
              </a:spcBef>
              <a:spcAft>
                <a:spcPts val="0"/>
              </a:spcAft>
            </a:pPr>
            <a:r>
              <a:rPr lang="en-US" altLang="zh-CN" sz="1800" b="0" i="0" u="none" strike="noStrike" kern="1200" baseline="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[IPv6 Hitlists at Scale]-Erik Rye and Dave Levin. SIGCOMM ,2023</a:t>
            </a:r>
            <a:endParaRPr lang="zh-CN" altLang="zh-CN" sz="1800" b="0" i="0" u="none" strike="noStrike" dirty="0">
              <a:effectLst/>
              <a:latin typeface="Arial" panose="020B0604020202020204" pitchFamily="34" charset="0"/>
            </a:endParaRPr>
          </a:p>
          <a:p>
            <a:pPr marL="0" algn="l" rtl="0" eaLnBrk="1" fontAlgn="ctr" latinLnBrk="0" hangingPunct="1">
              <a:spcBef>
                <a:spcPts val="0"/>
              </a:spcBef>
              <a:spcAft>
                <a:spcPts val="0"/>
              </a:spcAft>
            </a:pPr>
            <a:r>
              <a:rPr lang="en-US"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HTTP</a:t>
            </a:r>
            <a:r>
              <a:rPr lang="zh-CN"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请求获取</a:t>
            </a:r>
            <a:r>
              <a:rPr lang="en-US"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 		 </a:t>
            </a:r>
            <a:endParaRPr lang="zh-CN" altLang="zh-CN" sz="1800" b="0" i="0" u="none" strike="noStrike" dirty="0">
              <a:effectLst/>
              <a:latin typeface="Arial" panose="020B0604020202020204" pitchFamily="34" charset="0"/>
            </a:endParaRPr>
          </a:p>
          <a:p>
            <a:pPr marL="0" algn="just" rtl="0" eaLnBrk="1" fontAlgn="ctr" latinLnBrk="0" hangingPunct="1">
              <a:spcBef>
                <a:spcPts val="0"/>
              </a:spcBef>
              <a:spcAft>
                <a:spcPts val="0"/>
              </a:spcAft>
            </a:pPr>
            <a:r>
              <a:rPr lang="zh-CN"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从</a:t>
            </a:r>
            <a:r>
              <a:rPr lang="en-US"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HTTP</a:t>
            </a:r>
            <a:r>
              <a:rPr lang="zh-CN"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请求获取客户端的</a:t>
            </a:r>
            <a:r>
              <a:rPr lang="en-US"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IPv6</a:t>
            </a:r>
            <a:r>
              <a:rPr lang="zh-CN"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地址 </a:t>
            </a:r>
            <a:endParaRPr lang="zh-CN" altLang="zh-CN" sz="1800" b="0" i="0" u="none" strike="noStrike" dirty="0">
              <a:effectLst/>
              <a:latin typeface="Arial" panose="020B0604020202020204" pitchFamily="34" charset="0"/>
            </a:endParaRPr>
          </a:p>
          <a:p>
            <a:pPr marL="0" marR="0" indent="0" algn="just" rtl="0" eaLnBrk="1" fontAlgn="auto" latinLnBrk="0" hangingPunct="1">
              <a:spcBef>
                <a:spcPts val="0"/>
              </a:spcBef>
              <a:spcAft>
                <a:spcPts val="0"/>
              </a:spcAft>
            </a:pPr>
            <a:r>
              <a:rPr lang="en-US" altLang="zh-CN" sz="1800" b="0" i="0" u="none" strike="noStrike" kern="1200" dirty="0">
                <a:solidFill>
                  <a:srgbClr val="000000"/>
                </a:solidFill>
                <a:effectLst/>
                <a:latin typeface="Times New Roman" panose="02020603050405020304" pitchFamily="18" charset="0"/>
                <a:ea typeface="微软雅黑" panose="020B0503020204020204" pitchFamily="34" charset="-122"/>
              </a:rPr>
              <a:t>[Towards a user-level]- Li F. et </a:t>
            </a:r>
            <a:r>
              <a:rPr lang="en-US" altLang="zh-CN" sz="1800" b="0" i="0" u="none" strike="noStrike" kern="1200" dirty="0" err="1">
                <a:solidFill>
                  <a:srgbClr val="000000"/>
                </a:solidFill>
                <a:effectLst/>
                <a:latin typeface="Times New Roman" panose="02020603050405020304" pitchFamily="18" charset="0"/>
                <a:ea typeface="微软雅黑" panose="020B0503020204020204" pitchFamily="34" charset="-122"/>
              </a:rPr>
              <a:t>al.s</a:t>
            </a:r>
            <a:endParaRPr lang="zh-CN" altLang="zh-CN" sz="1800" b="0" i="0" u="none" strike="noStrike" dirty="0">
              <a:effectLst/>
              <a:latin typeface="Arial" panose="020B0604020202020204" pitchFamily="34" charset="0"/>
            </a:endParaRPr>
          </a:p>
          <a:p>
            <a:pPr marL="0" marR="0" indent="0" algn="just" rtl="0" eaLnBrk="1" fontAlgn="auto" latinLnBrk="0" hangingPunct="1">
              <a:spcBef>
                <a:spcPts val="0"/>
              </a:spcBef>
              <a:spcAft>
                <a:spcPts val="0"/>
              </a:spcAft>
            </a:pPr>
            <a:endParaRPr lang="zh-CN" altLang="zh-CN" sz="1800" b="0" i="0" u="none" strike="noStrike" dirty="0">
              <a:effectLst/>
              <a:latin typeface="Arial" panose="020B0604020202020204" pitchFamily="34" charset="0"/>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4154496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基于深度学习的方法</a:t>
            </a:r>
            <a:endParaRPr kumimoji="1" lang="en-US" altLang="zh-CN" dirty="0"/>
          </a:p>
          <a:p>
            <a:endParaRPr kumimoji="1" lang="en-US" altLang="zh-CN" dirty="0"/>
          </a:p>
          <a:p>
            <a:pPr marL="0" marR="0">
              <a:spcBef>
                <a:spcPts val="0"/>
              </a:spcBef>
              <a:spcAft>
                <a:spcPts val="0"/>
              </a:spcAft>
            </a:pPr>
            <a:r>
              <a:rPr lang="zh-CN" altLang="en-US" b="1" dirty="0">
                <a:effectLst/>
              </a:rPr>
              <a:t>基于密度的方法</a:t>
            </a:r>
            <a:r>
              <a:rPr lang="en-US" altLang="zh-CN" dirty="0">
                <a:effectLst/>
              </a:rPr>
              <a:t>[13]</a:t>
            </a:r>
            <a:r>
              <a:rPr lang="zh-CN" altLang="en-US" dirty="0">
                <a:effectLst/>
              </a:rPr>
              <a:t>、</a:t>
            </a:r>
            <a:r>
              <a:rPr lang="en-US" altLang="zh-CN" dirty="0">
                <a:effectLst/>
              </a:rPr>
              <a:t>[15]</a:t>
            </a:r>
            <a:r>
              <a:rPr lang="zh-CN" altLang="en-US" dirty="0">
                <a:effectLst/>
              </a:rPr>
              <a:t>、</a:t>
            </a:r>
            <a:r>
              <a:rPr lang="en-US" altLang="zh-CN" dirty="0">
                <a:effectLst/>
              </a:rPr>
              <a:t>[20]</a:t>
            </a:r>
            <a:r>
              <a:rPr lang="zh-CN" altLang="en-US" dirty="0">
                <a:effectLst/>
              </a:rPr>
              <a:t>、</a:t>
            </a:r>
            <a:r>
              <a:rPr lang="en-US" altLang="zh-CN" dirty="0">
                <a:effectLst/>
              </a:rPr>
              <a:t>[34]</a:t>
            </a:r>
            <a:r>
              <a:rPr lang="zh-CN" altLang="en-US" dirty="0">
                <a:effectLst/>
              </a:rPr>
              <a:t>、</a:t>
            </a:r>
            <a:r>
              <a:rPr lang="en-US" altLang="zh-CN" dirty="0">
                <a:effectLst/>
              </a:rPr>
              <a:t>[35]</a:t>
            </a:r>
            <a:r>
              <a:rPr lang="zh-CN" altLang="en-US" dirty="0">
                <a:effectLst/>
              </a:rPr>
              <a:t>通过分析种子地址的密度分布来创建目标地址。基于模式的</a:t>
            </a:r>
            <a:r>
              <a:rPr lang="en-US" altLang="zh-CN" dirty="0">
                <a:effectLst/>
              </a:rPr>
              <a:t>[13]</a:t>
            </a:r>
            <a:r>
              <a:rPr lang="zh-CN" altLang="en-US" dirty="0">
                <a:effectLst/>
              </a:rPr>
              <a:t>递归检测密集区域，而</a:t>
            </a:r>
            <a:r>
              <a:rPr lang="en-US" altLang="zh-CN" dirty="0">
                <a:effectLst/>
              </a:rPr>
              <a:t>6</a:t>
            </a:r>
            <a:r>
              <a:rPr lang="en" altLang="zh-CN" dirty="0">
                <a:effectLst/>
              </a:rPr>
              <a:t>Gen[15]</a:t>
            </a:r>
            <a:r>
              <a:rPr lang="zh-CN" altLang="en-US" dirty="0">
                <a:effectLst/>
              </a:rPr>
              <a:t>通过自下而上聚类提高命中率。最近的进展，如</a:t>
            </a:r>
            <a:r>
              <a:rPr lang="en" altLang="zh-CN" dirty="0">
                <a:effectLst/>
              </a:rPr>
              <a:t>DET[20]</a:t>
            </a:r>
            <a:r>
              <a:rPr lang="zh-CN" altLang="en" dirty="0">
                <a:effectLst/>
              </a:rPr>
              <a:t>，</a:t>
            </a:r>
            <a:r>
              <a:rPr lang="zh-CN" altLang="en-US" dirty="0">
                <a:effectLst/>
              </a:rPr>
              <a:t>通过引入最小熵分裂来优化搜索空间，实现了更高的命中率，而</a:t>
            </a:r>
            <a:r>
              <a:rPr lang="en" altLang="zh-CN" dirty="0" err="1">
                <a:effectLst/>
              </a:rPr>
              <a:t>AddrMiner</a:t>
            </a:r>
            <a:r>
              <a:rPr lang="en" altLang="zh-CN" dirty="0">
                <a:effectLst/>
              </a:rPr>
              <a:t>-S[23]</a:t>
            </a:r>
            <a:r>
              <a:rPr lang="zh-CN" altLang="en" dirty="0">
                <a:effectLst/>
              </a:rPr>
              <a:t>，</a:t>
            </a:r>
            <a:r>
              <a:rPr lang="en" altLang="zh-CN" dirty="0">
                <a:effectLst/>
              </a:rPr>
              <a:t>[24]</a:t>
            </a:r>
            <a:r>
              <a:rPr lang="zh-CN" altLang="en-US" dirty="0">
                <a:effectLst/>
              </a:rPr>
              <a:t>通过强化学习反馈进一步增强了这一过程。</a:t>
            </a:r>
          </a:p>
          <a:p>
            <a:pPr marL="0" marR="0">
              <a:spcBef>
                <a:spcPts val="0"/>
              </a:spcBef>
              <a:spcAft>
                <a:spcPts val="0"/>
              </a:spcAft>
            </a:pPr>
            <a:r>
              <a:rPr lang="zh-CN" altLang="en-US" b="1" dirty="0">
                <a:effectLst/>
              </a:rPr>
              <a:t>基于结构的方法</a:t>
            </a:r>
            <a:r>
              <a:rPr lang="en-US" altLang="zh-CN" dirty="0">
                <a:effectLst/>
              </a:rPr>
              <a:t>[14]</a:t>
            </a:r>
            <a:r>
              <a:rPr lang="zh-CN" altLang="en-US" dirty="0">
                <a:effectLst/>
              </a:rPr>
              <a:t>关注种子地址的内部关系。熵</a:t>
            </a:r>
            <a:r>
              <a:rPr lang="en-US" altLang="zh-CN" dirty="0">
                <a:effectLst/>
              </a:rPr>
              <a:t>/</a:t>
            </a:r>
            <a:r>
              <a:rPr lang="en" altLang="zh-CN" dirty="0">
                <a:effectLst/>
              </a:rPr>
              <a:t>IP[14]</a:t>
            </a:r>
            <a:r>
              <a:rPr lang="zh-CN" altLang="en-US" dirty="0">
                <a:effectLst/>
              </a:rPr>
              <a:t>模型使用熵度量来处理变异性，以揭示网络中的潜在结构模式。</a:t>
            </a:r>
          </a:p>
          <a:p>
            <a:pPr marL="0" marR="0">
              <a:spcBef>
                <a:spcPts val="0"/>
              </a:spcBef>
              <a:spcAft>
                <a:spcPts val="0"/>
              </a:spcAft>
            </a:pPr>
            <a:r>
              <a:rPr lang="zh-CN" altLang="en-US" b="1" dirty="0">
                <a:effectLst/>
              </a:rPr>
              <a:t>基于层次结构的方法</a:t>
            </a:r>
            <a:r>
              <a:rPr lang="en-US" altLang="zh-CN" dirty="0">
                <a:effectLst/>
              </a:rPr>
              <a:t>[16]-[18]</a:t>
            </a:r>
            <a:r>
              <a:rPr lang="zh-CN" altLang="en-US" dirty="0">
                <a:effectLst/>
              </a:rPr>
              <a:t>、</a:t>
            </a:r>
            <a:r>
              <a:rPr lang="en-US" altLang="zh-CN" dirty="0">
                <a:effectLst/>
              </a:rPr>
              <a:t>[21]</a:t>
            </a:r>
            <a:r>
              <a:rPr lang="zh-CN" altLang="en-US" dirty="0">
                <a:effectLst/>
              </a:rPr>
              <a:t>、</a:t>
            </a:r>
            <a:r>
              <a:rPr lang="en-US" altLang="zh-CN" dirty="0">
                <a:effectLst/>
              </a:rPr>
              <a:t>[22]</a:t>
            </a:r>
            <a:r>
              <a:rPr lang="zh-CN" altLang="en-US" dirty="0">
                <a:effectLst/>
              </a:rPr>
              <a:t>、</a:t>
            </a:r>
            <a:r>
              <a:rPr lang="en-US" altLang="zh-CN" dirty="0">
                <a:effectLst/>
              </a:rPr>
              <a:t>[33]</a:t>
            </a:r>
            <a:r>
              <a:rPr lang="zh-CN" altLang="en-US" dirty="0">
                <a:effectLst/>
              </a:rPr>
              <a:t>将种子地址划分为子网，并构造层次树来指导地址生成。</a:t>
            </a:r>
            <a:r>
              <a:rPr lang="en-US" altLang="zh-CN" dirty="0">
                <a:effectLst/>
              </a:rPr>
              <a:t>6</a:t>
            </a:r>
            <a:r>
              <a:rPr lang="en" altLang="zh-CN" dirty="0">
                <a:effectLst/>
              </a:rPr>
              <a:t>Tree[16]</a:t>
            </a:r>
            <a:r>
              <a:rPr lang="zh-CN" altLang="en-US" dirty="0">
                <a:effectLst/>
              </a:rPr>
              <a:t>采用自顶向下聚类构建树，</a:t>
            </a:r>
            <a:r>
              <a:rPr lang="en-US" altLang="zh-CN" dirty="0">
                <a:effectLst/>
              </a:rPr>
              <a:t>6</a:t>
            </a:r>
            <a:r>
              <a:rPr lang="en" altLang="zh-CN" dirty="0">
                <a:effectLst/>
              </a:rPr>
              <a:t>Hit[17]</a:t>
            </a:r>
            <a:r>
              <a:rPr lang="zh-CN" altLang="en-US" dirty="0">
                <a:effectLst/>
              </a:rPr>
              <a:t>采用强化学习优化生成策略。最近的工作</a:t>
            </a:r>
            <a:r>
              <a:rPr lang="en-US" altLang="zh-CN" dirty="0">
                <a:effectLst/>
              </a:rPr>
              <a:t>6</a:t>
            </a:r>
            <a:r>
              <a:rPr lang="en" altLang="zh-CN" dirty="0">
                <a:effectLst/>
              </a:rPr>
              <a:t>Scan[18]</a:t>
            </a:r>
            <a:r>
              <a:rPr lang="zh-CN" altLang="en-US" dirty="0">
                <a:effectLst/>
              </a:rPr>
              <a:t>通过在树节点中编码区域标识符来加快探测速度。</a:t>
            </a:r>
            <a:r>
              <a:rPr lang="en-US" altLang="zh-CN" dirty="0">
                <a:effectLst/>
              </a:rPr>
              <a:t>6</a:t>
            </a:r>
            <a:r>
              <a:rPr lang="en" altLang="zh-CN" dirty="0">
                <a:effectLst/>
              </a:rPr>
              <a:t>Graph[21]</a:t>
            </a:r>
            <a:r>
              <a:rPr lang="zh-CN" altLang="en-US" dirty="0">
                <a:effectLst/>
              </a:rPr>
              <a:t>和</a:t>
            </a:r>
            <a:r>
              <a:rPr lang="en-US" altLang="zh-CN" dirty="0">
                <a:effectLst/>
              </a:rPr>
              <a:t>6</a:t>
            </a:r>
            <a:r>
              <a:rPr lang="en" altLang="zh-CN" dirty="0">
                <a:effectLst/>
              </a:rPr>
              <a:t>Forest[22]</a:t>
            </a:r>
            <a:r>
              <a:rPr lang="zh-CN" altLang="en-US" dirty="0">
                <a:effectLst/>
              </a:rPr>
              <a:t>处理异常值以提高准确性和稳定性，而最近的工作</a:t>
            </a:r>
            <a:r>
              <a:rPr lang="en-US" altLang="zh-CN" dirty="0">
                <a:effectLst/>
              </a:rPr>
              <a:t>6</a:t>
            </a:r>
            <a:r>
              <a:rPr lang="en" altLang="zh-CN" dirty="0" err="1">
                <a:effectLst/>
              </a:rPr>
              <a:t>Loda</a:t>
            </a:r>
            <a:r>
              <a:rPr lang="en" altLang="zh-CN" dirty="0">
                <a:effectLst/>
              </a:rPr>
              <a:t>[33]</a:t>
            </a:r>
            <a:r>
              <a:rPr lang="zh-CN" altLang="en-US" dirty="0">
                <a:effectLst/>
              </a:rPr>
              <a:t>进一步优化了</a:t>
            </a:r>
            <a:r>
              <a:rPr lang="en-US" altLang="zh-CN" dirty="0">
                <a:effectLst/>
              </a:rPr>
              <a:t>6</a:t>
            </a:r>
            <a:r>
              <a:rPr lang="en" altLang="zh-CN" dirty="0">
                <a:effectLst/>
              </a:rPr>
              <a:t>Forest</a:t>
            </a:r>
            <a:r>
              <a:rPr lang="zh-CN" altLang="en" dirty="0">
                <a:effectLst/>
              </a:rPr>
              <a:t>。</a:t>
            </a:r>
          </a:p>
          <a:p>
            <a:pPr marL="0" marR="0">
              <a:spcBef>
                <a:spcPts val="0"/>
              </a:spcBef>
              <a:spcAft>
                <a:spcPts val="0"/>
              </a:spcAft>
            </a:pPr>
            <a:r>
              <a:rPr lang="zh-CN" altLang="en-US" dirty="0">
                <a:effectLst/>
              </a:rPr>
              <a:t>机器学习方法：这些方法旨在对种子地址的分布进行建模，并使用它来生成目标地址。</a:t>
            </a:r>
          </a:p>
          <a:p>
            <a:pPr marL="0" marR="0">
              <a:spcBef>
                <a:spcPts val="0"/>
              </a:spcBef>
              <a:spcAft>
                <a:spcPts val="0"/>
              </a:spcAft>
            </a:pPr>
            <a:r>
              <a:rPr lang="en-US" altLang="zh-CN" dirty="0">
                <a:effectLst/>
              </a:rPr>
              <a:t>6</a:t>
            </a:r>
            <a:r>
              <a:rPr lang="en" altLang="zh-CN" dirty="0">
                <a:effectLst/>
              </a:rPr>
              <a:t>GAN[29]</a:t>
            </a:r>
            <a:r>
              <a:rPr lang="zh-CN" altLang="en-US" dirty="0">
                <a:effectLst/>
              </a:rPr>
              <a:t>利用熵聚类进行细粒度分类，将生成对抗网络（</a:t>
            </a:r>
            <a:r>
              <a:rPr lang="en" altLang="zh-CN" dirty="0">
                <a:effectLst/>
              </a:rPr>
              <a:t>GAN</a:t>
            </a:r>
            <a:r>
              <a:rPr lang="zh-CN" altLang="en" dirty="0">
                <a:effectLst/>
              </a:rPr>
              <a:t>）</a:t>
            </a:r>
            <a:r>
              <a:rPr lang="en" altLang="zh-CN" dirty="0">
                <a:effectLst/>
              </a:rPr>
              <a:t>[36]</a:t>
            </a:r>
            <a:r>
              <a:rPr lang="zh-CN" altLang="en-US" dirty="0">
                <a:effectLst/>
              </a:rPr>
              <a:t>与强化学习相结合进行训练。</a:t>
            </a:r>
            <a:r>
              <a:rPr lang="en-US" altLang="zh-CN" dirty="0">
                <a:effectLst/>
              </a:rPr>
              <a:t>6</a:t>
            </a:r>
            <a:r>
              <a:rPr lang="en" altLang="zh-CN" dirty="0">
                <a:effectLst/>
              </a:rPr>
              <a:t>Sense[9]</a:t>
            </a:r>
            <a:r>
              <a:rPr lang="zh-CN" altLang="en-US" dirty="0">
                <a:effectLst/>
              </a:rPr>
              <a:t>使用</a:t>
            </a:r>
            <a:r>
              <a:rPr lang="en" altLang="zh-CN" dirty="0">
                <a:effectLst/>
              </a:rPr>
              <a:t>LSTM[37]</a:t>
            </a:r>
            <a:r>
              <a:rPr lang="zh-CN" altLang="en-US" dirty="0">
                <a:effectLst/>
              </a:rPr>
              <a:t>学习地址的</a:t>
            </a:r>
            <a:r>
              <a:rPr lang="en-US" altLang="zh-CN" dirty="0">
                <a:effectLst/>
              </a:rPr>
              <a:t>/64</a:t>
            </a:r>
            <a:r>
              <a:rPr lang="zh-CN" altLang="en-US" dirty="0">
                <a:effectLst/>
              </a:rPr>
              <a:t>前缀。</a:t>
            </a:r>
            <a:r>
              <a:rPr lang="en-US" altLang="zh-CN" dirty="0">
                <a:effectLst/>
              </a:rPr>
              <a:t>6</a:t>
            </a:r>
            <a:r>
              <a:rPr lang="en" altLang="zh-CN" dirty="0">
                <a:effectLst/>
              </a:rPr>
              <a:t>Vision[26]</a:t>
            </a:r>
            <a:r>
              <a:rPr lang="zh-CN" altLang="en-US" dirty="0">
                <a:effectLst/>
              </a:rPr>
              <a:t>采用图像编码来学习地址之间的关联特征。</a:t>
            </a:r>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rPr>
              <a:t>统计方法支持大规模探测，而机器学习方法允许对地址配置模式进行细粒度探索。</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200271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实时网络质量探测</a:t>
            </a:r>
            <a:endParaRPr lang="en-US" altLang="zh-CN" dirty="0"/>
          </a:p>
          <a:p>
            <a:endParaRPr lang="en-US" altLang="zh-CN" dirty="0"/>
          </a:p>
          <a:p>
            <a:r>
              <a:rPr lang="zh-CN" altLang="en-US" dirty="0"/>
              <a:t>主动探测：</a:t>
            </a:r>
            <a:r>
              <a:rPr lang="en-US" altLang="zh-CN" dirty="0" err="1"/>
              <a:t>netbouncer</a:t>
            </a:r>
            <a:r>
              <a:rPr lang="zh-CN" altLang="en-US" dirty="0"/>
              <a:t>、</a:t>
            </a:r>
            <a:r>
              <a:rPr lang="en-US" altLang="zh-CN" dirty="0" err="1"/>
              <a:t>pingmesh</a:t>
            </a:r>
            <a:r>
              <a:rPr lang="zh-CN" altLang="en-US" dirty="0"/>
              <a:t>、</a:t>
            </a:r>
            <a:r>
              <a:rPr lang="en-US" altLang="zh-CN" dirty="0"/>
              <a:t>RD-probe</a:t>
            </a:r>
          </a:p>
          <a:p>
            <a:endParaRPr lang="en-US" altLang="zh-CN" dirty="0"/>
          </a:p>
          <a:p>
            <a:pPr marL="0" marR="0">
              <a:spcBef>
                <a:spcPts val="0"/>
              </a:spcBef>
              <a:spcAft>
                <a:spcPts val="0"/>
              </a:spcAft>
            </a:pPr>
            <a:r>
              <a:rPr lang="en-US" altLang="zh-CN" dirty="0" err="1"/>
              <a:t>Yarrp</a:t>
            </a:r>
            <a:r>
              <a:rPr lang="zh-CN" altLang="en-US" dirty="0"/>
              <a:t>、</a:t>
            </a:r>
            <a:r>
              <a:rPr lang="en-US" altLang="zh-CN" dirty="0" err="1"/>
              <a:t>Zmap</a:t>
            </a:r>
            <a:r>
              <a:rPr lang="zh-CN" altLang="en-US" dirty="0"/>
              <a:t>、</a:t>
            </a:r>
            <a:r>
              <a:rPr lang="en-US" altLang="zh-CN" dirty="0"/>
              <a:t>skyline</a:t>
            </a:r>
            <a:r>
              <a:rPr lang="zh-CN" altLang="en-US" dirty="0"/>
              <a:t> </a:t>
            </a:r>
            <a:r>
              <a:rPr lang="en-US" altLang="zh-CN" dirty="0"/>
              <a:t>CDN</a:t>
            </a:r>
            <a:r>
              <a:rPr lang="zh-CN" altLang="en-US" dirty="0"/>
              <a:t>部署、</a:t>
            </a:r>
            <a:endParaRPr lang="en-US" altLang="zh-CN" dirty="0"/>
          </a:p>
          <a:p>
            <a:pPr marL="0" marR="0">
              <a:spcBef>
                <a:spcPts val="0"/>
              </a:spcBef>
              <a:spcAft>
                <a:spcPts val="0"/>
              </a:spcAft>
            </a:pPr>
            <a:r>
              <a:rPr lang="en" altLang="zh-CN" dirty="0" err="1">
                <a:solidFill>
                  <a:srgbClr val="000000"/>
                </a:solidFill>
                <a:effectLst/>
              </a:rPr>
              <a:t>BlameIt</a:t>
            </a:r>
            <a:r>
              <a:rPr lang="zh-CN" altLang="en-US" dirty="0">
                <a:solidFill>
                  <a:srgbClr val="000000"/>
                </a:solidFill>
                <a:effectLst/>
              </a:rPr>
              <a:t>应用被动诊断来确定故障是否存在于互联网服务提供商（</a:t>
            </a:r>
            <a:r>
              <a:rPr lang="en" altLang="zh-CN" dirty="0">
                <a:solidFill>
                  <a:srgbClr val="000000"/>
                </a:solidFill>
                <a:effectLst/>
              </a:rPr>
              <a:t>ISP</a:t>
            </a:r>
            <a:r>
              <a:rPr lang="zh-CN" altLang="en" dirty="0">
                <a:solidFill>
                  <a:srgbClr val="000000"/>
                </a:solidFill>
                <a:effectLst/>
              </a:rPr>
              <a:t>）</a:t>
            </a:r>
            <a:r>
              <a:rPr lang="zh-CN" altLang="en-US" dirty="0">
                <a:solidFill>
                  <a:srgbClr val="000000"/>
                </a:solidFill>
                <a:effectLst/>
              </a:rPr>
              <a:t>的中间段，使用</a:t>
            </a:r>
            <a:r>
              <a:rPr lang="en" altLang="zh-CN" dirty="0">
                <a:solidFill>
                  <a:srgbClr val="000000"/>
                </a:solidFill>
                <a:effectLst/>
              </a:rPr>
              <a:t>traceroute</a:t>
            </a:r>
            <a:r>
              <a:rPr lang="zh-CN" altLang="en-US" dirty="0">
                <a:solidFill>
                  <a:srgbClr val="000000"/>
                </a:solidFill>
                <a:effectLst/>
              </a:rPr>
              <a:t>精确定位具体的</a:t>
            </a:r>
            <a:r>
              <a:rPr lang="en" altLang="zh-CN" dirty="0">
                <a:solidFill>
                  <a:srgbClr val="000000"/>
                </a:solidFill>
                <a:effectLst/>
              </a:rPr>
              <a:t>AS</a:t>
            </a:r>
            <a:r>
              <a:rPr lang="zh-CN" altLang="en" dirty="0">
                <a:solidFill>
                  <a:srgbClr val="000000"/>
                </a:solidFill>
                <a:effectLst/>
              </a:rPr>
              <a:t>。</a:t>
            </a:r>
            <a:endParaRPr lang="en" altLang="zh-CN" dirty="0">
              <a:effectLst/>
            </a:endParaRPr>
          </a:p>
          <a:p>
            <a:pPr marL="0" marR="0">
              <a:spcBef>
                <a:spcPts val="0"/>
              </a:spcBef>
              <a:spcAft>
                <a:spcPts val="0"/>
              </a:spcAft>
            </a:pPr>
            <a:r>
              <a:rPr lang="en" altLang="zh-CN" dirty="0" err="1">
                <a:solidFill>
                  <a:srgbClr val="000000"/>
                </a:solidFill>
                <a:effectLst/>
              </a:rPr>
              <a:t>AAsclepius</a:t>
            </a:r>
            <a:r>
              <a:rPr lang="zh-CN" altLang="en-US" dirty="0">
                <a:solidFill>
                  <a:srgbClr val="000000"/>
                </a:solidFill>
                <a:effectLst/>
              </a:rPr>
              <a:t>通过</a:t>
            </a:r>
            <a:r>
              <a:rPr lang="en" altLang="zh-CN" dirty="0">
                <a:solidFill>
                  <a:srgbClr val="000000"/>
                </a:solidFill>
                <a:effectLst/>
              </a:rPr>
              <a:t>BGP</a:t>
            </a:r>
            <a:r>
              <a:rPr lang="zh-CN" altLang="en-US" dirty="0">
                <a:solidFill>
                  <a:srgbClr val="000000"/>
                </a:solidFill>
                <a:effectLst/>
              </a:rPr>
              <a:t>路由宣告的撤回和重新宣告，判断故障方向并绕行。</a:t>
            </a:r>
            <a:endParaRPr lang="zh-CN" altLang="en-US" dirty="0">
              <a:effectLst/>
            </a:endParaRP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数据中心：</a:t>
            </a:r>
            <a:r>
              <a:rPr lang="en-US" altLang="zh-CN" dirty="0" err="1"/>
              <a:t>netbouncer</a:t>
            </a:r>
            <a:r>
              <a:rPr lang="zh-CN" altLang="en-US" dirty="0"/>
              <a:t>、</a:t>
            </a:r>
            <a:r>
              <a:rPr lang="en-US" altLang="zh-CN" dirty="0" err="1"/>
              <a:t>pingmesh</a:t>
            </a:r>
            <a:r>
              <a:rPr lang="zh-CN" altLang="en-US" dirty="0"/>
              <a:t>、</a:t>
            </a:r>
            <a:r>
              <a:rPr lang="en-US" altLang="zh-CN" dirty="0" err="1"/>
              <a:t>skeletonhunter</a:t>
            </a:r>
            <a:r>
              <a:rPr lang="zh-CN" altLang="en-US" dirty="0"/>
              <a:t>、</a:t>
            </a:r>
            <a:r>
              <a:rPr lang="en-US" altLang="zh-CN" dirty="0" err="1"/>
              <a:t>bytetracker</a:t>
            </a:r>
            <a:endParaRPr lang="en-US" altLang="zh-CN" dirty="0"/>
          </a:p>
          <a:p>
            <a:endParaRPr lang="en-US" altLang="zh-CN" dirty="0"/>
          </a:p>
          <a:p>
            <a:r>
              <a:rPr lang="zh-CN" altLang="en-US" dirty="0"/>
              <a:t>互联网：</a:t>
            </a:r>
            <a:endParaRPr lang="en-US" altLang="zh-CN" dirty="0"/>
          </a:p>
          <a:p>
            <a:r>
              <a:rPr lang="en-US" altLang="zh-CN" dirty="0" err="1"/>
              <a:t>Yarrp</a:t>
            </a:r>
            <a:endParaRPr lang="en-US" altLang="zh-CN" dirty="0"/>
          </a:p>
          <a:p>
            <a:pPr marL="0" marR="0">
              <a:spcBef>
                <a:spcPts val="0"/>
              </a:spcBef>
              <a:spcAft>
                <a:spcPts val="0"/>
              </a:spcAft>
            </a:pPr>
            <a:r>
              <a:rPr lang="en" altLang="zh-CN" dirty="0" err="1">
                <a:solidFill>
                  <a:srgbClr val="000000"/>
                </a:solidFill>
                <a:effectLst/>
              </a:rPr>
              <a:t>BlameIt</a:t>
            </a:r>
            <a:r>
              <a:rPr lang="zh-CN" altLang="en-US" dirty="0">
                <a:solidFill>
                  <a:srgbClr val="000000"/>
                </a:solidFill>
                <a:effectLst/>
              </a:rPr>
              <a:t>应用被动诊断来确定故障是否存在于互联网服务提供商（</a:t>
            </a:r>
            <a:r>
              <a:rPr lang="en" altLang="zh-CN" dirty="0">
                <a:solidFill>
                  <a:srgbClr val="000000"/>
                </a:solidFill>
                <a:effectLst/>
              </a:rPr>
              <a:t>ISP</a:t>
            </a:r>
            <a:r>
              <a:rPr lang="zh-CN" altLang="en" dirty="0">
                <a:solidFill>
                  <a:srgbClr val="000000"/>
                </a:solidFill>
                <a:effectLst/>
              </a:rPr>
              <a:t>）</a:t>
            </a:r>
            <a:r>
              <a:rPr lang="zh-CN" altLang="en-US" dirty="0">
                <a:solidFill>
                  <a:srgbClr val="000000"/>
                </a:solidFill>
                <a:effectLst/>
              </a:rPr>
              <a:t>的中间段，使用</a:t>
            </a:r>
            <a:r>
              <a:rPr lang="en" altLang="zh-CN" dirty="0">
                <a:solidFill>
                  <a:srgbClr val="000000"/>
                </a:solidFill>
                <a:effectLst/>
              </a:rPr>
              <a:t>traceroute</a:t>
            </a:r>
            <a:r>
              <a:rPr lang="zh-CN" altLang="en-US" dirty="0">
                <a:solidFill>
                  <a:srgbClr val="000000"/>
                </a:solidFill>
                <a:effectLst/>
              </a:rPr>
              <a:t>精确定位具体的</a:t>
            </a:r>
            <a:r>
              <a:rPr lang="en" altLang="zh-CN" dirty="0">
                <a:solidFill>
                  <a:srgbClr val="000000"/>
                </a:solidFill>
                <a:effectLst/>
              </a:rPr>
              <a:t>AS</a:t>
            </a:r>
            <a:r>
              <a:rPr lang="zh-CN" altLang="en" dirty="0">
                <a:solidFill>
                  <a:srgbClr val="000000"/>
                </a:solidFill>
                <a:effectLst/>
              </a:rPr>
              <a:t>。</a:t>
            </a:r>
            <a:endParaRPr lang="en" altLang="zh-CN" dirty="0">
              <a:effectLst/>
            </a:endParaRPr>
          </a:p>
          <a:p>
            <a:pPr marL="0" marR="0">
              <a:spcBef>
                <a:spcPts val="0"/>
              </a:spcBef>
              <a:spcAft>
                <a:spcPts val="0"/>
              </a:spcAft>
            </a:pPr>
            <a:r>
              <a:rPr lang="en" altLang="zh-CN" dirty="0" err="1">
                <a:solidFill>
                  <a:srgbClr val="000000"/>
                </a:solidFill>
                <a:effectLst/>
              </a:rPr>
              <a:t>AAsclepius</a:t>
            </a:r>
            <a:r>
              <a:rPr lang="zh-CN" altLang="en-US" dirty="0">
                <a:solidFill>
                  <a:srgbClr val="000000"/>
                </a:solidFill>
                <a:effectLst/>
              </a:rPr>
              <a:t>通过</a:t>
            </a:r>
            <a:r>
              <a:rPr lang="en" altLang="zh-CN" dirty="0">
                <a:solidFill>
                  <a:srgbClr val="000000"/>
                </a:solidFill>
                <a:effectLst/>
              </a:rPr>
              <a:t>BGP</a:t>
            </a:r>
            <a:r>
              <a:rPr lang="zh-CN" altLang="en-US" dirty="0">
                <a:solidFill>
                  <a:srgbClr val="000000"/>
                </a:solidFill>
                <a:effectLst/>
              </a:rPr>
              <a:t>路由宣告的撤回和重新宣告，判断故障方向并绕行。</a:t>
            </a:r>
            <a:endParaRPr lang="en-US" altLang="zh-CN" dirty="0">
              <a:solidFill>
                <a:srgbClr val="000000"/>
              </a:solidFill>
              <a:effectLst/>
            </a:endParaRPr>
          </a:p>
          <a:p>
            <a:pPr marL="0" marR="0">
              <a:spcBef>
                <a:spcPts val="0"/>
              </a:spcBef>
              <a:spcAft>
                <a:spcPts val="0"/>
              </a:spcAft>
            </a:pPr>
            <a:r>
              <a:rPr lang="en-US" altLang="zh-CN" dirty="0">
                <a:solidFill>
                  <a:srgbClr val="000000"/>
                </a:solidFill>
                <a:effectLst/>
              </a:rPr>
              <a:t>skyline</a:t>
            </a:r>
            <a:endParaRPr lang="zh-CN" altLang="en-US" dirty="0">
              <a:effectLst/>
            </a:endParaRPr>
          </a:p>
          <a:p>
            <a:endParaRPr lang="en-US" altLang="zh-CN" dirty="0"/>
          </a:p>
          <a:p>
            <a:endParaRPr lang="en-US" altLang="zh-CN" dirty="0"/>
          </a:p>
          <a:p>
            <a:r>
              <a:rPr lang="zh-CN" altLang="en-US" dirty="0"/>
              <a:t>被动探测；</a:t>
            </a:r>
            <a:r>
              <a:rPr lang="en-US" altLang="zh-CN" dirty="0"/>
              <a:t>NTP</a:t>
            </a:r>
            <a:r>
              <a:rPr lang="zh-CN" altLang="en-US" dirty="0"/>
              <a:t>监听、</a:t>
            </a:r>
            <a:r>
              <a:rPr lang="en-US" altLang="zh-CN" dirty="0"/>
              <a:t>Traceroute</a:t>
            </a:r>
            <a:r>
              <a:rPr lang="zh-CN" altLang="en-US" dirty="0"/>
              <a:t>不对称路径分析、毫秒级监控、利用</a:t>
            </a:r>
            <a:r>
              <a:rPr lang="en-US" altLang="zh-CN" dirty="0" err="1"/>
              <a:t>PeeringDB</a:t>
            </a:r>
            <a:r>
              <a:rPr lang="zh-CN" altLang="en-US" dirty="0"/>
              <a:t>对地址类型进行划分</a:t>
            </a:r>
            <a:endParaRPr lang="en-US" altLang="zh-CN" dirty="0"/>
          </a:p>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r>
              <a:rPr kumimoji="1" lang="zh-CN" altLang="en-US" dirty="0"/>
              <a:t>现有</a:t>
            </a:r>
            <a:r>
              <a:rPr kumimoji="1" lang="en-US" altLang="zh-CN" dirty="0"/>
              <a:t>hitlist</a:t>
            </a:r>
            <a:r>
              <a:rPr kumimoji="1" lang="zh-CN" altLang="en-US" dirty="0"/>
              <a:t>集中在某些</a:t>
            </a:r>
            <a:r>
              <a:rPr kumimoji="1" lang="en-US" altLang="zh-CN" dirty="0"/>
              <a:t>AS</a:t>
            </a:r>
            <a:r>
              <a:rPr kumimoji="1" lang="zh-CN" altLang="en-US" dirty="0"/>
              <a:t>、</a:t>
            </a:r>
            <a:r>
              <a:rPr kumimoji="1" lang="en-US" altLang="zh-CN" dirty="0"/>
              <a:t>Prefix</a:t>
            </a:r>
          </a:p>
          <a:p>
            <a:r>
              <a:rPr kumimoji="1" lang="zh-CN" altLang="en-US" dirty="0"/>
              <a:t>无种子场景，覆盖率低（从</a:t>
            </a:r>
            <a:r>
              <a:rPr kumimoji="1" lang="en-US" altLang="zh-CN" dirty="0" err="1"/>
              <a:t>zhangwenjian</a:t>
            </a:r>
            <a:r>
              <a:rPr kumimoji="1" lang="zh-CN" altLang="en-US" dirty="0"/>
              <a:t>师兄论文拿图）</a:t>
            </a:r>
            <a:endParaRPr kumimoji="1" lang="en-US" altLang="zh-CN" dirty="0"/>
          </a:p>
          <a:p>
            <a:endParaRPr kumimoji="1" lang="en-US" altLang="zh-CN" dirty="0"/>
          </a:p>
          <a:p>
            <a:r>
              <a:rPr kumimoji="1" lang="zh-CN" altLang="en-US" dirty="0"/>
              <a:t>动态算法时间长（从</a:t>
            </a:r>
            <a:r>
              <a:rPr kumimoji="1" lang="en-US" altLang="zh-CN" dirty="0" err="1"/>
              <a:t>zhangwenjian</a:t>
            </a:r>
            <a:r>
              <a:rPr kumimoji="1" lang="zh-CN" altLang="en-US" dirty="0"/>
              <a:t>师兄论文拿图）</a:t>
            </a:r>
            <a:endParaRPr kumimoji="1"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3174047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kumimoji="1" lang="zh-CN" altLang="en-US" dirty="0"/>
              <a:t>动态模式迁移，从有种子模式迁移到无种子模式</a:t>
            </a:r>
            <a:endParaRPr kumimoji="1" lang="en-US" altLang="zh-CN" dirty="0"/>
          </a:p>
          <a:p>
            <a:pPr algn="l">
              <a:buFont typeface="+mj-lt"/>
              <a:buAutoNum type="arabicPeriod"/>
            </a:pPr>
            <a:r>
              <a:rPr kumimoji="1" lang="zh-CN" altLang="en-US" dirty="0"/>
              <a:t>将有状态长周期运行算法，修改为无状态多次运行算法。</a:t>
            </a:r>
            <a:br>
              <a:rPr kumimoji="1" lang="en-US" altLang="zh-CN" dirty="0"/>
            </a:br>
            <a:br>
              <a:rPr kumimoji="1" lang="en-US" altLang="zh-CN" dirty="0"/>
            </a:br>
            <a:r>
              <a:rPr lang="zh-CN" altLang="en-US" b="0" i="0" dirty="0">
                <a:solidFill>
                  <a:srgbClr val="0D1239"/>
                </a:solidFill>
                <a:effectLst/>
                <a:latin typeface="PingFang SC" panose="020B0400000000000000" pitchFamily="34" charset="-122"/>
                <a:ea typeface="PingFang SC" panose="020B0400000000000000" pitchFamily="34" charset="-122"/>
              </a:rPr>
              <a:t>地址探索（</a:t>
            </a:r>
            <a:r>
              <a:rPr lang="en" altLang="zh-CN" b="0" i="0" dirty="0">
                <a:solidFill>
                  <a:srgbClr val="0D1239"/>
                </a:solidFill>
                <a:effectLst/>
                <a:latin typeface="PingFang SC" panose="020B0400000000000000" pitchFamily="34" charset="-122"/>
                <a:ea typeface="PingFang SC" panose="020B0400000000000000" pitchFamily="34" charset="-122"/>
              </a:rPr>
              <a:t>exploration</a:t>
            </a:r>
            <a:r>
              <a:rPr lang="zh-CN" altLang="en" b="0" i="0" dirty="0">
                <a:solidFill>
                  <a:srgbClr val="0D1239"/>
                </a:solidFill>
                <a:effectLst/>
                <a:latin typeface="PingFang SC" panose="020B0400000000000000" pitchFamily="34" charset="-122"/>
                <a:ea typeface="PingFang SC" panose="020B0400000000000000" pitchFamily="34" charset="-122"/>
              </a:rPr>
              <a:t>）：</a:t>
            </a:r>
            <a:r>
              <a:rPr lang="zh-CN" altLang="en-US" b="0" i="0" dirty="0">
                <a:solidFill>
                  <a:srgbClr val="0D1239"/>
                </a:solidFill>
                <a:effectLst/>
                <a:latin typeface="PingFang SC" panose="020B0400000000000000" pitchFamily="34" charset="-122"/>
                <a:ea typeface="PingFang SC" panose="020B0400000000000000" pitchFamily="34" charset="-122"/>
              </a:rPr>
              <a:t>低频运行，用于发现有效目标并收集命中统计；探索结果（前缀命中率、模式计数等）持久化到存储中。</a:t>
            </a:r>
          </a:p>
          <a:p>
            <a:pPr algn="l">
              <a:buFont typeface="+mj-lt"/>
              <a:buAutoNum type="arabicPeriod"/>
            </a:pPr>
            <a:r>
              <a:rPr lang="zh-CN" altLang="en-US" b="0" i="0" dirty="0">
                <a:solidFill>
                  <a:srgbClr val="0D1239"/>
                </a:solidFill>
                <a:effectLst/>
                <a:latin typeface="PingFang SC" panose="020B0400000000000000" pitchFamily="34" charset="-122"/>
                <a:ea typeface="PingFang SC" panose="020B0400000000000000" pitchFamily="34" charset="-122"/>
              </a:rPr>
              <a:t>高频探测（</a:t>
            </a:r>
            <a:r>
              <a:rPr lang="en" altLang="zh-CN" b="0" i="0" dirty="0">
                <a:solidFill>
                  <a:srgbClr val="0D1239"/>
                </a:solidFill>
                <a:effectLst/>
                <a:latin typeface="PingFang SC" panose="020B0400000000000000" pitchFamily="34" charset="-122"/>
                <a:ea typeface="PingFang SC" panose="020B0400000000000000" pitchFamily="34" charset="-122"/>
              </a:rPr>
              <a:t>high-rate probing</a:t>
            </a:r>
            <a:r>
              <a:rPr lang="zh-CN" altLang="en" b="0" i="0" dirty="0">
                <a:solidFill>
                  <a:srgbClr val="0D1239"/>
                </a:solidFill>
                <a:effectLst/>
                <a:latin typeface="PingFang SC" panose="020B0400000000000000" pitchFamily="34" charset="-122"/>
                <a:ea typeface="PingFang SC" panose="020B0400000000000000" pitchFamily="34" charset="-122"/>
              </a:rPr>
              <a:t>）：</a:t>
            </a:r>
            <a:r>
              <a:rPr lang="zh-CN" altLang="en-US" b="0" i="0" dirty="0">
                <a:solidFill>
                  <a:srgbClr val="0D1239"/>
                </a:solidFill>
                <a:effectLst/>
                <a:latin typeface="PingFang SC" panose="020B0400000000000000" pitchFamily="34" charset="-122"/>
                <a:ea typeface="PingFang SC" panose="020B0400000000000000" pitchFamily="34" charset="-122"/>
              </a:rPr>
              <a:t>仅加载最新的轻量级权重快照，进行快速地址生成与发送探测，不在内存中维护完整学习状态。</a:t>
            </a:r>
          </a:p>
          <a:p>
            <a:pPr algn="l" latinLnBrk="1"/>
            <a:r>
              <a:rPr lang="zh-CN" altLang="en-US" b="0" i="0" dirty="0">
                <a:solidFill>
                  <a:srgbClr val="0D1239"/>
                </a:solidFill>
                <a:effectLst/>
                <a:latin typeface="PingFang SC" panose="020B0400000000000000" pitchFamily="34" charset="-122"/>
                <a:ea typeface="PingFang SC" panose="020B0400000000000000" pitchFamily="34" charset="-122"/>
              </a:rPr>
              <a:t>在此基础上，我们在离线侧对持久化数据进行增量学习（</a:t>
            </a:r>
            <a:r>
              <a:rPr lang="en" altLang="zh-CN" b="0" i="0" dirty="0">
                <a:solidFill>
                  <a:srgbClr val="0D1239"/>
                </a:solidFill>
                <a:effectLst/>
                <a:latin typeface="PingFang SC" panose="020B0400000000000000" pitchFamily="34" charset="-122"/>
                <a:ea typeface="PingFang SC" panose="020B0400000000000000" pitchFamily="34" charset="-122"/>
              </a:rPr>
              <a:t>incremental learning</a:t>
            </a:r>
            <a:r>
              <a:rPr lang="zh-CN" altLang="en" b="0" i="0" dirty="0">
                <a:solidFill>
                  <a:srgbClr val="0D1239"/>
                </a:solidFill>
                <a:effectLst/>
                <a:latin typeface="PingFang SC" panose="020B0400000000000000" pitchFamily="34" charset="-122"/>
                <a:ea typeface="PingFang SC" panose="020B0400000000000000" pitchFamily="34" charset="-122"/>
              </a:rPr>
              <a:t>），</a:t>
            </a:r>
            <a:r>
              <a:rPr lang="zh-CN" altLang="en-US" b="0" i="0" dirty="0">
                <a:solidFill>
                  <a:srgbClr val="0D1239"/>
                </a:solidFill>
                <a:effectLst/>
                <a:latin typeface="PingFang SC" panose="020B0400000000000000" pitchFamily="34" charset="-122"/>
                <a:ea typeface="PingFang SC" panose="020B0400000000000000" pitchFamily="34" charset="-122"/>
              </a:rPr>
              <a:t>周期性更新目标前缀集合及模式权重，并以“权重快照”的形式下发给在线探测阶段。该设计将“学习</a:t>
            </a:r>
            <a:r>
              <a:rPr lang="en-US" altLang="zh-CN" b="0" i="0" dirty="0">
                <a:solidFill>
                  <a:srgbClr val="0D1239"/>
                </a:solidFill>
                <a:effectLst/>
                <a:latin typeface="PingFang SC" panose="020B0400000000000000" pitchFamily="34" charset="-122"/>
                <a:ea typeface="PingFang SC" panose="020B0400000000000000" pitchFamily="34" charset="-122"/>
              </a:rPr>
              <a:t>/</a:t>
            </a:r>
            <a:r>
              <a:rPr lang="zh-CN" altLang="en-US" b="0" i="0" dirty="0">
                <a:solidFill>
                  <a:srgbClr val="0D1239"/>
                </a:solidFill>
                <a:effectLst/>
                <a:latin typeface="PingFang SC" panose="020B0400000000000000" pitchFamily="34" charset="-122"/>
                <a:ea typeface="PingFang SC" panose="020B0400000000000000" pitchFamily="34" charset="-122"/>
              </a:rPr>
              <a:t>更新”从在线关键路径移除，把一次运行的生成成本降低为近似常数级的查表</a:t>
            </a:r>
            <a:r>
              <a:rPr lang="en-US" altLang="zh-CN" b="0" i="0" dirty="0">
                <a:solidFill>
                  <a:srgbClr val="0D1239"/>
                </a:solidFill>
                <a:effectLst/>
                <a:latin typeface="PingFang SC" panose="020B0400000000000000" pitchFamily="34" charset="-122"/>
                <a:ea typeface="PingFang SC" panose="020B0400000000000000" pitchFamily="34" charset="-122"/>
              </a:rPr>
              <a:t>/</a:t>
            </a:r>
            <a:r>
              <a:rPr lang="zh-CN" altLang="en-US" b="0" i="0" dirty="0">
                <a:solidFill>
                  <a:srgbClr val="0D1239"/>
                </a:solidFill>
                <a:effectLst/>
                <a:latin typeface="PingFang SC" panose="020B0400000000000000" pitchFamily="34" charset="-122"/>
                <a:ea typeface="PingFang SC" panose="020B0400000000000000" pitchFamily="34" charset="-122"/>
              </a:rPr>
              <a:t>采样开销，同时通过持续的离线更新保持对地址空间变化的适应性。</a:t>
            </a:r>
          </a:p>
          <a:p>
            <a:pPr marL="228600" indent="-228600">
              <a:buAutoNum type="arabicPeriod"/>
            </a:pP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260505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kumimoji="1" lang="zh-CN" altLang="en-US" dirty="0"/>
              <a:t>地址存活时间短，不足以支持实时的持续的网络质量探测</a:t>
            </a:r>
            <a:r>
              <a:rPr kumimoji="1" lang="en-US" altLang="zh-CN" dirty="0"/>
              <a:t>-&gt;</a:t>
            </a:r>
            <a:r>
              <a:rPr kumimoji="1" lang="zh-CN" altLang="en-US" dirty="0"/>
              <a:t>每个实体保持一定量地址，并动态补充</a:t>
            </a:r>
            <a:endParaRPr kumimoji="1" lang="en-US" altLang="zh-CN" dirty="0"/>
          </a:p>
          <a:p>
            <a:pPr marL="685800" lvl="1" indent="-228600">
              <a:buAutoNum type="arabicPeriod"/>
            </a:pPr>
            <a:r>
              <a:rPr kumimoji="1" lang="zh-CN" altLang="en-US" dirty="0"/>
              <a:t>当前地址生成算法</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2.</a:t>
            </a:r>
            <a:r>
              <a:rPr kumimoji="1" lang="zh-CN" altLang="en-US" dirty="0"/>
              <a:t> 缺乏可代表性考量，长周期生成的地址</a:t>
            </a:r>
            <a:r>
              <a:rPr kumimoji="1" lang="en-US" altLang="zh-CN" dirty="0"/>
              <a:t>-&gt;</a:t>
            </a:r>
            <a:r>
              <a:rPr kumimoji="1" lang="zh-CN" altLang="en-US" dirty="0"/>
              <a:t>对类型进行划分，如何使得地址的探测结果能够迁移到用户的探测结果</a:t>
            </a:r>
            <a:br>
              <a:rPr kumimoji="1" lang="en-US" altLang="zh-CN" dirty="0"/>
            </a:br>
            <a:br>
              <a:rPr kumimoji="1" lang="en-US" altLang="zh-CN" dirty="0"/>
            </a:br>
            <a:r>
              <a:rPr lang="zh-CN" altLang="en-US" dirty="0">
                <a:effectLst/>
              </a:rPr>
              <a:t>地址集通常被当作一次性样本使用，很少考虑目标的生命周期管理和长期可观测性。直接将这些地址用于持续探测，</a:t>
            </a:r>
            <a:r>
              <a:rPr lang="en" altLang="zh-CN" dirty="0">
                <a:effectLst/>
              </a:rPr>
              <a:t>IPv6 </a:t>
            </a:r>
            <a:r>
              <a:rPr lang="zh-CN" altLang="en-US" dirty="0">
                <a:effectLst/>
              </a:rPr>
              <a:t>地址的短寿命和 高变化率使得探测结果夹杂大量“地址失活”噪声</a:t>
            </a:r>
            <a:endParaRPr lang="zh-CN" altLang="en-US" dirty="0"/>
          </a:p>
          <a:p>
            <a:endParaRPr kumimoji="1"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2637199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明确一下现在的方法解决的问题</a:t>
            </a:r>
            <a:endParaRPr lang="en-US" altLang="zh-CN" dirty="0"/>
          </a:p>
          <a:p>
            <a:endParaRPr lang="en-US" altLang="zh-CN" dirty="0"/>
          </a:p>
          <a:p>
            <a:endParaRPr lang="en-US" altLang="zh-CN" dirty="0"/>
          </a:p>
          <a:p>
            <a:pPr marL="228600" indent="-228600">
              <a:buAutoNum type="arabicPeriod"/>
            </a:pPr>
            <a:r>
              <a:rPr kumimoji="1" lang="zh-CN" altLang="en-US" dirty="0"/>
              <a:t>地址存活时间短，不足以支持实时的持续的网络质量探测</a:t>
            </a:r>
            <a:r>
              <a:rPr kumimoji="1" lang="en-US" altLang="zh-CN" dirty="0"/>
              <a:t>-&gt;</a:t>
            </a:r>
            <a:r>
              <a:rPr kumimoji="1" lang="zh-CN" altLang="en-US" dirty="0"/>
              <a:t>每个实体保持一定量地址，并动态补充</a:t>
            </a:r>
            <a:endParaRPr kumimoji="1" lang="en-US" altLang="zh-CN" dirty="0"/>
          </a:p>
          <a:p>
            <a:pPr marL="685800" lvl="1" indent="-228600">
              <a:buAutoNum type="arabicPeriod"/>
            </a:pPr>
            <a:r>
              <a:rPr kumimoji="1" lang="zh-CN" altLang="en-US" dirty="0"/>
              <a:t>当前地址生成算法</a:t>
            </a:r>
            <a:endParaRPr kumimoji="1" lang="en-US" altLang="zh-CN" dirty="0"/>
          </a:p>
          <a:p>
            <a:pPr algn="l" latinLnBrk="1">
              <a:buFont typeface="+mj-lt"/>
              <a:buAutoNum type="arabicPeriod"/>
            </a:pPr>
            <a:r>
              <a:rPr kumimoji="1" lang="en-US" altLang="zh-CN" dirty="0"/>
              <a:t>2.</a:t>
            </a:r>
            <a:r>
              <a:rPr kumimoji="1" lang="zh-CN" altLang="en-US" dirty="0"/>
              <a:t> 缺乏可代表性考量，长周期生成的地址</a:t>
            </a:r>
            <a:r>
              <a:rPr kumimoji="1" lang="en-US" altLang="zh-CN" dirty="0"/>
              <a:t>-&gt;</a:t>
            </a:r>
            <a:r>
              <a:rPr kumimoji="1" lang="zh-CN" altLang="en-US" dirty="0"/>
              <a:t>对类型进行划分，如何使得地址的探测结果能够迁移到用户的探测结果</a:t>
            </a:r>
            <a:br>
              <a:rPr kumimoji="1" lang="en-US" altLang="zh-CN" dirty="0"/>
            </a:br>
            <a:br>
              <a:rPr kumimoji="1" lang="en-US" altLang="zh-CN" dirty="0"/>
            </a:br>
            <a:br>
              <a:rPr kumimoji="1" lang="en-US" altLang="zh-CN" dirty="0"/>
            </a:br>
            <a:r>
              <a:rPr lang="zh-CN" altLang="en-US" b="0" i="0" dirty="0">
                <a:solidFill>
                  <a:srgbClr val="0D1239"/>
                </a:solidFill>
                <a:effectLst/>
                <a:latin typeface="PingFang SC" panose="020B0400000000000000" pitchFamily="34" charset="-122"/>
                <a:ea typeface="PingFang SC" panose="020B0400000000000000" pitchFamily="34" charset="-122"/>
              </a:rPr>
              <a:t>覆盖优先的样本生成策略</a:t>
            </a:r>
            <a:br>
              <a:rPr lang="zh-CN" altLang="en-US" b="0" i="0" dirty="0">
                <a:solidFill>
                  <a:srgbClr val="0D1239"/>
                </a:solidFill>
                <a:effectLst/>
                <a:latin typeface="PingFang SC" panose="020B0400000000000000" pitchFamily="34" charset="-122"/>
                <a:ea typeface="PingFang SC" panose="020B0400000000000000" pitchFamily="34" charset="-122"/>
              </a:rPr>
            </a:br>
            <a:r>
              <a:rPr lang="zh-CN" altLang="en-US" b="0" i="0" dirty="0">
                <a:solidFill>
                  <a:srgbClr val="0D1239"/>
                </a:solidFill>
                <a:effectLst/>
                <a:latin typeface="PingFang SC" panose="020B0400000000000000" pitchFamily="34" charset="-122"/>
                <a:ea typeface="PingFang SC" panose="020B0400000000000000" pitchFamily="34" charset="-122"/>
              </a:rPr>
              <a:t>我优先保证 </a:t>
            </a:r>
            <a:r>
              <a:rPr lang="en" altLang="zh-CN" b="0" i="0" dirty="0">
                <a:solidFill>
                  <a:srgbClr val="0D1239"/>
                </a:solidFill>
                <a:effectLst/>
                <a:latin typeface="PingFang SC" panose="020B0400000000000000" pitchFamily="34" charset="-122"/>
                <a:ea typeface="PingFang SC" panose="020B0400000000000000" pitchFamily="34" charset="-122"/>
              </a:rPr>
              <a:t>Top ASN </a:t>
            </a:r>
            <a:r>
              <a:rPr lang="zh-CN" altLang="en-US" b="0" i="0" dirty="0">
                <a:solidFill>
                  <a:srgbClr val="0D1239"/>
                </a:solidFill>
                <a:effectLst/>
                <a:latin typeface="PingFang SC" panose="020B0400000000000000" pitchFamily="34" charset="-122"/>
                <a:ea typeface="PingFang SC" panose="020B0400000000000000" pitchFamily="34" charset="-122"/>
              </a:rPr>
              <a:t>覆盖与 </a:t>
            </a:r>
            <a:r>
              <a:rPr lang="en" altLang="zh-CN" b="0" i="0" dirty="0">
                <a:solidFill>
                  <a:srgbClr val="0D1239"/>
                </a:solidFill>
                <a:effectLst/>
                <a:latin typeface="PingFang SC" panose="020B0400000000000000" pitchFamily="34" charset="-122"/>
                <a:ea typeface="PingFang SC" panose="020B0400000000000000" pitchFamily="34" charset="-122"/>
              </a:rPr>
              <a:t>NetFlow </a:t>
            </a:r>
            <a:r>
              <a:rPr lang="zh-CN" altLang="en-US" b="0" i="0" dirty="0">
                <a:solidFill>
                  <a:srgbClr val="0D1239"/>
                </a:solidFill>
                <a:effectLst/>
                <a:latin typeface="PingFang SC" panose="020B0400000000000000" pitchFamily="34" charset="-122"/>
                <a:ea typeface="PingFang SC" panose="020B0400000000000000" pitchFamily="34" charset="-122"/>
              </a:rPr>
              <a:t>重点网段覆盖：在地址生成阶段将探测预算向用户规模更大、业务流量更集中的网络倾斜，使探测集合更贴近真实用户与真实流量分布，从而让测量结果能够代表大多数用户的实际网络体验。</a:t>
            </a:r>
          </a:p>
          <a:p>
            <a:pPr algn="l" latinLnBrk="1">
              <a:buFont typeface="+mj-lt"/>
              <a:buAutoNum type="arabicPeriod"/>
            </a:pPr>
            <a:r>
              <a:rPr lang="zh-CN" altLang="en-US" b="0" i="0" dirty="0">
                <a:solidFill>
                  <a:srgbClr val="0D1239"/>
                </a:solidFill>
                <a:effectLst/>
                <a:latin typeface="PingFang SC" panose="020B0400000000000000" pitchFamily="34" charset="-122"/>
                <a:ea typeface="PingFang SC" panose="020B0400000000000000" pitchFamily="34" charset="-122"/>
              </a:rPr>
              <a:t>基于 </a:t>
            </a:r>
            <a:r>
              <a:rPr lang="en" altLang="zh-CN" b="0" i="0" dirty="0" err="1">
                <a:solidFill>
                  <a:srgbClr val="0D1239"/>
                </a:solidFill>
                <a:effectLst/>
                <a:latin typeface="PingFang SC" panose="020B0400000000000000" pitchFamily="34" charset="-122"/>
                <a:ea typeface="PingFang SC" panose="020B0400000000000000" pitchFamily="34" charset="-122"/>
              </a:rPr>
              <a:t>PeerDB</a:t>
            </a:r>
            <a:r>
              <a:rPr lang="en" altLang="zh-CN" b="0" i="0" dirty="0">
                <a:solidFill>
                  <a:srgbClr val="0D1239"/>
                </a:solidFill>
                <a:effectLst/>
                <a:latin typeface="PingFang SC" panose="020B0400000000000000" pitchFamily="34" charset="-122"/>
                <a:ea typeface="PingFang SC" panose="020B0400000000000000" pitchFamily="34" charset="-122"/>
              </a:rPr>
              <a:t> </a:t>
            </a:r>
            <a:r>
              <a:rPr lang="zh-CN" altLang="en-US" b="0" i="0" dirty="0">
                <a:solidFill>
                  <a:srgbClr val="0D1239"/>
                </a:solidFill>
                <a:effectLst/>
                <a:latin typeface="PingFang SC" panose="020B0400000000000000" pitchFamily="34" charset="-122"/>
                <a:ea typeface="PingFang SC" panose="020B0400000000000000" pitchFamily="34" charset="-122"/>
              </a:rPr>
              <a:t>的地址类型打标与加权指标计算</a:t>
            </a:r>
            <a:br>
              <a:rPr lang="zh-CN" altLang="en-US" b="0" i="0" dirty="0">
                <a:solidFill>
                  <a:srgbClr val="0D1239"/>
                </a:solidFill>
                <a:effectLst/>
                <a:latin typeface="PingFang SC" panose="020B0400000000000000" pitchFamily="34" charset="-122"/>
                <a:ea typeface="PingFang SC" panose="020B0400000000000000" pitchFamily="34" charset="-122"/>
              </a:rPr>
            </a:br>
            <a:r>
              <a:rPr lang="zh-CN" altLang="en-US" b="0" i="0" dirty="0">
                <a:solidFill>
                  <a:srgbClr val="0D1239"/>
                </a:solidFill>
                <a:effectLst/>
                <a:latin typeface="PingFang SC" panose="020B0400000000000000" pitchFamily="34" charset="-122"/>
                <a:ea typeface="PingFang SC" panose="020B0400000000000000" pitchFamily="34" charset="-122"/>
              </a:rPr>
              <a:t>我引入 </a:t>
            </a:r>
            <a:r>
              <a:rPr lang="en" altLang="zh-CN" b="0" i="0" dirty="0" err="1">
                <a:solidFill>
                  <a:srgbClr val="0D1239"/>
                </a:solidFill>
                <a:effectLst/>
                <a:latin typeface="PingFang SC" panose="020B0400000000000000" pitchFamily="34" charset="-122"/>
                <a:ea typeface="PingFang SC" panose="020B0400000000000000" pitchFamily="34" charset="-122"/>
              </a:rPr>
              <a:t>PeerDB</a:t>
            </a:r>
            <a:r>
              <a:rPr lang="en" altLang="zh-CN" b="0" i="0" dirty="0">
                <a:solidFill>
                  <a:srgbClr val="0D1239"/>
                </a:solidFill>
                <a:effectLst/>
                <a:latin typeface="PingFang SC" panose="020B0400000000000000" pitchFamily="34" charset="-122"/>
                <a:ea typeface="PingFang SC" panose="020B0400000000000000" pitchFamily="34" charset="-122"/>
              </a:rPr>
              <a:t> </a:t>
            </a:r>
            <a:r>
              <a:rPr lang="zh-CN" altLang="en-US" b="0" i="0" dirty="0">
                <a:solidFill>
                  <a:srgbClr val="0D1239"/>
                </a:solidFill>
                <a:effectLst/>
                <a:latin typeface="PingFang SC" panose="020B0400000000000000" pitchFamily="34" charset="-122"/>
                <a:ea typeface="PingFang SC" panose="020B0400000000000000" pitchFamily="34" charset="-122"/>
              </a:rPr>
              <a:t>对探测到的 </a:t>
            </a:r>
            <a:r>
              <a:rPr lang="en" altLang="zh-CN" b="0" i="0" dirty="0">
                <a:solidFill>
                  <a:srgbClr val="0D1239"/>
                </a:solidFill>
                <a:effectLst/>
                <a:latin typeface="PingFang SC" panose="020B0400000000000000" pitchFamily="34" charset="-122"/>
                <a:ea typeface="PingFang SC" panose="020B0400000000000000" pitchFamily="34" charset="-122"/>
              </a:rPr>
              <a:t>IPv6 </a:t>
            </a:r>
            <a:r>
              <a:rPr lang="zh-CN" altLang="en-US" b="0" i="0" dirty="0">
                <a:solidFill>
                  <a:srgbClr val="0D1239"/>
                </a:solidFill>
                <a:effectLst/>
                <a:latin typeface="PingFang SC" panose="020B0400000000000000" pitchFamily="34" charset="-122"/>
                <a:ea typeface="PingFang SC" panose="020B0400000000000000" pitchFamily="34" charset="-122"/>
              </a:rPr>
              <a:t>地址进行类别打标（例如不同网络</a:t>
            </a:r>
            <a:r>
              <a:rPr lang="en-US" altLang="zh-CN" b="0" i="0" dirty="0">
                <a:solidFill>
                  <a:srgbClr val="0D1239"/>
                </a:solidFill>
                <a:effectLst/>
                <a:latin typeface="PingFang SC" panose="020B0400000000000000" pitchFamily="34" charset="-122"/>
                <a:ea typeface="PingFang SC" panose="020B0400000000000000" pitchFamily="34" charset="-122"/>
              </a:rPr>
              <a:t>/</a:t>
            </a:r>
            <a:r>
              <a:rPr lang="zh-CN" altLang="en-US" b="0" i="0" dirty="0">
                <a:solidFill>
                  <a:srgbClr val="0D1239"/>
                </a:solidFill>
                <a:effectLst/>
                <a:latin typeface="PingFang SC" panose="020B0400000000000000" pitchFamily="34" charset="-122"/>
                <a:ea typeface="PingFang SC" panose="020B0400000000000000" pitchFamily="34" charset="-122"/>
              </a:rPr>
              <a:t>接入类型或地址属性差异），并依据不同类别地址在可达性、稳定性、分配策略等方面的差异，动态调整指标计算权重，避免单一地址类型“主导”结果，得到更稳健、更合理的网络指标。</a:t>
            </a:r>
          </a:p>
          <a:p>
            <a:endParaRPr kumimoji="1" lang="en-US" altLang="zh-CN" dirty="0"/>
          </a:p>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画一个框架图：前两点研究</a:t>
            </a:r>
            <a:r>
              <a:rPr lang="en-US" altLang="zh-CN" dirty="0"/>
              <a:t>+</a:t>
            </a:r>
            <a:r>
              <a:rPr lang="zh-CN" altLang="en-US" dirty="0"/>
              <a:t>第三点做工程实现</a:t>
            </a:r>
            <a:endParaRPr lang="en-US" altLang="zh-CN" dirty="0"/>
          </a:p>
          <a:p>
            <a:endParaRPr lang="en-US" altLang="zh-CN" dirty="0"/>
          </a:p>
          <a:p>
            <a:pPr marL="228600" indent="-228600">
              <a:buAutoNum type="arabicPeriod"/>
            </a:pPr>
            <a:r>
              <a:rPr lang="zh-CN" altLang="en-US" dirty="0"/>
              <a:t>延迟基准问题</a:t>
            </a:r>
            <a:r>
              <a:rPr lang="en-US" altLang="zh-CN" dirty="0"/>
              <a:t>-&gt;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生命周期对网络结果的影响</a:t>
            </a:r>
            <a:r>
              <a:rPr lang="en-US" altLang="zh-CN" dirty="0"/>
              <a:t>-&gt;</a:t>
            </a:r>
            <a:r>
              <a:rPr lang="zh-CN" altLang="en-US" dirty="0"/>
              <a:t>同</a:t>
            </a:r>
            <a:r>
              <a:rPr lang="en-US" altLang="zh-CN" dirty="0"/>
              <a:t>prefix</a:t>
            </a:r>
            <a:r>
              <a:rPr lang="zh-CN" altLang="en-US" dirty="0"/>
              <a:t>、同</a:t>
            </a:r>
            <a:r>
              <a:rPr lang="en-US" altLang="zh-CN" dirty="0"/>
              <a:t>prefix</a:t>
            </a:r>
            <a:r>
              <a:rPr lang="zh-CN" altLang="en-US" dirty="0"/>
              <a:t>不同</a:t>
            </a:r>
            <a:r>
              <a:rPr lang="en-US" altLang="zh-CN" dirty="0" err="1"/>
              <a:t>asn</a:t>
            </a:r>
            <a:br>
              <a:rPr lang="en-US" altLang="zh-CN" dirty="0"/>
            </a:br>
            <a:br>
              <a:rPr lang="en-US" altLang="zh-CN" dirty="0"/>
            </a:br>
            <a:r>
              <a:rPr lang="zh-CN" altLang="en-US" dirty="0">
                <a:effectLst/>
              </a:rPr>
              <a:t>能回答 这是哪一类实体在出问题？是网络还是主机？是本地还是远端？</a:t>
            </a:r>
            <a:endParaRPr lang="zh-CN" altLang="en-US"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6382494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画一个框架图：前两点研究</a:t>
            </a:r>
            <a:r>
              <a:rPr lang="en-US" altLang="zh-CN" dirty="0"/>
              <a:t>+</a:t>
            </a:r>
            <a:r>
              <a:rPr lang="zh-CN" altLang="en-US" dirty="0"/>
              <a:t>第三点做工程实现</a:t>
            </a:r>
            <a:endParaRPr lang="en-US" altLang="zh-CN" dirty="0"/>
          </a:p>
          <a:p>
            <a:endParaRPr lang="en-US" altLang="zh-CN" dirty="0"/>
          </a:p>
          <a:p>
            <a:pPr marL="228600" indent="-228600">
              <a:buAutoNum type="arabicPeriod"/>
            </a:pPr>
            <a:r>
              <a:rPr lang="zh-CN" altLang="en-US" dirty="0"/>
              <a:t>延迟基准问题</a:t>
            </a:r>
            <a:r>
              <a:rPr lang="en-US" altLang="zh-CN" dirty="0"/>
              <a:t>-&gt;</a:t>
            </a:r>
          </a:p>
          <a:p>
            <a:pPr marL="228600" indent="-228600">
              <a:buAutoNum type="arabicPeriod"/>
            </a:pPr>
            <a:r>
              <a:rPr lang="zh-CN" altLang="en-US" dirty="0"/>
              <a:t>生命周期对网络结果的影响</a:t>
            </a:r>
            <a:r>
              <a:rPr lang="en-US" altLang="zh-CN" dirty="0"/>
              <a:t>-&gt;</a:t>
            </a:r>
            <a:r>
              <a:rPr lang="zh-CN" altLang="en-US" dirty="0"/>
              <a:t>同</a:t>
            </a:r>
            <a:r>
              <a:rPr lang="en-US" altLang="zh-CN" dirty="0"/>
              <a:t>prefix</a:t>
            </a:r>
            <a:r>
              <a:rPr lang="zh-CN" altLang="en-US" dirty="0"/>
              <a:t>、同</a:t>
            </a:r>
            <a:r>
              <a:rPr lang="en-US" altLang="zh-CN" dirty="0"/>
              <a:t>prefix</a:t>
            </a:r>
            <a:r>
              <a:rPr lang="zh-CN" altLang="en-US" dirty="0"/>
              <a:t>不同</a:t>
            </a:r>
            <a:r>
              <a:rPr lang="en-US" altLang="zh-CN" dirty="0" err="1"/>
              <a:t>asn</a:t>
            </a:r>
            <a:endParaRPr lang="zh-CN" altLang="en-US" dirty="0"/>
          </a:p>
        </p:txBody>
      </p:sp>
    </p:spTree>
    <p:extLst>
      <p:ext uri="{BB962C8B-B14F-4D97-AF65-F5344CB8AC3E}">
        <p14:creationId xmlns:p14="http://schemas.microsoft.com/office/powerpoint/2010/main" val="1639352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solidFill>
                  <a:srgbClr val="5E068C"/>
                </a:solidFill>
                <a:latin typeface="微软雅黑" panose="020B0503020204020204" pitchFamily="34" charset="-122"/>
                <a:ea typeface="微软雅黑" panose="020B0503020204020204" pitchFamily="34" charset="-122"/>
              </a:rPr>
              <a:t>实时网络质量探测</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10109558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1677345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3491459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chemeClr val="bg1"/>
                </a:solidFill>
                <a:latin typeface="微软雅黑" panose="020B0503020204020204" pitchFamily="34" charset="-122"/>
                <a:ea typeface="微软雅黑" panose="020B0503020204020204" pitchFamily="34" charset="-122"/>
              </a:rPr>
              <a:t>IPv6</a:t>
            </a:r>
            <a:r>
              <a:rPr lang="zh-CN" altLang="en-US" sz="1200" b="1" dirty="0">
                <a:solidFill>
                  <a:schemeClr val="bg1"/>
                </a:solidFill>
                <a:latin typeface="微软雅黑" panose="020B0503020204020204" pitchFamily="34" charset="-122"/>
                <a:ea typeface="微软雅黑" panose="020B0503020204020204" pitchFamily="34" charset="-122"/>
              </a:rPr>
              <a:t>互联网实时质量探测与异常检测研究</a:t>
            </a: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469341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B87AB4-CBA9-43EC-81DA-4871B8953209}" type="datetimeFigureOut">
              <a:rPr lang="zh-CN" altLang="en-US" smtClean="0"/>
              <a:t>2025/12/18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45627B-D1E9-48F1-945D-5B39E1E5109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B87AB4-CBA9-43EC-81DA-4871B8953209}" type="datetimeFigureOut">
              <a:rPr lang="zh-CN" altLang="en-US" smtClean="0"/>
              <a:t>2025/12/18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45627B-D1E9-48F1-945D-5B39E1E5109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B87AB4-CBA9-43EC-81DA-4871B8953209}" type="datetimeFigureOut">
              <a:rPr lang="zh-CN" altLang="en-US" smtClean="0"/>
              <a:t>2025/12/18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45627B-D1E9-48F1-945D-5B39E1E5109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3" Type="http://schemas.openxmlformats.org/officeDocument/2006/relationships/tags" Target="../tags/tag17.xml"/><Relationship Id="rId18" Type="http://schemas.openxmlformats.org/officeDocument/2006/relationships/tags" Target="../tags/tag22.xml"/><Relationship Id="rId26" Type="http://schemas.openxmlformats.org/officeDocument/2006/relationships/tags" Target="../tags/tag30.xml"/><Relationship Id="rId39" Type="http://schemas.openxmlformats.org/officeDocument/2006/relationships/tags" Target="../tags/tag43.xml"/><Relationship Id="rId21" Type="http://schemas.openxmlformats.org/officeDocument/2006/relationships/tags" Target="../tags/tag25.xml"/><Relationship Id="rId34" Type="http://schemas.openxmlformats.org/officeDocument/2006/relationships/tags" Target="../tags/tag38.xml"/><Relationship Id="rId42" Type="http://schemas.openxmlformats.org/officeDocument/2006/relationships/tags" Target="../tags/tag46.xml"/><Relationship Id="rId47" Type="http://schemas.openxmlformats.org/officeDocument/2006/relationships/image" Target="../media/image9.png"/><Relationship Id="rId50" Type="http://schemas.openxmlformats.org/officeDocument/2006/relationships/image" Target="../media/image12.svg"/><Relationship Id="rId55" Type="http://schemas.openxmlformats.org/officeDocument/2006/relationships/image" Target="../media/image17.png"/><Relationship Id="rId63" Type="http://schemas.openxmlformats.org/officeDocument/2006/relationships/image" Target="../media/image25.png"/><Relationship Id="rId7" Type="http://schemas.openxmlformats.org/officeDocument/2006/relationships/tags" Target="../tags/tag11.xml"/><Relationship Id="rId2" Type="http://schemas.openxmlformats.org/officeDocument/2006/relationships/tags" Target="../tags/tag6.xml"/><Relationship Id="rId16" Type="http://schemas.openxmlformats.org/officeDocument/2006/relationships/tags" Target="../tags/tag20.xml"/><Relationship Id="rId29" Type="http://schemas.openxmlformats.org/officeDocument/2006/relationships/tags" Target="../tags/tag33.xml"/><Relationship Id="rId11" Type="http://schemas.openxmlformats.org/officeDocument/2006/relationships/tags" Target="../tags/tag15.xml"/><Relationship Id="rId24" Type="http://schemas.openxmlformats.org/officeDocument/2006/relationships/tags" Target="../tags/tag28.xml"/><Relationship Id="rId32" Type="http://schemas.openxmlformats.org/officeDocument/2006/relationships/tags" Target="../tags/tag36.xml"/><Relationship Id="rId37" Type="http://schemas.openxmlformats.org/officeDocument/2006/relationships/tags" Target="../tags/tag41.xml"/><Relationship Id="rId40" Type="http://schemas.openxmlformats.org/officeDocument/2006/relationships/tags" Target="../tags/tag44.xml"/><Relationship Id="rId45" Type="http://schemas.openxmlformats.org/officeDocument/2006/relationships/image" Target="../media/image6.jpeg"/><Relationship Id="rId53" Type="http://schemas.openxmlformats.org/officeDocument/2006/relationships/image" Target="../media/image15.png"/><Relationship Id="rId58" Type="http://schemas.openxmlformats.org/officeDocument/2006/relationships/image" Target="../media/image20.png"/><Relationship Id="rId5" Type="http://schemas.openxmlformats.org/officeDocument/2006/relationships/tags" Target="../tags/tag9.xml"/><Relationship Id="rId61" Type="http://schemas.openxmlformats.org/officeDocument/2006/relationships/image" Target="../media/image23.png"/><Relationship Id="rId19" Type="http://schemas.openxmlformats.org/officeDocument/2006/relationships/tags" Target="../tags/tag23.xml"/><Relationship Id="rId14" Type="http://schemas.openxmlformats.org/officeDocument/2006/relationships/tags" Target="../tags/tag18.xml"/><Relationship Id="rId22" Type="http://schemas.openxmlformats.org/officeDocument/2006/relationships/tags" Target="../tags/tag26.xml"/><Relationship Id="rId27" Type="http://schemas.openxmlformats.org/officeDocument/2006/relationships/tags" Target="../tags/tag31.xml"/><Relationship Id="rId30" Type="http://schemas.openxmlformats.org/officeDocument/2006/relationships/tags" Target="../tags/tag34.xml"/><Relationship Id="rId35" Type="http://schemas.openxmlformats.org/officeDocument/2006/relationships/tags" Target="../tags/tag39.xml"/><Relationship Id="rId43" Type="http://schemas.openxmlformats.org/officeDocument/2006/relationships/slideLayout" Target="../slideLayouts/slideLayout1.xml"/><Relationship Id="rId48" Type="http://schemas.openxmlformats.org/officeDocument/2006/relationships/image" Target="../media/image10.svg"/><Relationship Id="rId56" Type="http://schemas.openxmlformats.org/officeDocument/2006/relationships/image" Target="../media/image18.png"/><Relationship Id="rId8" Type="http://schemas.openxmlformats.org/officeDocument/2006/relationships/tags" Target="../tags/tag12.xml"/><Relationship Id="rId51" Type="http://schemas.openxmlformats.org/officeDocument/2006/relationships/image" Target="../media/image13.png"/><Relationship Id="rId3" Type="http://schemas.openxmlformats.org/officeDocument/2006/relationships/tags" Target="../tags/tag7.xml"/><Relationship Id="rId12" Type="http://schemas.openxmlformats.org/officeDocument/2006/relationships/tags" Target="../tags/tag16.xml"/><Relationship Id="rId17" Type="http://schemas.openxmlformats.org/officeDocument/2006/relationships/tags" Target="../tags/tag21.xml"/><Relationship Id="rId25" Type="http://schemas.openxmlformats.org/officeDocument/2006/relationships/tags" Target="../tags/tag29.xml"/><Relationship Id="rId33" Type="http://schemas.openxmlformats.org/officeDocument/2006/relationships/tags" Target="../tags/tag37.xml"/><Relationship Id="rId38" Type="http://schemas.openxmlformats.org/officeDocument/2006/relationships/tags" Target="../tags/tag42.xml"/><Relationship Id="rId46" Type="http://schemas.openxmlformats.org/officeDocument/2006/relationships/image" Target="../media/image8.png"/><Relationship Id="rId59" Type="http://schemas.openxmlformats.org/officeDocument/2006/relationships/image" Target="../media/image21.png"/><Relationship Id="rId20" Type="http://schemas.openxmlformats.org/officeDocument/2006/relationships/tags" Target="../tags/tag24.xml"/><Relationship Id="rId41" Type="http://schemas.openxmlformats.org/officeDocument/2006/relationships/tags" Target="../tags/tag45.xml"/><Relationship Id="rId54" Type="http://schemas.openxmlformats.org/officeDocument/2006/relationships/image" Target="../media/image16.svg"/><Relationship Id="rId62" Type="http://schemas.openxmlformats.org/officeDocument/2006/relationships/image" Target="../media/image24.png"/><Relationship Id="rId1" Type="http://schemas.openxmlformats.org/officeDocument/2006/relationships/tags" Target="../tags/tag5.xml"/><Relationship Id="rId6" Type="http://schemas.openxmlformats.org/officeDocument/2006/relationships/tags" Target="../tags/tag10.xml"/><Relationship Id="rId15" Type="http://schemas.openxmlformats.org/officeDocument/2006/relationships/tags" Target="../tags/tag19.xml"/><Relationship Id="rId23" Type="http://schemas.openxmlformats.org/officeDocument/2006/relationships/tags" Target="../tags/tag27.xml"/><Relationship Id="rId28" Type="http://schemas.openxmlformats.org/officeDocument/2006/relationships/tags" Target="../tags/tag32.xml"/><Relationship Id="rId36" Type="http://schemas.openxmlformats.org/officeDocument/2006/relationships/tags" Target="../tags/tag40.xml"/><Relationship Id="rId49" Type="http://schemas.openxmlformats.org/officeDocument/2006/relationships/image" Target="../media/image11.png"/><Relationship Id="rId57" Type="http://schemas.openxmlformats.org/officeDocument/2006/relationships/image" Target="../media/image19.png"/><Relationship Id="rId10" Type="http://schemas.openxmlformats.org/officeDocument/2006/relationships/tags" Target="../tags/tag14.xml"/><Relationship Id="rId31" Type="http://schemas.openxmlformats.org/officeDocument/2006/relationships/tags" Target="../tags/tag35.xml"/><Relationship Id="rId44" Type="http://schemas.openxmlformats.org/officeDocument/2006/relationships/notesSlide" Target="../notesSlides/notesSlide2.xml"/><Relationship Id="rId52" Type="http://schemas.openxmlformats.org/officeDocument/2006/relationships/image" Target="../media/image14.svg"/><Relationship Id="rId60" Type="http://schemas.openxmlformats.org/officeDocument/2006/relationships/image" Target="../media/image22.png"/><Relationship Id="rId4" Type="http://schemas.openxmlformats.org/officeDocument/2006/relationships/tags" Target="../tags/tag8.xml"/><Relationship Id="rId9" Type="http://schemas.openxmlformats.org/officeDocument/2006/relationships/tags" Target="../tags/tag13.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49.xml"/><Relationship Id="rId7" Type="http://schemas.openxmlformats.org/officeDocument/2006/relationships/tags" Target="../tags/tag53.xml"/><Relationship Id="rId12" Type="http://schemas.openxmlformats.org/officeDocument/2006/relationships/image" Target="../media/image27.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image" Target="../media/image26.png"/><Relationship Id="rId5" Type="http://schemas.openxmlformats.org/officeDocument/2006/relationships/tags" Target="../tags/tag51.xml"/><Relationship Id="rId10" Type="http://schemas.openxmlformats.org/officeDocument/2006/relationships/image" Target="../media/image6.jpeg"/><Relationship Id="rId4" Type="http://schemas.openxmlformats.org/officeDocument/2006/relationships/tags" Target="../tags/tag50.xml"/><Relationship Id="rId9"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image" Target="../media/image6.jpeg"/><Relationship Id="rId2" Type="http://schemas.openxmlformats.org/officeDocument/2006/relationships/tags" Target="../tags/tag55.xml"/><Relationship Id="rId16" Type="http://schemas.openxmlformats.org/officeDocument/2006/relationships/notesSlide" Target="../notesSlides/notesSlide4.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5" Type="http://schemas.openxmlformats.org/officeDocument/2006/relationships/tags" Target="../tags/tag58.xml"/><Relationship Id="rId15" Type="http://schemas.openxmlformats.org/officeDocument/2006/relationships/slideLayout" Target="../slideLayouts/slideLayout1.xml"/><Relationship Id="rId10" Type="http://schemas.openxmlformats.org/officeDocument/2006/relationships/tags" Target="../tags/tag63.xml"/><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s>
</file>

<file path=ppt/slides/_rels/slide7.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tags" Target="../tags/tag79.xml"/><Relationship Id="rId2" Type="http://schemas.openxmlformats.org/officeDocument/2006/relationships/tags" Target="../tags/tag69.xml"/><Relationship Id="rId16" Type="http://schemas.openxmlformats.org/officeDocument/2006/relationships/image" Target="../media/image6.jpeg"/><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5" Type="http://schemas.openxmlformats.org/officeDocument/2006/relationships/tags" Target="../tags/tag72.xml"/><Relationship Id="rId15" Type="http://schemas.openxmlformats.org/officeDocument/2006/relationships/notesSlide" Target="../notesSlides/notesSlide5.xml"/><Relationship Id="rId10" Type="http://schemas.openxmlformats.org/officeDocument/2006/relationships/tags" Target="../tags/tag77.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tags" Target="../tags/tag93.xml"/><Relationship Id="rId18" Type="http://schemas.openxmlformats.org/officeDocument/2006/relationships/image" Target="../media/image6.jpeg"/><Relationship Id="rId3" Type="http://schemas.openxmlformats.org/officeDocument/2006/relationships/tags" Target="../tags/tag83.xml"/><Relationship Id="rId7" Type="http://schemas.openxmlformats.org/officeDocument/2006/relationships/tags" Target="../tags/tag87.xml"/><Relationship Id="rId12" Type="http://schemas.openxmlformats.org/officeDocument/2006/relationships/tags" Target="../tags/tag92.xml"/><Relationship Id="rId17" Type="http://schemas.openxmlformats.org/officeDocument/2006/relationships/notesSlide" Target="../notesSlides/notesSlide6.xml"/><Relationship Id="rId2" Type="http://schemas.openxmlformats.org/officeDocument/2006/relationships/tags" Target="../tags/tag82.xml"/><Relationship Id="rId16" Type="http://schemas.openxmlformats.org/officeDocument/2006/relationships/slideLayout" Target="../slideLayouts/slideLayout1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tags" Target="../tags/tag91.xml"/><Relationship Id="rId5" Type="http://schemas.openxmlformats.org/officeDocument/2006/relationships/tags" Target="../tags/tag85.xml"/><Relationship Id="rId15" Type="http://schemas.openxmlformats.org/officeDocument/2006/relationships/tags" Target="../tags/tag95.xml"/><Relationship Id="rId10" Type="http://schemas.openxmlformats.org/officeDocument/2006/relationships/tags" Target="../tags/tag90.xml"/><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tags" Target="../tags/tag94.xml"/></Relationships>
</file>

<file path=ppt/slides/_rels/slide9.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tags" Target="../tags/tag108.xml"/><Relationship Id="rId18" Type="http://schemas.openxmlformats.org/officeDocument/2006/relationships/image" Target="../media/image29.png"/><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tags" Target="../tags/tag107.xml"/><Relationship Id="rId17" Type="http://schemas.openxmlformats.org/officeDocument/2006/relationships/image" Target="../media/image28.png"/><Relationship Id="rId2" Type="http://schemas.openxmlformats.org/officeDocument/2006/relationships/tags" Target="../tags/tag97.xml"/><Relationship Id="rId16" Type="http://schemas.openxmlformats.org/officeDocument/2006/relationships/image" Target="../media/image6.jpeg"/><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5" Type="http://schemas.openxmlformats.org/officeDocument/2006/relationships/tags" Target="../tags/tag100.xml"/><Relationship Id="rId15" Type="http://schemas.openxmlformats.org/officeDocument/2006/relationships/notesSlide" Target="../notesSlides/notesSlide7.xml"/><Relationship Id="rId10" Type="http://schemas.openxmlformats.org/officeDocument/2006/relationships/tags" Target="../tags/tag105.xml"/><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tags" Target="../tags/tag121.xml"/><Relationship Id="rId3" Type="http://schemas.openxmlformats.org/officeDocument/2006/relationships/tags" Target="../tags/tag111.xml"/><Relationship Id="rId7" Type="http://schemas.openxmlformats.org/officeDocument/2006/relationships/tags" Target="../tags/tag115.xml"/><Relationship Id="rId12" Type="http://schemas.openxmlformats.org/officeDocument/2006/relationships/tags" Target="../tags/tag120.xml"/><Relationship Id="rId2" Type="http://schemas.openxmlformats.org/officeDocument/2006/relationships/tags" Target="../tags/tag110.xml"/><Relationship Id="rId16" Type="http://schemas.openxmlformats.org/officeDocument/2006/relationships/image" Target="../media/image6.jpeg"/><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tags" Target="../tags/tag119.xml"/><Relationship Id="rId5" Type="http://schemas.openxmlformats.org/officeDocument/2006/relationships/tags" Target="../tags/tag113.xml"/><Relationship Id="rId15" Type="http://schemas.openxmlformats.org/officeDocument/2006/relationships/notesSlide" Target="../notesSlides/notesSlide8.xml"/><Relationship Id="rId10" Type="http://schemas.openxmlformats.org/officeDocument/2006/relationships/tags" Target="../tags/tag118.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tags" Target="../tags/tag134.xml"/><Relationship Id="rId18" Type="http://schemas.openxmlformats.org/officeDocument/2006/relationships/image" Target="../media/image30.png"/><Relationship Id="rId3" Type="http://schemas.openxmlformats.org/officeDocument/2006/relationships/tags" Target="../tags/tag124.xml"/><Relationship Id="rId21" Type="http://schemas.openxmlformats.org/officeDocument/2006/relationships/image" Target="../media/image33.png"/><Relationship Id="rId7" Type="http://schemas.openxmlformats.org/officeDocument/2006/relationships/tags" Target="../tags/tag128.xml"/><Relationship Id="rId12" Type="http://schemas.openxmlformats.org/officeDocument/2006/relationships/tags" Target="../tags/tag133.xml"/><Relationship Id="rId17" Type="http://schemas.openxmlformats.org/officeDocument/2006/relationships/image" Target="../media/image6.jpeg"/><Relationship Id="rId2" Type="http://schemas.openxmlformats.org/officeDocument/2006/relationships/tags" Target="../tags/tag123.xml"/><Relationship Id="rId16" Type="http://schemas.openxmlformats.org/officeDocument/2006/relationships/notesSlide" Target="../notesSlides/notesSlide9.xml"/><Relationship Id="rId20" Type="http://schemas.openxmlformats.org/officeDocument/2006/relationships/image" Target="../media/image32.png"/><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5" Type="http://schemas.openxmlformats.org/officeDocument/2006/relationships/tags" Target="../tags/tag126.xml"/><Relationship Id="rId15" Type="http://schemas.openxmlformats.org/officeDocument/2006/relationships/slideLayout" Target="../slideLayouts/slideLayout12.xml"/><Relationship Id="rId10" Type="http://schemas.openxmlformats.org/officeDocument/2006/relationships/tags" Target="../tags/tag131.xml"/><Relationship Id="rId19" Type="http://schemas.openxmlformats.org/officeDocument/2006/relationships/image" Target="../media/image31.png"/><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tags" Target="../tags/tag135.xml"/></Relationships>
</file>

<file path=ppt/slides/_rels/slide12.xml.rels><?xml version="1.0" encoding="UTF-8" standalone="yes"?>
<Relationships xmlns="http://schemas.openxmlformats.org/package/2006/relationships"><Relationship Id="rId8" Type="http://schemas.openxmlformats.org/officeDocument/2006/relationships/tags" Target="../tags/tag143.xml"/><Relationship Id="rId13" Type="http://schemas.openxmlformats.org/officeDocument/2006/relationships/tags" Target="../tags/tag148.xml"/><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tags" Target="../tags/tag147.xml"/><Relationship Id="rId2" Type="http://schemas.openxmlformats.org/officeDocument/2006/relationships/tags" Target="../tags/tag137.xml"/><Relationship Id="rId16" Type="http://schemas.openxmlformats.org/officeDocument/2006/relationships/image" Target="../media/image6.jpeg"/><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tags" Target="../tags/tag146.xml"/><Relationship Id="rId5" Type="http://schemas.openxmlformats.org/officeDocument/2006/relationships/tags" Target="../tags/tag140.xml"/><Relationship Id="rId15" Type="http://schemas.openxmlformats.org/officeDocument/2006/relationships/notesSlide" Target="../notesSlides/notesSlide10.xml"/><Relationship Id="rId10" Type="http://schemas.openxmlformats.org/officeDocument/2006/relationships/tags" Target="../tags/tag145.xml"/><Relationship Id="rId4" Type="http://schemas.openxmlformats.org/officeDocument/2006/relationships/tags" Target="../tags/tag139.xml"/><Relationship Id="rId9" Type="http://schemas.openxmlformats.org/officeDocument/2006/relationships/tags" Target="../tags/tag144.xml"/><Relationship Id="rId14"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tags" Target="../tags/tag156.xml"/><Relationship Id="rId13" Type="http://schemas.openxmlformats.org/officeDocument/2006/relationships/tags" Target="../tags/tag161.xml"/><Relationship Id="rId18" Type="http://schemas.openxmlformats.org/officeDocument/2006/relationships/image" Target="../media/image34.png"/><Relationship Id="rId3" Type="http://schemas.openxmlformats.org/officeDocument/2006/relationships/tags" Target="../tags/tag151.xml"/><Relationship Id="rId7" Type="http://schemas.openxmlformats.org/officeDocument/2006/relationships/tags" Target="../tags/tag155.xml"/><Relationship Id="rId12" Type="http://schemas.openxmlformats.org/officeDocument/2006/relationships/tags" Target="../tags/tag160.xml"/><Relationship Id="rId17" Type="http://schemas.openxmlformats.org/officeDocument/2006/relationships/image" Target="../media/image6.jpeg"/><Relationship Id="rId2" Type="http://schemas.openxmlformats.org/officeDocument/2006/relationships/tags" Target="../tags/tag150.xml"/><Relationship Id="rId16" Type="http://schemas.openxmlformats.org/officeDocument/2006/relationships/notesSlide" Target="../notesSlides/notesSlide11.xml"/><Relationship Id="rId1" Type="http://schemas.openxmlformats.org/officeDocument/2006/relationships/tags" Target="../tags/tag149.xml"/><Relationship Id="rId6" Type="http://schemas.openxmlformats.org/officeDocument/2006/relationships/tags" Target="../tags/tag154.xml"/><Relationship Id="rId11" Type="http://schemas.openxmlformats.org/officeDocument/2006/relationships/tags" Target="../tags/tag159.xml"/><Relationship Id="rId5" Type="http://schemas.openxmlformats.org/officeDocument/2006/relationships/tags" Target="../tags/tag153.xml"/><Relationship Id="rId15" Type="http://schemas.openxmlformats.org/officeDocument/2006/relationships/slideLayout" Target="../slideLayouts/slideLayout12.xml"/><Relationship Id="rId10" Type="http://schemas.openxmlformats.org/officeDocument/2006/relationships/tags" Target="../tags/tag158.xml"/><Relationship Id="rId19" Type="http://schemas.openxmlformats.org/officeDocument/2006/relationships/image" Target="../media/image35.png"/><Relationship Id="rId4" Type="http://schemas.openxmlformats.org/officeDocument/2006/relationships/tags" Target="../tags/tag152.xml"/><Relationship Id="rId9" Type="http://schemas.openxmlformats.org/officeDocument/2006/relationships/tags" Target="../tags/tag157.xml"/><Relationship Id="rId14" Type="http://schemas.openxmlformats.org/officeDocument/2006/relationships/tags" Target="../tags/tag162.xml"/></Relationships>
</file>

<file path=ppt/slides/_rels/slide14.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tags" Target="../tags/tag175.xml"/><Relationship Id="rId3" Type="http://schemas.openxmlformats.org/officeDocument/2006/relationships/tags" Target="../tags/tag165.xml"/><Relationship Id="rId7" Type="http://schemas.openxmlformats.org/officeDocument/2006/relationships/tags" Target="../tags/tag169.xml"/><Relationship Id="rId12" Type="http://schemas.openxmlformats.org/officeDocument/2006/relationships/tags" Target="../tags/tag174.xml"/><Relationship Id="rId2" Type="http://schemas.openxmlformats.org/officeDocument/2006/relationships/tags" Target="../tags/tag164.xml"/><Relationship Id="rId16" Type="http://schemas.openxmlformats.org/officeDocument/2006/relationships/image" Target="../media/image6.jpeg"/><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tags" Target="../tags/tag173.xml"/><Relationship Id="rId5" Type="http://schemas.openxmlformats.org/officeDocument/2006/relationships/tags" Target="../tags/tag167.xml"/><Relationship Id="rId15" Type="http://schemas.openxmlformats.org/officeDocument/2006/relationships/notesSlide" Target="../notesSlides/notesSlide12.xml"/><Relationship Id="rId10" Type="http://schemas.openxmlformats.org/officeDocument/2006/relationships/tags" Target="../tags/tag172.xml"/><Relationship Id="rId4" Type="http://schemas.openxmlformats.org/officeDocument/2006/relationships/tags" Target="../tags/tag166.xml"/><Relationship Id="rId9" Type="http://schemas.openxmlformats.org/officeDocument/2006/relationships/tags" Target="../tags/tag171.xml"/><Relationship Id="rId14"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tags" Target="../tags/tag183.xml"/><Relationship Id="rId13" Type="http://schemas.openxmlformats.org/officeDocument/2006/relationships/tags" Target="../tags/tag188.xml"/><Relationship Id="rId18" Type="http://schemas.openxmlformats.org/officeDocument/2006/relationships/image" Target="../media/image6.jpeg"/><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tags" Target="../tags/tag187.xml"/><Relationship Id="rId17" Type="http://schemas.openxmlformats.org/officeDocument/2006/relationships/notesSlide" Target="../notesSlides/notesSlide13.xml"/><Relationship Id="rId2" Type="http://schemas.openxmlformats.org/officeDocument/2006/relationships/tags" Target="../tags/tag177.xml"/><Relationship Id="rId16" Type="http://schemas.openxmlformats.org/officeDocument/2006/relationships/slideLayout" Target="../slideLayouts/slideLayout1.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tags" Target="../tags/tag186.xml"/><Relationship Id="rId5" Type="http://schemas.openxmlformats.org/officeDocument/2006/relationships/tags" Target="../tags/tag180.xml"/><Relationship Id="rId15" Type="http://schemas.openxmlformats.org/officeDocument/2006/relationships/tags" Target="../tags/tag190.xml"/><Relationship Id="rId10" Type="http://schemas.openxmlformats.org/officeDocument/2006/relationships/tags" Target="../tags/tag185.xml"/><Relationship Id="rId4" Type="http://schemas.openxmlformats.org/officeDocument/2006/relationships/tags" Target="../tags/tag179.xml"/><Relationship Id="rId9" Type="http://schemas.openxmlformats.org/officeDocument/2006/relationships/tags" Target="../tags/tag184.xml"/><Relationship Id="rId14" Type="http://schemas.openxmlformats.org/officeDocument/2006/relationships/tags" Target="../tags/tag189.xml"/></Relationships>
</file>

<file path=ppt/slides/_rels/slide16.xml.rels><?xml version="1.0" encoding="UTF-8" standalone="yes"?>
<Relationships xmlns="http://schemas.openxmlformats.org/package/2006/relationships"><Relationship Id="rId8" Type="http://schemas.openxmlformats.org/officeDocument/2006/relationships/tags" Target="../tags/tag198.xml"/><Relationship Id="rId13" Type="http://schemas.openxmlformats.org/officeDocument/2006/relationships/tags" Target="../tags/tag203.xml"/><Relationship Id="rId18" Type="http://schemas.openxmlformats.org/officeDocument/2006/relationships/tags" Target="../tags/tag208.xml"/><Relationship Id="rId26" Type="http://schemas.openxmlformats.org/officeDocument/2006/relationships/tags" Target="../tags/tag216.xml"/><Relationship Id="rId3" Type="http://schemas.openxmlformats.org/officeDocument/2006/relationships/tags" Target="../tags/tag193.xml"/><Relationship Id="rId21" Type="http://schemas.openxmlformats.org/officeDocument/2006/relationships/tags" Target="../tags/tag211.xml"/><Relationship Id="rId7" Type="http://schemas.openxmlformats.org/officeDocument/2006/relationships/tags" Target="../tags/tag197.xml"/><Relationship Id="rId12" Type="http://schemas.openxmlformats.org/officeDocument/2006/relationships/tags" Target="../tags/tag202.xml"/><Relationship Id="rId17" Type="http://schemas.openxmlformats.org/officeDocument/2006/relationships/tags" Target="../tags/tag207.xml"/><Relationship Id="rId25" Type="http://schemas.openxmlformats.org/officeDocument/2006/relationships/tags" Target="../tags/tag215.xml"/><Relationship Id="rId2" Type="http://schemas.openxmlformats.org/officeDocument/2006/relationships/tags" Target="../tags/tag192.xml"/><Relationship Id="rId16" Type="http://schemas.openxmlformats.org/officeDocument/2006/relationships/tags" Target="../tags/tag206.xml"/><Relationship Id="rId20" Type="http://schemas.openxmlformats.org/officeDocument/2006/relationships/tags" Target="../tags/tag210.xml"/><Relationship Id="rId29" Type="http://schemas.openxmlformats.org/officeDocument/2006/relationships/image" Target="../media/image6.jpeg"/><Relationship Id="rId1" Type="http://schemas.openxmlformats.org/officeDocument/2006/relationships/tags" Target="../tags/tag191.xml"/><Relationship Id="rId6" Type="http://schemas.openxmlformats.org/officeDocument/2006/relationships/tags" Target="../tags/tag196.xml"/><Relationship Id="rId11" Type="http://schemas.openxmlformats.org/officeDocument/2006/relationships/tags" Target="../tags/tag201.xml"/><Relationship Id="rId24" Type="http://schemas.openxmlformats.org/officeDocument/2006/relationships/tags" Target="../tags/tag214.xml"/><Relationship Id="rId5" Type="http://schemas.openxmlformats.org/officeDocument/2006/relationships/tags" Target="../tags/tag195.xml"/><Relationship Id="rId15" Type="http://schemas.openxmlformats.org/officeDocument/2006/relationships/tags" Target="../tags/tag205.xml"/><Relationship Id="rId23" Type="http://schemas.openxmlformats.org/officeDocument/2006/relationships/tags" Target="../tags/tag213.xml"/><Relationship Id="rId28" Type="http://schemas.openxmlformats.org/officeDocument/2006/relationships/notesSlide" Target="../notesSlides/notesSlide14.xml"/><Relationship Id="rId10" Type="http://schemas.openxmlformats.org/officeDocument/2006/relationships/tags" Target="../tags/tag200.xml"/><Relationship Id="rId19" Type="http://schemas.openxmlformats.org/officeDocument/2006/relationships/tags" Target="../tags/tag209.xml"/><Relationship Id="rId4" Type="http://schemas.openxmlformats.org/officeDocument/2006/relationships/tags" Target="../tags/tag194.xml"/><Relationship Id="rId9" Type="http://schemas.openxmlformats.org/officeDocument/2006/relationships/tags" Target="../tags/tag199.xml"/><Relationship Id="rId14" Type="http://schemas.openxmlformats.org/officeDocument/2006/relationships/tags" Target="../tags/tag204.xml"/><Relationship Id="rId22" Type="http://schemas.openxmlformats.org/officeDocument/2006/relationships/tags" Target="../tags/tag212.xml"/><Relationship Id="rId27"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descr="图片包含 户外, 建筑, 路, 钟表&#10;&#10;描述已自动生成"/>
          <p:cNvPicPr>
            <a:picLocks noChangeAspect="1"/>
          </p:cNvPicPr>
          <p:nvPr/>
        </p:nvPicPr>
        <p:blipFill rotWithShape="1">
          <a:blip r:embed="rId2">
            <a:extLst>
              <a:ext uri="{28A0092B-C50C-407E-A947-70E740481C1C}">
                <a14:useLocalDpi xmlns:a14="http://schemas.microsoft.com/office/drawing/2010/main" val="0"/>
              </a:ext>
            </a:extLst>
          </a:blip>
          <a:srcRect t="26238" b="34183"/>
          <a:stretch>
            <a:fillRect/>
          </a:stretch>
        </p:blipFill>
        <p:spPr>
          <a:xfrm>
            <a:off x="0" y="1453109"/>
            <a:ext cx="12192000" cy="3218647"/>
          </a:xfrm>
          <a:prstGeom prst="rect">
            <a:avLst/>
          </a:prstGeom>
        </p:spPr>
      </p:pic>
      <p:sp>
        <p:nvSpPr>
          <p:cNvPr id="15" name="矩形 14"/>
          <p:cNvSpPr/>
          <p:nvPr/>
        </p:nvSpPr>
        <p:spPr>
          <a:xfrm>
            <a:off x="0" y="1453109"/>
            <a:ext cx="12192000" cy="3218647"/>
          </a:xfrm>
          <a:prstGeom prst="rect">
            <a:avLst/>
          </a:prstGeom>
          <a:solidFill>
            <a:srgbClr val="5E068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p:cNvSpPr txBox="1"/>
          <p:nvPr/>
        </p:nvSpPr>
        <p:spPr>
          <a:xfrm>
            <a:off x="943792" y="2055432"/>
            <a:ext cx="10943407" cy="988347"/>
          </a:xfrm>
          <a:prstGeom prst="rect">
            <a:avLst/>
          </a:prstGeom>
          <a:noFill/>
        </p:spPr>
        <p:txBody>
          <a:bodyPr wrap="square" rtlCol="0">
            <a:spAutoFit/>
          </a:bodyPr>
          <a:lstStyle/>
          <a:p>
            <a:pPr algn="ctr">
              <a:lnSpc>
                <a:spcPct val="150000"/>
              </a:lnSpc>
            </a:pPr>
            <a:r>
              <a:rPr lang="en-US" altLang="zh-CN" sz="4400" b="1" dirty="0">
                <a:solidFill>
                  <a:schemeClr val="bg1"/>
                </a:solidFill>
                <a:latin typeface="微软雅黑" panose="020B0503020204020204" pitchFamily="34" charset="-122"/>
                <a:ea typeface="微软雅黑" panose="020B0503020204020204" pitchFamily="34" charset="-122"/>
              </a:rPr>
              <a:t>IPv6</a:t>
            </a:r>
            <a:r>
              <a:rPr lang="zh-CN" altLang="en-US" sz="4400" b="1" dirty="0">
                <a:solidFill>
                  <a:schemeClr val="bg1"/>
                </a:solidFill>
                <a:latin typeface="微软雅黑" panose="020B0503020204020204" pitchFamily="34" charset="-122"/>
                <a:ea typeface="微软雅黑" panose="020B0503020204020204" pitchFamily="34" charset="-122"/>
              </a:rPr>
              <a:t>实时互联网质量探测与异常检测研究</a:t>
            </a:r>
          </a:p>
        </p:txBody>
      </p:sp>
      <p:sp>
        <p:nvSpPr>
          <p:cNvPr id="22" name="文本框 21"/>
          <p:cNvSpPr txBox="1"/>
          <p:nvPr/>
        </p:nvSpPr>
        <p:spPr>
          <a:xfrm>
            <a:off x="3779148" y="3162437"/>
            <a:ext cx="5951964" cy="737235"/>
          </a:xfrm>
          <a:prstGeom prst="rect">
            <a:avLst/>
          </a:prstGeom>
          <a:noFill/>
        </p:spPr>
        <p:txBody>
          <a:bodyPr wrap="square" rtlCol="0">
            <a:spAutoFit/>
          </a:bodyPr>
          <a:lstStyle/>
          <a:p>
            <a:pPr algn="r">
              <a:lnSpc>
                <a:spcPct val="150000"/>
              </a:lnSpc>
            </a:pPr>
            <a:r>
              <a:rPr lang="zh-CN" altLang="en-US" sz="2800" b="1" dirty="0">
                <a:solidFill>
                  <a:schemeClr val="bg1"/>
                </a:solidFill>
                <a:latin typeface="微软雅黑" panose="020B0503020204020204" pitchFamily="34" charset="-122"/>
                <a:ea typeface="微软雅黑" panose="020B0503020204020204" pitchFamily="34" charset="-122"/>
              </a:rPr>
              <a:t>硕士论文开题报告</a:t>
            </a:r>
          </a:p>
        </p:txBody>
      </p:sp>
      <p:sp>
        <p:nvSpPr>
          <p:cNvPr id="23" name="矩形 22"/>
          <p:cNvSpPr/>
          <p:nvPr/>
        </p:nvSpPr>
        <p:spPr>
          <a:xfrm>
            <a:off x="8020171" y="3927576"/>
            <a:ext cx="614438"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pic>
        <p:nvPicPr>
          <p:cNvPr id="26" name="图片 25" descr="图片包含 游戏机, 画, 房间&#10;&#10;描述已自动生成"/>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bright="91000"/>
                    </a14:imgEffect>
                  </a14:imgLayer>
                </a14:imgProps>
              </a:ext>
              <a:ext uri="{28A0092B-C50C-407E-A947-70E740481C1C}">
                <a14:useLocalDpi xmlns:a14="http://schemas.microsoft.com/office/drawing/2010/main" val="0"/>
              </a:ext>
            </a:extLst>
          </a:blip>
          <a:stretch>
            <a:fillRect/>
          </a:stretch>
        </p:blipFill>
        <p:spPr>
          <a:xfrm>
            <a:off x="14117764" y="1719113"/>
            <a:ext cx="908696" cy="903249"/>
          </a:xfrm>
          <a:prstGeom prst="rect">
            <a:avLst/>
          </a:prstGeom>
        </p:spPr>
      </p:pic>
      <p:sp>
        <p:nvSpPr>
          <p:cNvPr id="27" name="矩形 26"/>
          <p:cNvSpPr/>
          <p:nvPr/>
        </p:nvSpPr>
        <p:spPr>
          <a:xfrm>
            <a:off x="0" y="4671756"/>
            <a:ext cx="12192000" cy="88069"/>
          </a:xfrm>
          <a:prstGeom prst="rect">
            <a:avLst/>
          </a:prstGeom>
          <a:solidFill>
            <a:srgbClr val="FF96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9" name="文本框 28"/>
          <p:cNvSpPr txBox="1"/>
          <p:nvPr/>
        </p:nvSpPr>
        <p:spPr>
          <a:xfrm>
            <a:off x="2432050" y="5342255"/>
            <a:ext cx="7980045" cy="369332"/>
          </a:xfrm>
          <a:prstGeom prst="rect">
            <a:avLst/>
          </a:prstGeom>
          <a:noFill/>
        </p:spPr>
        <p:txBody>
          <a:bodyPr wrap="square" rtlCol="0">
            <a:spAutoFit/>
          </a:bodyPr>
          <a:lstStyle/>
          <a:p>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答辩人：郑盛东    </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指导老师：张千里   </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答辩日期：</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2025</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年</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12</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月</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23</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日</a:t>
            </a:r>
          </a:p>
        </p:txBody>
      </p:sp>
      <p:sp>
        <p:nvSpPr>
          <p:cNvPr id="2" name="椭圆 1"/>
          <p:cNvSpPr/>
          <p:nvPr/>
        </p:nvSpPr>
        <p:spPr>
          <a:xfrm>
            <a:off x="5196468" y="291235"/>
            <a:ext cx="1609958" cy="160995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pic>
        <p:nvPicPr>
          <p:cNvPr id="14" name="图片 13" descr="图片包含 游戏机, 画, 房间&#10;&#10;描述已自动生成"/>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21886" y="459274"/>
            <a:ext cx="1377135" cy="13688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2598234" y="-719253"/>
            <a:ext cx="479502" cy="479502"/>
          </a:xfrm>
          <a:prstGeom prst="ellipse">
            <a:avLst/>
          </a:prstGeom>
          <a:solidFill>
            <a:srgbClr val="FF9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3464312" y="-886521"/>
            <a:ext cx="479502" cy="479502"/>
          </a:xfrm>
          <a:prstGeom prst="ellipse">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5046670" y="134347"/>
            <a:ext cx="479502" cy="479502"/>
          </a:xfrm>
          <a:prstGeom prst="ellipse">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561343" y="811097"/>
            <a:ext cx="479502" cy="479502"/>
          </a:xfrm>
          <a:prstGeom prst="ellipse">
            <a:avLst/>
          </a:prstGeom>
          <a:solidFill>
            <a:srgbClr val="7B2B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a:stretch>
            <a:fillRect/>
          </a:stretch>
        </p:blipFill>
        <p:spPr>
          <a:xfrm>
            <a:off x="3832860" y="109220"/>
            <a:ext cx="1457325" cy="1181100"/>
          </a:xfrm>
          <a:prstGeom prst="rect">
            <a:avLst/>
          </a:prstGeom>
        </p:spPr>
      </p:pic>
      <p:pic>
        <p:nvPicPr>
          <p:cNvPr id="10" name="图片 9"/>
          <p:cNvPicPr>
            <a:picLocks noChangeAspect="1"/>
          </p:cNvPicPr>
          <p:nvPr/>
        </p:nvPicPr>
        <p:blipFill>
          <a:blip r:embed="rId5"/>
          <a:stretch>
            <a:fillRect/>
          </a:stretch>
        </p:blipFill>
        <p:spPr>
          <a:xfrm>
            <a:off x="1619172" y="240"/>
            <a:ext cx="1733550" cy="333375"/>
          </a:xfrm>
          <a:prstGeom prst="rect">
            <a:avLst/>
          </a:prstGeom>
          <a:solidFill>
            <a:srgbClr val="FF9600"/>
          </a:solidFill>
        </p:spPr>
      </p:pic>
      <p:pic>
        <p:nvPicPr>
          <p:cNvPr id="14" name="图片 13" descr="图片包含 游戏机, 画, 房间&#10;&#10;描述已自动生成"/>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11" name="矩形 10"/>
          <p:cNvSpPr/>
          <p:nvPr/>
        </p:nvSpPr>
        <p:spPr>
          <a:xfrm>
            <a:off x="-1" y="1"/>
            <a:ext cx="3352801"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文本框 22"/>
          <p:cNvSpPr txBox="1"/>
          <p:nvPr/>
        </p:nvSpPr>
        <p:spPr>
          <a:xfrm>
            <a:off x="988852" y="2493844"/>
            <a:ext cx="1327990" cy="646331"/>
          </a:xfrm>
          <a:prstGeom prst="rect">
            <a:avLst/>
          </a:prstGeom>
          <a:noFill/>
        </p:spPr>
        <p:txBody>
          <a:bodyPr wrap="square"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目 录</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802840" y="3256193"/>
            <a:ext cx="2071917" cy="46166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CONTENT</a:t>
            </a:r>
          </a:p>
        </p:txBody>
      </p:sp>
      <p:sp>
        <p:nvSpPr>
          <p:cNvPr id="26" name="文本框 25"/>
          <p:cNvSpPr txBox="1"/>
          <p:nvPr/>
        </p:nvSpPr>
        <p:spPr>
          <a:xfrm>
            <a:off x="5685790" y="1778000"/>
            <a:ext cx="3160395" cy="460375"/>
          </a:xfrm>
          <a:prstGeom prst="rect">
            <a:avLst/>
          </a:prstGeom>
          <a:noFill/>
        </p:spPr>
        <p:txBody>
          <a:bodyPr wrap="square" rtlCol="0">
            <a:spAutoFit/>
          </a:bodyPr>
          <a:lstStyle/>
          <a:p>
            <a:pPr algn="l">
              <a:buClrTx/>
              <a:buSzTx/>
              <a:buFontTx/>
            </a:pPr>
            <a:r>
              <a:rPr lang="en-US" altLang="zh-CN" sz="2400" b="1" dirty="0">
                <a:solidFill>
                  <a:srgbClr val="7B2B8C"/>
                </a:solidFill>
                <a:latin typeface="微软雅黑" panose="020B0503020204020204" pitchFamily="34" charset="-122"/>
                <a:ea typeface="微软雅黑" panose="020B0503020204020204" pitchFamily="34" charset="-122"/>
                <a:cs typeface="Alibaba PuHuiTi B" panose="00020600040101010101" pitchFamily="18" charset="-122"/>
              </a:rPr>
              <a:t>01</a:t>
            </a:r>
            <a:r>
              <a:rPr lang="en-US" altLang="zh-CN" sz="2400" dirty="0">
                <a:latin typeface="Alibaba PuHuiTi M" panose="00020600040101010101" pitchFamily="18" charset="-122"/>
                <a:ea typeface="Alibaba PuHuiTi M" panose="00020600040101010101" pitchFamily="18" charset="-122"/>
                <a:cs typeface="Alibaba PuHuiTi M" panose="00020600040101010101" pitchFamily="18" charset="-122"/>
              </a:rPr>
              <a:t>  </a:t>
            </a:r>
            <a:r>
              <a:rPr lang="zh-CN" altLang="en-US" sz="2400" b="1" dirty="0">
                <a:latin typeface="微软雅黑" panose="020B0503020204020204" pitchFamily="34" charset="-122"/>
                <a:ea typeface="微软雅黑" panose="020B0503020204020204" pitchFamily="34" charset="-122"/>
                <a:cs typeface="Alibaba PuHuiTi B" panose="00020600040101010101" pitchFamily="18" charset="-122"/>
              </a:rPr>
              <a:t>选题背景与意义</a:t>
            </a:r>
          </a:p>
        </p:txBody>
      </p:sp>
      <p:sp>
        <p:nvSpPr>
          <p:cNvPr id="30" name="文本框 29"/>
          <p:cNvSpPr txBox="1"/>
          <p:nvPr/>
        </p:nvSpPr>
        <p:spPr>
          <a:xfrm>
            <a:off x="5685790" y="2406650"/>
            <a:ext cx="5271770" cy="460375"/>
          </a:xfrm>
          <a:prstGeom prst="rect">
            <a:avLst/>
          </a:prstGeom>
          <a:noFill/>
        </p:spPr>
        <p:txBody>
          <a:bodyPr wrap="square" rtlCol="0">
            <a:spAutoFit/>
          </a:bodyPr>
          <a:lstStyle/>
          <a:p>
            <a:r>
              <a:rPr lang="en-US" altLang="zh-CN" sz="2400" b="1" dirty="0">
                <a:solidFill>
                  <a:srgbClr val="7B2B8C"/>
                </a:solidFill>
                <a:latin typeface="微软雅黑" panose="020B0503020204020204" pitchFamily="34" charset="-122"/>
                <a:ea typeface="微软雅黑" panose="020B0503020204020204" pitchFamily="34" charset="-122"/>
                <a:cs typeface="Alibaba PuHuiTi B" panose="00020600040101010101" pitchFamily="18" charset="-122"/>
              </a:rPr>
              <a:t>02</a:t>
            </a:r>
            <a:r>
              <a:rPr lang="en-US" altLang="zh-CN" sz="2400" b="1" dirty="0">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400" b="1" dirty="0">
                <a:latin typeface="微软雅黑" panose="020B0503020204020204" pitchFamily="34" charset="-122"/>
                <a:ea typeface="微软雅黑" panose="020B0503020204020204" pitchFamily="34" charset="-122"/>
                <a:cs typeface="Alibaba PuHuiTi B" panose="00020600040101010101" pitchFamily="18" charset="-122"/>
              </a:rPr>
              <a:t>相关研究工作</a:t>
            </a:r>
          </a:p>
        </p:txBody>
      </p:sp>
      <p:sp>
        <p:nvSpPr>
          <p:cNvPr id="33" name="文本框 32"/>
          <p:cNvSpPr txBox="1"/>
          <p:nvPr/>
        </p:nvSpPr>
        <p:spPr>
          <a:xfrm>
            <a:off x="5685790" y="3053080"/>
            <a:ext cx="5271770" cy="460375"/>
          </a:xfrm>
          <a:prstGeom prst="rect">
            <a:avLst/>
          </a:prstGeom>
          <a:noFill/>
        </p:spPr>
        <p:txBody>
          <a:bodyPr wrap="square" rtlCol="0">
            <a:spAutoFit/>
          </a:bodyPr>
          <a:lstStyle/>
          <a:p>
            <a:r>
              <a:rPr lang="en-US" altLang="zh-CN" sz="2400" b="1" dirty="0">
                <a:solidFill>
                  <a:srgbClr val="7B2B8C"/>
                </a:solidFill>
                <a:latin typeface="微软雅黑" panose="020B0503020204020204" pitchFamily="34" charset="-122"/>
                <a:ea typeface="微软雅黑" panose="020B0503020204020204" pitchFamily="34" charset="-122"/>
                <a:cs typeface="Alibaba PuHuiTi B" panose="00020600040101010101" pitchFamily="18" charset="-122"/>
              </a:rPr>
              <a:t>03</a:t>
            </a:r>
            <a:r>
              <a:rPr lang="en-US" altLang="zh-CN" sz="2400" dirty="0">
                <a:latin typeface="微软雅黑" panose="020B0503020204020204" pitchFamily="34" charset="-122"/>
                <a:ea typeface="微软雅黑" panose="020B0503020204020204" pitchFamily="34" charset="-122"/>
                <a:cs typeface="Alibaba PuHuiTi M" panose="00020600040101010101" pitchFamily="18" charset="-122"/>
              </a:rPr>
              <a:t> </a:t>
            </a:r>
            <a:r>
              <a:rPr lang="en-US" altLang="zh-CN" sz="2400" b="1" dirty="0">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400" b="1" dirty="0">
                <a:latin typeface="微软雅黑" panose="020B0503020204020204" pitchFamily="34" charset="-122"/>
                <a:ea typeface="微软雅黑" panose="020B0503020204020204" pitchFamily="34" charset="-122"/>
                <a:cs typeface="Alibaba PuHuiTi B" panose="00020600040101010101" pitchFamily="18" charset="-122"/>
              </a:rPr>
              <a:t>研究内容</a:t>
            </a:r>
          </a:p>
        </p:txBody>
      </p:sp>
      <p:sp>
        <p:nvSpPr>
          <p:cNvPr id="36" name="文本框 35"/>
          <p:cNvSpPr txBox="1"/>
          <p:nvPr/>
        </p:nvSpPr>
        <p:spPr>
          <a:xfrm>
            <a:off x="5685790" y="3699510"/>
            <a:ext cx="5271770" cy="460375"/>
          </a:xfrm>
          <a:prstGeom prst="rect">
            <a:avLst/>
          </a:prstGeom>
          <a:noFill/>
        </p:spPr>
        <p:txBody>
          <a:bodyPr wrap="square" rtlCol="0">
            <a:spAutoFit/>
          </a:bodyPr>
          <a:lstStyle/>
          <a:p>
            <a:pPr algn="l">
              <a:buClrTx/>
              <a:buSzTx/>
              <a:buFontTx/>
            </a:pPr>
            <a:r>
              <a:rPr lang="en-US" altLang="zh-CN" sz="2400" b="1" dirty="0">
                <a:solidFill>
                  <a:srgbClr val="7B2B8C"/>
                </a:solidFill>
                <a:latin typeface="微软雅黑" panose="020B0503020204020204" pitchFamily="34" charset="-122"/>
                <a:ea typeface="微软雅黑" panose="020B0503020204020204" pitchFamily="34" charset="-122"/>
                <a:cs typeface="Alibaba PuHuiTi B" panose="00020600040101010101" pitchFamily="18" charset="-122"/>
              </a:rPr>
              <a:t>04</a:t>
            </a:r>
            <a:r>
              <a:rPr lang="en-US" altLang="zh-CN" sz="2400" b="1" dirty="0">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400" b="1" dirty="0">
                <a:latin typeface="微软雅黑" panose="020B0503020204020204" pitchFamily="34" charset="-122"/>
                <a:ea typeface="微软雅黑" panose="020B0503020204020204" pitchFamily="34" charset="-122"/>
                <a:cs typeface="Alibaba PuHuiTi B" panose="00020600040101010101" pitchFamily="18" charset="-122"/>
              </a:rPr>
              <a:t>预期成果</a:t>
            </a:r>
          </a:p>
        </p:txBody>
      </p:sp>
      <p:sp>
        <p:nvSpPr>
          <p:cNvPr id="2" name="文本框 1"/>
          <p:cNvSpPr txBox="1"/>
          <p:nvPr>
            <p:custDataLst>
              <p:tags r:id="rId1"/>
            </p:custDataLst>
          </p:nvPr>
        </p:nvSpPr>
        <p:spPr>
          <a:xfrm>
            <a:off x="5685790" y="4328160"/>
            <a:ext cx="5271770" cy="460375"/>
          </a:xfrm>
          <a:prstGeom prst="rect">
            <a:avLst/>
          </a:prstGeom>
          <a:noFill/>
        </p:spPr>
        <p:txBody>
          <a:bodyPr wrap="square" rtlCol="0">
            <a:spAutoFit/>
          </a:bodyPr>
          <a:lstStyle/>
          <a:p>
            <a:r>
              <a:rPr lang="en-US" altLang="zh-CN" sz="2400" b="1" dirty="0">
                <a:solidFill>
                  <a:srgbClr val="7B2B8C"/>
                </a:solidFill>
                <a:latin typeface="微软雅黑" panose="020B0503020204020204" pitchFamily="34" charset="-122"/>
                <a:ea typeface="微软雅黑" panose="020B0503020204020204" pitchFamily="34" charset="-122"/>
                <a:cs typeface="Alibaba PuHuiTi B" panose="00020600040101010101" pitchFamily="18" charset="-122"/>
              </a:rPr>
              <a:t>05</a:t>
            </a:r>
            <a:r>
              <a:rPr lang="en-US" altLang="zh-CN" sz="2400" b="1" dirty="0">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400" b="1" dirty="0">
                <a:latin typeface="微软雅黑" panose="020B0503020204020204" pitchFamily="34" charset="-122"/>
                <a:ea typeface="微软雅黑" panose="020B0503020204020204" pitchFamily="34" charset="-122"/>
                <a:cs typeface="Alibaba PuHuiTi B" panose="00020600040101010101" pitchFamily="18" charset="-122"/>
              </a:rPr>
              <a:t>进度安排</a:t>
            </a:r>
          </a:p>
        </p:txBody>
      </p:sp>
      <p:sp>
        <p:nvSpPr>
          <p:cNvPr id="3" name="文本框 2"/>
          <p:cNvSpPr txBox="1"/>
          <p:nvPr>
            <p:custDataLst>
              <p:tags r:id="rId2"/>
            </p:custDataLst>
          </p:nvPr>
        </p:nvSpPr>
        <p:spPr>
          <a:xfrm>
            <a:off x="5685790" y="4956810"/>
            <a:ext cx="5271770" cy="460375"/>
          </a:xfrm>
          <a:prstGeom prst="rect">
            <a:avLst/>
          </a:prstGeom>
          <a:noFill/>
        </p:spPr>
        <p:txBody>
          <a:bodyPr wrap="square" rtlCol="0">
            <a:spAutoFit/>
          </a:bodyPr>
          <a:lstStyle/>
          <a:p>
            <a:r>
              <a:rPr lang="en-US" altLang="zh-CN" sz="2400" b="1" dirty="0">
                <a:solidFill>
                  <a:srgbClr val="7B2B8C"/>
                </a:solidFill>
                <a:latin typeface="微软雅黑" panose="020B0503020204020204" pitchFamily="34" charset="-122"/>
                <a:ea typeface="微软雅黑" panose="020B0503020204020204" pitchFamily="34" charset="-122"/>
                <a:cs typeface="Alibaba PuHuiTi B" panose="00020600040101010101" pitchFamily="18" charset="-122"/>
              </a:rPr>
              <a:t>06</a:t>
            </a:r>
            <a:r>
              <a:rPr lang="en-US" altLang="zh-CN" sz="2400" b="1" dirty="0">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400" b="1" dirty="0">
                <a:latin typeface="微软雅黑" panose="020B0503020204020204" pitchFamily="34" charset="-122"/>
                <a:ea typeface="微软雅黑" panose="020B0503020204020204" pitchFamily="34" charset="-122"/>
                <a:cs typeface="Alibaba PuHuiTi B" panose="00020600040101010101" pitchFamily="18" charset="-122"/>
              </a:rPr>
              <a:t>参考文献</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11" name="矩形 10"/>
          <p:cNvSpPr/>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3461" y="1728904"/>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3" name="文本框 12"/>
          <p:cNvSpPr txBox="1"/>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15" name="文本框 14"/>
          <p:cNvSpPr txBox="1"/>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16" name="文本框 15"/>
          <p:cNvSpPr txBox="1"/>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17" name="矩形 16"/>
          <p:cNvSpPr/>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8" name="矩形 17"/>
          <p:cNvSpPr/>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9" name="矩形 18"/>
          <p:cNvSpPr/>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0" name="文本框 19"/>
          <p:cNvSpPr txBox="1"/>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3" name="文本框 2"/>
          <p:cNvSpPr txBox="1"/>
          <p:nvPr/>
        </p:nvSpPr>
        <p:spPr>
          <a:xfrm>
            <a:off x="2892717" y="492189"/>
            <a:ext cx="6456027" cy="46037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选题背景与意义：日志与日志分析</a:t>
            </a: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2892717" y="4450774"/>
            <a:ext cx="4619625" cy="368300"/>
          </a:xfrm>
          <a:prstGeom prst="rect">
            <a:avLst/>
          </a:prstGeom>
          <a:noFill/>
        </p:spPr>
        <p:txBody>
          <a:bodyPr wrap="square" rtlCol="0">
            <a:spAutoFit/>
          </a:bodyPr>
          <a:lstStyle/>
          <a:p>
            <a:pPr marL="285750" indent="-285750">
              <a:buFont typeface="Wingdings" panose="05000000000000000000" pitchFamily="2" charset="2"/>
              <a:buChar char="p"/>
            </a:pPr>
            <a:r>
              <a:rPr lang="zh-CN" altLang="en-US" b="1" dirty="0">
                <a:solidFill>
                  <a:srgbClr val="5E068C"/>
                </a:solidFill>
                <a:latin typeface="微软雅黑" panose="020B0503020204020204" pitchFamily="34" charset="-122"/>
                <a:ea typeface="微软雅黑" panose="020B0503020204020204" pitchFamily="34" charset="-122"/>
              </a:rPr>
              <a:t>互联网探测的价值与作用</a:t>
            </a:r>
          </a:p>
        </p:txBody>
      </p:sp>
      <p:sp>
        <p:nvSpPr>
          <p:cNvPr id="28" name="文本框 27"/>
          <p:cNvSpPr txBox="1"/>
          <p:nvPr/>
        </p:nvSpPr>
        <p:spPr>
          <a:xfrm>
            <a:off x="2788277" y="4955697"/>
            <a:ext cx="4620260" cy="1671548"/>
          </a:xfrm>
          <a:prstGeom prst="rect">
            <a:avLst/>
          </a:prstGeom>
          <a:noFill/>
        </p:spPr>
        <p:txBody>
          <a:bodyPr wrap="square" rtlCol="0">
            <a:spAutoFit/>
          </a:bodyPr>
          <a:lstStyle/>
          <a:p>
            <a:pPr algn="just">
              <a:lnSpc>
                <a:spcPct val="150000"/>
              </a:lnSpc>
            </a:pP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互联网已成为当今世界最重要的基础设施，深刻影响着生产生活的各个方面。通过主动或被动测量，能够感知网络中的设备与服务状态，进而绘制网络资产分布和掌握网络安全态势，为运维保障与业务决策提供数据支撑</a:t>
            </a:r>
            <a:r>
              <a:rPr lang="zh-CN" altLang="en-US" sz="1050" b="0" i="0" dirty="0">
                <a:solidFill>
                  <a:srgbClr val="0D1239"/>
                </a:solidFill>
                <a:effectLst/>
                <a:latin typeface="PingFang SC" panose="020B0400000000000000" pitchFamily="34" charset="-122"/>
                <a:ea typeface="PingFang SC" panose="020B0400000000000000" pitchFamily="34" charset="-122"/>
              </a:rPr>
              <a:t>。</a:t>
            </a:r>
            <a:endParaRPr lang="en-US" altLang="zh-CN" sz="1050" b="0" i="0" dirty="0">
              <a:solidFill>
                <a:srgbClr val="0D1239"/>
              </a:solidFill>
              <a:effectLst/>
              <a:latin typeface="PingFang SC" panose="020B0400000000000000" pitchFamily="34" charset="-122"/>
              <a:ea typeface="PingFang SC" panose="020B0400000000000000" pitchFamily="34" charset="-122"/>
            </a:endParaRPr>
          </a:p>
          <a:p>
            <a:pPr algn="just">
              <a:lnSpc>
                <a:spcPct val="150000"/>
              </a:lnSpc>
            </a:pPr>
            <a:endParaRPr lang="zh-CN" altLang="en-US" sz="1400" b="1" dirty="0">
              <a:solidFill>
                <a:srgbClr val="7030A0"/>
              </a:solidFill>
              <a:latin typeface="Microsoft YaHei Light" panose="020B0502040204020203" pitchFamily="34" charset="-122"/>
              <a:ea typeface="Microsoft YaHei Light" panose="020B0502040204020203" pitchFamily="34" charset="-122"/>
            </a:endParaRPr>
          </a:p>
        </p:txBody>
      </p:sp>
      <p:sp>
        <p:nvSpPr>
          <p:cNvPr id="35" name="文本框 34"/>
          <p:cNvSpPr txBox="1"/>
          <p:nvPr/>
        </p:nvSpPr>
        <p:spPr>
          <a:xfrm>
            <a:off x="7841057" y="1272184"/>
            <a:ext cx="4946015" cy="368300"/>
          </a:xfrm>
          <a:prstGeom prst="rect">
            <a:avLst/>
          </a:prstGeom>
          <a:noFill/>
        </p:spPr>
        <p:txBody>
          <a:bodyPr wrap="square" rtlCol="0">
            <a:spAutoFit/>
          </a:bodyPr>
          <a:lstStyle/>
          <a:p>
            <a:pPr marL="285750" indent="-285750">
              <a:buFont typeface="Wingdings" panose="05000000000000000000" pitchFamily="2" charset="2"/>
              <a:buChar char="p"/>
            </a:pPr>
            <a:r>
              <a:rPr lang="zh-CN" altLang="en-US" b="1" dirty="0">
                <a:solidFill>
                  <a:srgbClr val="5E068C"/>
                </a:solidFill>
                <a:latin typeface="微软雅黑" panose="020B0503020204020204" pitchFamily="34" charset="-122"/>
                <a:ea typeface="微软雅黑" panose="020B0503020204020204" pitchFamily="34" charset="-122"/>
              </a:rPr>
              <a:t>云厂商的全球实时探测需求</a:t>
            </a:r>
          </a:p>
        </p:txBody>
      </p:sp>
      <p:sp>
        <p:nvSpPr>
          <p:cNvPr id="38" name="文本框 37"/>
          <p:cNvSpPr txBox="1"/>
          <p:nvPr/>
        </p:nvSpPr>
        <p:spPr>
          <a:xfrm>
            <a:off x="7643418" y="1720850"/>
            <a:ext cx="4548582" cy="2406015"/>
          </a:xfrm>
          <a:prstGeom prst="rect">
            <a:avLst/>
          </a:prstGeom>
          <a:noFill/>
        </p:spPr>
        <p:txBody>
          <a:bodyPr wrap="square" rtlCol="0">
            <a:noAutofit/>
          </a:bodyPr>
          <a:lstStyle/>
          <a:p>
            <a:pPr>
              <a:lnSpc>
                <a:spcPct val="150000"/>
              </a:lnSpc>
            </a:pP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对云厂商而言，实时的全球测量更是一项关键基础能力：一方面，用户与业务分布在不同国家、运营商与 </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ASN</a:t>
            </a:r>
            <a:r>
              <a:rPr lang="zh-CN" altLang="e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需要持续、客观地跟踪公有云服务的 </a:t>
            </a:r>
            <a:r>
              <a:rPr lang="en" altLang="zh-CN" sz="1400" dirty="0">
                <a:solidFill>
                  <a:srgbClr val="7030A0"/>
                </a:solidFill>
                <a:latin typeface="Microsoft YaHei Light" panose="020B0502040204020203" pitchFamily="34" charset="-122"/>
                <a:ea typeface="Microsoft YaHei Light" panose="020B0502040204020203" pitchFamily="34" charset="-122"/>
              </a:rPr>
              <a:t>SLA </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与兑现情况；另一方面，</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BGP </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路由变化、跨域链路拥塞或局部故障可能会影响大规模用户体验。借助主动探测，能够及时发现网络性能劣化与异常，快速定位，并为</a:t>
            </a:r>
            <a:r>
              <a:rPr lang="zh-CN" altLang="en-US" sz="1400" dirty="0">
                <a:solidFill>
                  <a:srgbClr val="7030A0"/>
                </a:solidFill>
                <a:latin typeface="Microsoft YaHei Light" panose="020B0502040204020203" pitchFamily="34" charset="-122"/>
                <a:ea typeface="Microsoft YaHei Light" panose="020B0502040204020203" pitchFamily="34" charset="-122"/>
              </a:rPr>
              <a:t>流量调度、路径选择与容灾切换</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提供实时依据。</a:t>
            </a:r>
            <a:endPar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algn="l">
              <a:lnSpc>
                <a:spcPct val="150000"/>
              </a:lnSpc>
            </a:pPr>
            <a:endParaRPr lang="zh-CN" altLang="en-US" sz="1400" b="1" dirty="0">
              <a:solidFill>
                <a:schemeClr val="tx1">
                  <a:lumMod val="65000"/>
                  <a:lumOff val="35000"/>
                </a:schemeClr>
              </a:solidFill>
              <a:highlight>
                <a:srgbClr val="FFFF00"/>
              </a:highlight>
              <a:latin typeface="Microsoft YaHei Light" panose="020B0502040204020203" pitchFamily="34" charset="-122"/>
              <a:ea typeface="Microsoft YaHei Light" panose="020B0502040204020203" pitchFamily="34" charset="-122"/>
            </a:endParaRPr>
          </a:p>
        </p:txBody>
      </p:sp>
      <p:sp>
        <p:nvSpPr>
          <p:cNvPr id="43" name="文本框 42"/>
          <p:cNvSpPr txBox="1"/>
          <p:nvPr/>
        </p:nvSpPr>
        <p:spPr>
          <a:xfrm>
            <a:off x="7841057" y="4421863"/>
            <a:ext cx="3953510" cy="369332"/>
          </a:xfrm>
          <a:prstGeom prst="rect">
            <a:avLst/>
          </a:prstGeom>
          <a:noFill/>
        </p:spPr>
        <p:txBody>
          <a:bodyPr wrap="square" rtlCol="0">
            <a:spAutoFit/>
          </a:bodyPr>
          <a:lstStyle/>
          <a:p>
            <a:pPr marL="285750" indent="-285750">
              <a:buFont typeface="Wingdings" panose="05000000000000000000" pitchFamily="2" charset="2"/>
              <a:buChar char="p"/>
            </a:pPr>
            <a:r>
              <a:rPr lang="en-US" altLang="zh-CN" b="1" dirty="0">
                <a:solidFill>
                  <a:srgbClr val="5E068C"/>
                </a:solidFill>
                <a:latin typeface="微软雅黑" panose="020B0503020204020204" pitchFamily="34" charset="-122"/>
                <a:ea typeface="微软雅黑" panose="020B0503020204020204" pitchFamily="34" charset="-122"/>
              </a:rPr>
              <a:t>IPv6</a:t>
            </a:r>
            <a:r>
              <a:rPr lang="zh-CN" altLang="en-US" b="1" dirty="0">
                <a:solidFill>
                  <a:srgbClr val="5E068C"/>
                </a:solidFill>
                <a:latin typeface="微软雅黑" panose="020B0503020204020204" pitchFamily="34" charset="-122"/>
                <a:ea typeface="微软雅黑" panose="020B0503020204020204" pitchFamily="34" charset="-122"/>
              </a:rPr>
              <a:t>时代的持续探测挑战</a:t>
            </a:r>
          </a:p>
        </p:txBody>
      </p:sp>
      <p:sp>
        <p:nvSpPr>
          <p:cNvPr id="46" name="文本框 45"/>
          <p:cNvSpPr txBox="1"/>
          <p:nvPr/>
        </p:nvSpPr>
        <p:spPr>
          <a:xfrm>
            <a:off x="11625561" y="6427340"/>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01</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4" name="文本框 3"/>
          <p:cNvSpPr txBox="1"/>
          <p:nvPr>
            <p:custDataLst>
              <p:tags r:id="rId1"/>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5" name="文本框 4"/>
          <p:cNvSpPr txBox="1"/>
          <p:nvPr>
            <p:custDataLst>
              <p:tags r:id="rId2"/>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sp>
        <p:nvSpPr>
          <p:cNvPr id="7" name="文本框 6"/>
          <p:cNvSpPr txBox="1"/>
          <p:nvPr/>
        </p:nvSpPr>
        <p:spPr>
          <a:xfrm>
            <a:off x="5529580" y="6644005"/>
            <a:ext cx="6096000" cy="213995"/>
          </a:xfrm>
          <a:prstGeom prst="rect">
            <a:avLst/>
          </a:prstGeom>
          <a:noFill/>
        </p:spPr>
        <p:txBody>
          <a:bodyPr wrap="square" rtlCol="0" anchor="t">
            <a:spAutoFit/>
          </a:bodyPr>
          <a:lstStyle/>
          <a:p>
            <a:r>
              <a:rPr lang="zh-CN" altLang="en-US" sz="800">
                <a:latin typeface="Times New Roman Regular" panose="02020603050405020304" charset="0"/>
                <a:cs typeface="Times New Roman Regular" panose="02020603050405020304" charset="0"/>
              </a:rPr>
              <a:t>https://zhuanlan.zhihu.com/p/346223794</a:t>
            </a:r>
          </a:p>
        </p:txBody>
      </p:sp>
      <p:pic>
        <p:nvPicPr>
          <p:cNvPr id="2" name="图片 1">
            <a:extLst>
              <a:ext uri="{FF2B5EF4-FFF2-40B4-BE49-F238E27FC236}">
                <a16:creationId xmlns:a16="http://schemas.microsoft.com/office/drawing/2014/main" id="{14DACB10-EAF8-E17E-B1E7-2BF2789C98A0}"/>
              </a:ext>
            </a:extLst>
          </p:cNvPr>
          <p:cNvPicPr>
            <a:picLocks noChangeAspect="1"/>
          </p:cNvPicPr>
          <p:nvPr/>
        </p:nvPicPr>
        <p:blipFill>
          <a:blip r:embed="rId6"/>
          <a:stretch>
            <a:fillRect/>
          </a:stretch>
        </p:blipFill>
        <p:spPr>
          <a:xfrm>
            <a:off x="2544187" y="1456334"/>
            <a:ext cx="4714802" cy="2698504"/>
          </a:xfrm>
          <a:prstGeom prst="rect">
            <a:avLst/>
          </a:prstGeom>
        </p:spPr>
      </p:pic>
      <p:sp>
        <p:nvSpPr>
          <p:cNvPr id="8" name="文本框 7">
            <a:extLst>
              <a:ext uri="{FF2B5EF4-FFF2-40B4-BE49-F238E27FC236}">
                <a16:creationId xmlns:a16="http://schemas.microsoft.com/office/drawing/2014/main" id="{7EDDB679-4FC7-9F00-0716-5E582E1232A1}"/>
              </a:ext>
            </a:extLst>
          </p:cNvPr>
          <p:cNvSpPr txBox="1"/>
          <p:nvPr/>
        </p:nvSpPr>
        <p:spPr>
          <a:xfrm>
            <a:off x="7537877" y="4984155"/>
            <a:ext cx="4438210" cy="1659850"/>
          </a:xfrm>
          <a:prstGeom prst="rect">
            <a:avLst/>
          </a:prstGeom>
          <a:noFill/>
        </p:spPr>
        <p:txBody>
          <a:bodyPr wrap="square" rtlCol="0">
            <a:noAutofit/>
          </a:bodyPr>
          <a:lstStyle/>
          <a:p>
            <a:pPr algn="just" latinLnBrk="1">
              <a:lnSpc>
                <a:spcPts val="2080"/>
              </a:lnSpc>
            </a:pPr>
            <a:r>
              <a:rPr lang="zh-CN" altLang="en-US" sz="1400" dirty="0">
                <a:solidFill>
                  <a:schemeClr val="tx1">
                    <a:lumMod val="65000"/>
                    <a:lumOff val="35000"/>
                  </a:schemeClr>
                </a:solidFill>
                <a:latin typeface="Times New Roman" panose="02020603050405020304" pitchFamily="18" charset="0"/>
                <a:ea typeface="Microsoft YaHei Light" panose="020B0502040204020203" pitchFamily="34" charset="-122"/>
                <a:cs typeface="Times New Roman" panose="02020603050405020304" pitchFamily="18" charset="0"/>
              </a:rPr>
              <a:t> </a:t>
            </a:r>
            <a:r>
              <a:rPr lang="en" altLang="zh-CN" sz="1400" dirty="0">
                <a:solidFill>
                  <a:schemeClr val="tx1">
                    <a:lumMod val="65000"/>
                    <a:lumOff val="35000"/>
                  </a:schemeClr>
                </a:solidFill>
                <a:latin typeface="Times New Roman" panose="02020603050405020304" pitchFamily="18" charset="0"/>
                <a:ea typeface="Microsoft YaHei Light" panose="020B0502040204020203" pitchFamily="34" charset="-122"/>
                <a:cs typeface="Times New Roman" panose="02020603050405020304" pitchFamily="18" charset="0"/>
              </a:rPr>
              <a:t>IPv4</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互联网探测可以通过</a:t>
            </a:r>
            <a:r>
              <a:rPr lang="zh-CN" altLang="en-US" sz="1400" dirty="0">
                <a:solidFill>
                  <a:srgbClr val="7030A0"/>
                </a:solidFill>
                <a:latin typeface="Microsoft YaHei Light" panose="020B0502040204020203" pitchFamily="34" charset="-122"/>
                <a:ea typeface="Microsoft YaHei Light" panose="020B0502040204020203" pitchFamily="34" charset="-122"/>
              </a:rPr>
              <a:t>遍历地址空间</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获取活跃地址集合，对这些地址进行实时探测即可实现对网络质量的持续感知与分析。随着移动互联网与物联网的发展推动</a:t>
            </a:r>
            <a:r>
              <a:rPr lang="zh-CN" altLang="en-US" sz="1400" dirty="0">
                <a:solidFill>
                  <a:schemeClr val="tx1">
                    <a:lumMod val="65000"/>
                    <a:lumOff val="35000"/>
                  </a:schemeClr>
                </a:solidFill>
                <a:latin typeface="Times New Roman" panose="02020603050405020304" pitchFamily="18" charset="0"/>
                <a:ea typeface="Microsoft YaHei Light" panose="020B0502040204020203" pitchFamily="34" charset="-122"/>
                <a:cs typeface="Times New Roman" panose="02020603050405020304" pitchFamily="18" charset="0"/>
              </a:rPr>
              <a:t> </a:t>
            </a:r>
            <a:r>
              <a:rPr lang="en" altLang="zh-CN" sz="1400" dirty="0">
                <a:solidFill>
                  <a:schemeClr val="tx1">
                    <a:lumMod val="65000"/>
                    <a:lumOff val="35000"/>
                  </a:schemeClr>
                </a:solidFill>
                <a:latin typeface="Times New Roman" panose="02020603050405020304" pitchFamily="18" charset="0"/>
                <a:ea typeface="Microsoft YaHei Light" panose="020B0502040204020203" pitchFamily="34" charset="-122"/>
                <a:cs typeface="Times New Roman" panose="02020603050405020304" pitchFamily="18" charset="0"/>
              </a:rPr>
              <a:t>IPv6 </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加速部署，巨大的地址空间是的探测方法需要进一步考虑</a:t>
            </a:r>
            <a:r>
              <a:rPr lang="zh-CN" altLang="en-US" sz="1400" dirty="0">
                <a:solidFill>
                  <a:srgbClr val="7030A0"/>
                </a:solidFill>
                <a:latin typeface="Microsoft YaHei Light" panose="020B0502040204020203" pitchFamily="34" charset="-122"/>
                <a:ea typeface="Microsoft YaHei Light" panose="020B0502040204020203" pitchFamily="34" charset="-122"/>
              </a:rPr>
              <a:t>长期持续性、地址代表性与结果可运维</a:t>
            </a:r>
          </a:p>
          <a:p>
            <a:pPr algn="just">
              <a:lnSpc>
                <a:spcPts val="2080"/>
              </a:lnSpc>
            </a:pPr>
            <a:endParaRPr lang="zh-CN" altLang="en-US" sz="1400" dirty="0">
              <a:solidFill>
                <a:schemeClr val="tx1">
                  <a:lumMod val="65000"/>
                  <a:lumOff val="35000"/>
                </a:schemeClr>
              </a:solidFill>
              <a:highlight>
                <a:srgbClr val="FFFF00"/>
              </a:highlight>
              <a:latin typeface="Microsoft YaHei Light" panose="020B0502040204020203" pitchFamily="34" charset="-122"/>
              <a:ea typeface="Microsoft YaHei Light" panose="020B0502040204020203"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45">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11" name="矩形 10"/>
          <p:cNvSpPr/>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sp>
        <p:nvSpPr>
          <p:cNvPr id="17" name="矩形 16"/>
          <p:cNvSpPr/>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solidFill>
                <a:schemeClr val="bg1"/>
              </a:solidFill>
            </a:endParaRPr>
          </a:p>
        </p:txBody>
      </p:sp>
      <p:sp>
        <p:nvSpPr>
          <p:cNvPr id="18" name="矩形 17"/>
          <p:cNvSpPr/>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solidFill>
                <a:schemeClr val="bg1"/>
              </a:solidFill>
            </a:endParaRPr>
          </a:p>
        </p:txBody>
      </p:sp>
      <p:sp>
        <p:nvSpPr>
          <p:cNvPr id="19" name="矩形 18"/>
          <p:cNvSpPr/>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solidFill>
                <a:schemeClr val="bg1"/>
              </a:solidFill>
            </a:endParaRPr>
          </a:p>
        </p:txBody>
      </p:sp>
      <p:sp>
        <p:nvSpPr>
          <p:cNvPr id="3" name="文本框 2"/>
          <p:cNvSpPr txBox="1"/>
          <p:nvPr/>
        </p:nvSpPr>
        <p:spPr>
          <a:xfrm>
            <a:off x="2892717" y="492189"/>
            <a:ext cx="6456027" cy="230832"/>
          </a:xfrm>
          <a:prstGeom prst="rect">
            <a:avLst/>
          </a:prstGeom>
          <a:noFill/>
        </p:spPr>
        <p:txBody>
          <a:bodyPr wrap="square" rtlCol="0">
            <a:spAutoFit/>
          </a:bodyPr>
          <a:lstStyle/>
          <a:p>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rPr>
              <a:t>选题背景：系统架构设计</a:t>
            </a: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53" name="矩形 52"/>
          <p:cNvSpPr/>
          <p:nvPr>
            <p:custDataLst>
              <p:tags r:id="rId1"/>
            </p:custDataLst>
          </p:nvPr>
        </p:nvSpPr>
        <p:spPr>
          <a:xfrm>
            <a:off x="-286" y="1683819"/>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solidFill>
                <a:schemeClr val="tx1">
                  <a:lumMod val="65000"/>
                  <a:lumOff val="35000"/>
                </a:schemeClr>
              </a:solidFill>
            </a:endParaRPr>
          </a:p>
        </p:txBody>
      </p:sp>
      <p:sp>
        <p:nvSpPr>
          <p:cNvPr id="54" name="文本框 53"/>
          <p:cNvSpPr txBox="1"/>
          <p:nvPr>
            <p:custDataLst>
              <p:tags r:id="rId2"/>
            </p:custDataLst>
          </p:nvPr>
        </p:nvSpPr>
        <p:spPr>
          <a:xfrm>
            <a:off x="230518" y="2524349"/>
            <a:ext cx="1802005" cy="230832"/>
          </a:xfrm>
          <a:prstGeom prst="rect">
            <a:avLst/>
          </a:prstGeom>
          <a:noFill/>
        </p:spPr>
        <p:txBody>
          <a:bodyPr wrap="square" rtlCol="0">
            <a:spAutoFit/>
          </a:bodyPr>
          <a:lstStyle/>
          <a:p>
            <a:pPr marL="285750" indent="-285750">
              <a:buFont typeface="Wingdings" panose="05000000000000000000" pitchFamily="2" charset="2"/>
              <a:buChar char="l"/>
            </a:pPr>
            <a:r>
              <a:rPr lang="zh-CN" altLang="en-US" sz="9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3"/>
            </p:custDataLst>
          </p:nvPr>
        </p:nvSpPr>
        <p:spPr>
          <a:xfrm>
            <a:off x="230518" y="3176547"/>
            <a:ext cx="1802005" cy="230832"/>
          </a:xfrm>
          <a:prstGeom prst="rect">
            <a:avLst/>
          </a:prstGeom>
          <a:noFill/>
        </p:spPr>
        <p:txBody>
          <a:bodyPr wrap="square" rtlCol="0">
            <a:spAutoFit/>
          </a:bodyPr>
          <a:lstStyle/>
          <a:p>
            <a:pPr marL="285750" indent="-285750">
              <a:buFont typeface="Wingdings" panose="05000000000000000000" pitchFamily="2" charset="2"/>
              <a:buChar char="l"/>
            </a:pPr>
            <a:r>
              <a:rPr lang="zh-CN" altLang="en-US" sz="9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4"/>
            </p:custDataLst>
          </p:nvPr>
        </p:nvSpPr>
        <p:spPr>
          <a:xfrm>
            <a:off x="230518" y="3828746"/>
            <a:ext cx="2529161" cy="230832"/>
          </a:xfrm>
          <a:prstGeom prst="rect">
            <a:avLst/>
          </a:prstGeom>
          <a:noFill/>
        </p:spPr>
        <p:txBody>
          <a:bodyPr wrap="square" rtlCol="0">
            <a:spAutoFit/>
          </a:bodyPr>
          <a:lstStyle/>
          <a:p>
            <a:pPr marL="285750" indent="-285750">
              <a:buFont typeface="Wingdings" panose="05000000000000000000" pitchFamily="2" charset="2"/>
              <a:buChar char="l"/>
            </a:pPr>
            <a:r>
              <a:rPr lang="zh-CN" altLang="en-US" sz="9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5"/>
            </p:custDataLst>
          </p:nvPr>
        </p:nvSpPr>
        <p:spPr>
          <a:xfrm>
            <a:off x="230518" y="1872151"/>
            <a:ext cx="1802005" cy="230832"/>
          </a:xfrm>
          <a:prstGeom prst="rect">
            <a:avLst/>
          </a:prstGeom>
          <a:noFill/>
        </p:spPr>
        <p:txBody>
          <a:bodyPr wrap="square" rtlCol="0">
            <a:spAutoFit/>
          </a:bodyPr>
          <a:lstStyle/>
          <a:p>
            <a:pPr marL="285750" indent="-285750">
              <a:buFont typeface="Wingdings" panose="05000000000000000000" pitchFamily="2" charset="2"/>
              <a:buChar char="l"/>
            </a:pPr>
            <a:r>
              <a:rPr lang="zh-CN" altLang="en-US" sz="9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6"/>
            </p:custDataLst>
          </p:nvPr>
        </p:nvSpPr>
        <p:spPr>
          <a:xfrm>
            <a:off x="215913" y="4480256"/>
            <a:ext cx="2529161" cy="230832"/>
          </a:xfrm>
          <a:prstGeom prst="rect">
            <a:avLst/>
          </a:prstGeom>
          <a:noFill/>
        </p:spPr>
        <p:txBody>
          <a:bodyPr wrap="square" rtlCol="0">
            <a:spAutoFit/>
          </a:bodyPr>
          <a:lstStyle/>
          <a:p>
            <a:pPr marL="285750" indent="-285750">
              <a:buFont typeface="Wingdings" panose="05000000000000000000" pitchFamily="2" charset="2"/>
              <a:buChar char="l"/>
            </a:pPr>
            <a:r>
              <a:rPr lang="zh-CN" altLang="en-US" sz="9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7"/>
            </p:custDataLst>
          </p:nvPr>
        </p:nvSpPr>
        <p:spPr>
          <a:xfrm>
            <a:off x="215913" y="5131766"/>
            <a:ext cx="2529161" cy="230832"/>
          </a:xfrm>
          <a:prstGeom prst="rect">
            <a:avLst/>
          </a:prstGeom>
          <a:noFill/>
        </p:spPr>
        <p:txBody>
          <a:bodyPr wrap="square" rtlCol="0">
            <a:spAutoFit/>
          </a:bodyPr>
          <a:lstStyle/>
          <a:p>
            <a:pPr marL="285750" indent="-285750">
              <a:buFont typeface="Wingdings" panose="05000000000000000000" pitchFamily="2" charset="2"/>
              <a:buChar char="l"/>
            </a:pPr>
            <a:r>
              <a:rPr lang="zh-CN" altLang="en-US" sz="9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sp>
        <p:nvSpPr>
          <p:cNvPr id="16" name="圆角矩形 15"/>
          <p:cNvSpPr/>
          <p:nvPr/>
        </p:nvSpPr>
        <p:spPr>
          <a:xfrm>
            <a:off x="3415144" y="2596515"/>
            <a:ext cx="1745501" cy="2980690"/>
          </a:xfrm>
          <a:prstGeom prst="roundRect">
            <a:avLst>
              <a:gd name="adj" fmla="val 4159"/>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pic>
        <p:nvPicPr>
          <p:cNvPr id="35" name="图片 34"/>
          <p:cNvPicPr>
            <a:picLocks noChangeAspect="1"/>
          </p:cNvPicPr>
          <p:nvPr>
            <p:custDataLst>
              <p:tags r:id="rId8"/>
            </p:custDataLst>
          </p:nvPr>
        </p:nvPicPr>
        <p:blipFill>
          <a:blip r:embed="rId46"/>
          <a:stretch>
            <a:fillRect/>
          </a:stretch>
        </p:blipFill>
        <p:spPr>
          <a:xfrm>
            <a:off x="7486650" y="4914265"/>
            <a:ext cx="172720" cy="193040"/>
          </a:xfrm>
          <a:prstGeom prst="rect">
            <a:avLst/>
          </a:prstGeom>
        </p:spPr>
      </p:pic>
      <p:sp>
        <p:nvSpPr>
          <p:cNvPr id="49" name="圆角矩形 48"/>
          <p:cNvSpPr/>
          <p:nvPr>
            <p:custDataLst>
              <p:tags r:id="rId9"/>
            </p:custDataLst>
          </p:nvPr>
        </p:nvSpPr>
        <p:spPr>
          <a:xfrm>
            <a:off x="5592445" y="1062990"/>
            <a:ext cx="3988435" cy="5687060"/>
          </a:xfrm>
          <a:prstGeom prst="roundRect">
            <a:avLst>
              <a:gd name="adj" fmla="val 24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sp>
        <p:nvSpPr>
          <p:cNvPr id="52" name="圆角矩形 51"/>
          <p:cNvSpPr/>
          <p:nvPr>
            <p:custDataLst>
              <p:tags r:id="rId10"/>
            </p:custDataLst>
          </p:nvPr>
        </p:nvSpPr>
        <p:spPr>
          <a:xfrm>
            <a:off x="3469005" y="2739390"/>
            <a:ext cx="1608455" cy="1230630"/>
          </a:xfrm>
          <a:prstGeom prst="roundRect">
            <a:avLst>
              <a:gd name="adj" fmla="val 5782"/>
            </a:avLst>
          </a:prstGeom>
          <a:noFill/>
          <a:ln w="12700" cap="rnd">
            <a:solidFill>
              <a:schemeClr val="bg1">
                <a:lumMod val="65000"/>
                <a:alpha val="75000"/>
              </a:schemeClr>
            </a:solidFill>
            <a:prstDash val="dash"/>
          </a:ln>
          <a:extLst>
            <a:ext uri="{909E8E84-426E-40DD-AFC4-6F175D3DCCD1}">
              <a14:hiddenFill xmlns:a14="http://schemas.microsoft.com/office/drawing/2010/main">
                <a:solidFill>
                  <a:srgbClr val="5E068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sp>
        <p:nvSpPr>
          <p:cNvPr id="66" name="矩形 65"/>
          <p:cNvSpPr/>
          <p:nvPr>
            <p:custDataLst>
              <p:tags r:id="rId11"/>
            </p:custDataLst>
          </p:nvPr>
        </p:nvSpPr>
        <p:spPr>
          <a:xfrm>
            <a:off x="3552825" y="2819400"/>
            <a:ext cx="1459230" cy="1079500"/>
          </a:xfrm>
          <a:prstGeom prst="rect">
            <a:avLst/>
          </a:prstGeom>
          <a:noFill/>
          <a:ln w="158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cxnSp>
        <p:nvCxnSpPr>
          <p:cNvPr id="68" name="直接连接符 67"/>
          <p:cNvCxnSpPr/>
          <p:nvPr>
            <p:custDataLst>
              <p:tags r:id="rId12"/>
            </p:custDataLst>
          </p:nvPr>
        </p:nvCxnSpPr>
        <p:spPr>
          <a:xfrm>
            <a:off x="3552825" y="3072765"/>
            <a:ext cx="1466215"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sp>
        <p:nvSpPr>
          <p:cNvPr id="70" name="文本框 69"/>
          <p:cNvSpPr txBox="1"/>
          <p:nvPr>
            <p:custDataLst>
              <p:tags r:id="rId13"/>
            </p:custDataLst>
          </p:nvPr>
        </p:nvSpPr>
        <p:spPr>
          <a:xfrm>
            <a:off x="3924788" y="2854466"/>
            <a:ext cx="1044575" cy="184150"/>
          </a:xfrm>
          <a:prstGeom prst="rect">
            <a:avLst/>
          </a:prstGeom>
          <a:noFill/>
        </p:spPr>
        <p:txBody>
          <a:bodyPr wrap="square" rtlCol="0">
            <a:noAutofit/>
          </a:bodyPr>
          <a:lstStyle/>
          <a:p>
            <a:r>
              <a:rPr lang="zh-CN" altLang="en-US" sz="900" b="1" dirty="0">
                <a:latin typeface="Times New Roman Bold" panose="02020603050405020304" charset="0"/>
                <a:cs typeface="Times New Roman Bold" panose="02020603050405020304" charset="0"/>
              </a:rPr>
              <a:t>地址收集</a:t>
            </a:r>
            <a:endParaRPr lang="en-US" altLang="zh-CN" sz="900" b="1" dirty="0">
              <a:latin typeface="Times New Roman Bold" panose="02020603050405020304" charset="0"/>
              <a:cs typeface="Times New Roman Bold" panose="02020603050405020304" charset="0"/>
            </a:endParaRPr>
          </a:p>
        </p:txBody>
      </p:sp>
      <p:sp>
        <p:nvSpPr>
          <p:cNvPr id="73" name="圆角矩形 72"/>
          <p:cNvSpPr/>
          <p:nvPr>
            <p:custDataLst>
              <p:tags r:id="rId14"/>
            </p:custDataLst>
          </p:nvPr>
        </p:nvSpPr>
        <p:spPr>
          <a:xfrm>
            <a:off x="3472180" y="4152900"/>
            <a:ext cx="1644015" cy="1257300"/>
          </a:xfrm>
          <a:prstGeom prst="roundRect">
            <a:avLst>
              <a:gd name="adj" fmla="val 5782"/>
            </a:avLst>
          </a:prstGeom>
          <a:noFill/>
          <a:ln w="12700" cap="rnd">
            <a:solidFill>
              <a:schemeClr val="bg1">
                <a:lumMod val="65000"/>
                <a:alpha val="75000"/>
              </a:schemeClr>
            </a:solidFill>
            <a:prstDash val="dash"/>
          </a:ln>
          <a:extLst>
            <a:ext uri="{909E8E84-426E-40DD-AFC4-6F175D3DCCD1}">
              <a14:hiddenFill xmlns:a14="http://schemas.microsoft.com/office/drawing/2010/main">
                <a:solidFill>
                  <a:srgbClr val="5E068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sp>
        <p:nvSpPr>
          <p:cNvPr id="74" name="矩形 73"/>
          <p:cNvSpPr/>
          <p:nvPr>
            <p:custDataLst>
              <p:tags r:id="rId15"/>
            </p:custDataLst>
          </p:nvPr>
        </p:nvSpPr>
        <p:spPr>
          <a:xfrm>
            <a:off x="3556000" y="4241800"/>
            <a:ext cx="1459230" cy="1079500"/>
          </a:xfrm>
          <a:prstGeom prst="rect">
            <a:avLst/>
          </a:prstGeom>
          <a:noFill/>
          <a:ln w="158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cxnSp>
        <p:nvCxnSpPr>
          <p:cNvPr id="75" name="直接连接符 74"/>
          <p:cNvCxnSpPr/>
          <p:nvPr>
            <p:custDataLst>
              <p:tags r:id="rId16"/>
            </p:custDataLst>
          </p:nvPr>
        </p:nvCxnSpPr>
        <p:spPr>
          <a:xfrm>
            <a:off x="3556000" y="4495165"/>
            <a:ext cx="1466215"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sp>
        <p:nvSpPr>
          <p:cNvPr id="76" name="文本框 75"/>
          <p:cNvSpPr txBox="1"/>
          <p:nvPr>
            <p:custDataLst>
              <p:tags r:id="rId17"/>
            </p:custDataLst>
          </p:nvPr>
        </p:nvSpPr>
        <p:spPr>
          <a:xfrm>
            <a:off x="3773805" y="4266565"/>
            <a:ext cx="1195558" cy="180971"/>
          </a:xfrm>
          <a:prstGeom prst="rect">
            <a:avLst/>
          </a:prstGeom>
          <a:noFill/>
        </p:spPr>
        <p:txBody>
          <a:bodyPr wrap="square" rtlCol="0">
            <a:noAutofit/>
          </a:bodyPr>
          <a:lstStyle/>
          <a:p>
            <a:r>
              <a:rPr lang="zh-CN" altLang="en-US" sz="900" b="1" dirty="0">
                <a:latin typeface="Times New Roman Bold" panose="02020603050405020304" charset="0"/>
                <a:cs typeface="Times New Roman Bold" panose="02020603050405020304" charset="0"/>
              </a:rPr>
              <a:t>边界网关前缀匹配</a:t>
            </a:r>
            <a:endParaRPr lang="en-US" altLang="zh-CN" sz="900" b="1" dirty="0">
              <a:latin typeface="Times New Roman Bold" panose="02020603050405020304" charset="0"/>
              <a:cs typeface="Times New Roman Bold" panose="02020603050405020304" charset="0"/>
            </a:endParaRPr>
          </a:p>
        </p:txBody>
      </p:sp>
      <p:sp>
        <p:nvSpPr>
          <p:cNvPr id="77" name="圆角矩形 76"/>
          <p:cNvSpPr/>
          <p:nvPr/>
        </p:nvSpPr>
        <p:spPr>
          <a:xfrm>
            <a:off x="3832225" y="3180715"/>
            <a:ext cx="908050" cy="193675"/>
          </a:xfrm>
          <a:prstGeom prst="roundRect">
            <a:avLst/>
          </a:prstGeom>
          <a:solidFill>
            <a:srgbClr val="DEDEDE"/>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err="1">
                <a:solidFill>
                  <a:schemeClr val="tx1"/>
                </a:solidFill>
                <a:latin typeface="Times New Roman Bold" panose="02020603050405020304" charset="0"/>
                <a:cs typeface="Times New Roman Bold" panose="02020603050405020304" charset="0"/>
              </a:rPr>
              <a:t>AddrStash</a:t>
            </a:r>
            <a:endParaRPr lang="en-US" altLang="zh-CN" sz="900" b="1" dirty="0">
              <a:solidFill>
                <a:schemeClr val="tx1"/>
              </a:solidFill>
              <a:latin typeface="Times New Roman Bold" panose="02020603050405020304" charset="0"/>
              <a:cs typeface="Times New Roman Bold" panose="02020603050405020304" charset="0"/>
            </a:endParaRPr>
          </a:p>
        </p:txBody>
      </p:sp>
      <p:sp>
        <p:nvSpPr>
          <p:cNvPr id="78" name="圆角矩形 77"/>
          <p:cNvSpPr/>
          <p:nvPr>
            <p:custDataLst>
              <p:tags r:id="rId18"/>
            </p:custDataLst>
          </p:nvPr>
        </p:nvSpPr>
        <p:spPr>
          <a:xfrm>
            <a:off x="3832225" y="3509010"/>
            <a:ext cx="908050" cy="193675"/>
          </a:xfrm>
          <a:prstGeom prst="roundRect">
            <a:avLst/>
          </a:prstGeom>
          <a:solidFill>
            <a:srgbClr val="DEDEDE"/>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err="1">
                <a:solidFill>
                  <a:schemeClr val="tx1"/>
                </a:solidFill>
                <a:latin typeface="Times New Roman Bold" panose="02020603050405020304" charset="0"/>
                <a:cs typeface="Times New Roman Bold" panose="02020603050405020304" charset="0"/>
              </a:rPr>
              <a:t>AddrTail</a:t>
            </a:r>
            <a:endParaRPr lang="en-US" altLang="zh-CN" sz="900" b="1" dirty="0">
              <a:solidFill>
                <a:schemeClr val="tx1"/>
              </a:solidFill>
              <a:latin typeface="Times New Roman Bold" panose="02020603050405020304" charset="0"/>
              <a:cs typeface="Times New Roman Bold" panose="02020603050405020304" charset="0"/>
            </a:endParaRPr>
          </a:p>
        </p:txBody>
      </p:sp>
      <p:cxnSp>
        <p:nvCxnSpPr>
          <p:cNvPr id="82" name="直接连接符 81"/>
          <p:cNvCxnSpPr/>
          <p:nvPr>
            <p:custDataLst>
              <p:tags r:id="rId19"/>
            </p:custDataLst>
          </p:nvPr>
        </p:nvCxnSpPr>
        <p:spPr>
          <a:xfrm>
            <a:off x="5581650" y="1365885"/>
            <a:ext cx="3988435"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sp>
        <p:nvSpPr>
          <p:cNvPr id="83" name="文本框 82"/>
          <p:cNvSpPr txBox="1"/>
          <p:nvPr>
            <p:custDataLst>
              <p:tags r:id="rId20"/>
            </p:custDataLst>
          </p:nvPr>
        </p:nvSpPr>
        <p:spPr>
          <a:xfrm>
            <a:off x="6071600" y="1060867"/>
            <a:ext cx="3111598" cy="338554"/>
          </a:xfrm>
          <a:prstGeom prst="rect">
            <a:avLst/>
          </a:prstGeom>
          <a:noFill/>
        </p:spPr>
        <p:txBody>
          <a:bodyPr wrap="square" rtlCol="0">
            <a:spAutoFit/>
          </a:bodyPr>
          <a:lstStyle/>
          <a:p>
            <a:r>
              <a:rPr lang="zh-CN" altLang="en-US" sz="1600" b="1" dirty="0">
                <a:latin typeface="Times New Roman Bold" panose="02020603050405020304" charset="0"/>
                <a:cs typeface="Times New Roman Bold" panose="02020603050405020304" charset="0"/>
              </a:rPr>
              <a:t>互联网实时探测探测与异常检测</a:t>
            </a:r>
            <a:endParaRPr lang="en-US" altLang="zh-CN" sz="1600" b="1" dirty="0">
              <a:latin typeface="Times New Roman Bold" panose="02020603050405020304" charset="0"/>
              <a:cs typeface="Times New Roman Bold" panose="02020603050405020304" charset="0"/>
            </a:endParaRPr>
          </a:p>
        </p:txBody>
      </p:sp>
      <p:sp>
        <p:nvSpPr>
          <p:cNvPr id="85" name="文本框 84"/>
          <p:cNvSpPr txBox="1"/>
          <p:nvPr>
            <p:custDataLst>
              <p:tags r:id="rId21"/>
            </p:custDataLst>
          </p:nvPr>
        </p:nvSpPr>
        <p:spPr>
          <a:xfrm>
            <a:off x="10566082" y="2284395"/>
            <a:ext cx="1362710" cy="230832"/>
          </a:xfrm>
          <a:prstGeom prst="rect">
            <a:avLst/>
          </a:prstGeom>
          <a:noFill/>
        </p:spPr>
        <p:txBody>
          <a:bodyPr wrap="square" rtlCol="0">
            <a:spAutoFit/>
          </a:bodyPr>
          <a:lstStyle/>
          <a:p>
            <a:r>
              <a:rPr lang="zh-CN" altLang="en-US" sz="900" b="1" dirty="0">
                <a:latin typeface="Times New Roman Bold" panose="02020603050405020304" charset="0"/>
                <a:cs typeface="Times New Roman Bold" panose="02020603050405020304" charset="0"/>
              </a:rPr>
              <a:t>分析报告</a:t>
            </a:r>
            <a:endParaRPr lang="en-US" altLang="zh-CN" sz="900" b="1" dirty="0">
              <a:latin typeface="Times New Roman Bold" panose="02020603050405020304" charset="0"/>
              <a:cs typeface="Times New Roman Bold" panose="02020603050405020304" charset="0"/>
            </a:endParaRPr>
          </a:p>
        </p:txBody>
      </p:sp>
      <p:pic>
        <p:nvPicPr>
          <p:cNvPr id="86" name="图片 85" descr="yuncunchu"/>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3653790" y="4679315"/>
            <a:ext cx="452755" cy="452755"/>
          </a:xfrm>
          <a:prstGeom prst="rect">
            <a:avLst/>
          </a:prstGeom>
        </p:spPr>
      </p:pic>
      <p:pic>
        <p:nvPicPr>
          <p:cNvPr id="87" name="图片 86" descr="yuncunchu"/>
          <p:cNvPicPr>
            <a:picLocks noChangeAspect="1"/>
          </p:cNvPicPr>
          <p:nvPr>
            <p:custDataLst>
              <p:tags r:id="rId22"/>
            </p:custDataLst>
          </p:nvPr>
        </p:nvPicPr>
        <p:blipFill>
          <a:blip r:embed="rId47">
            <a:extLst>
              <a:ext uri="{96DAC541-7B7A-43D3-8B79-37D633B846F1}">
                <asvg:svgBlip xmlns:asvg="http://schemas.microsoft.com/office/drawing/2016/SVG/main" r:embed="rId48"/>
              </a:ext>
            </a:extLst>
          </a:blip>
          <a:stretch>
            <a:fillRect/>
          </a:stretch>
        </p:blipFill>
        <p:spPr>
          <a:xfrm>
            <a:off x="4106545" y="4679315"/>
            <a:ext cx="452755" cy="452755"/>
          </a:xfrm>
          <a:prstGeom prst="rect">
            <a:avLst/>
          </a:prstGeom>
        </p:spPr>
      </p:pic>
      <p:pic>
        <p:nvPicPr>
          <p:cNvPr id="88" name="图片 87" descr="yuncunchu"/>
          <p:cNvPicPr>
            <a:picLocks noChangeAspect="1"/>
          </p:cNvPicPr>
          <p:nvPr>
            <p:custDataLst>
              <p:tags r:id="rId23"/>
            </p:custDataLst>
          </p:nvPr>
        </p:nvPicPr>
        <p:blipFill>
          <a:blip r:embed="rId47">
            <a:extLst>
              <a:ext uri="{96DAC541-7B7A-43D3-8B79-37D633B846F1}">
                <asvg:svgBlip xmlns:asvg="http://schemas.microsoft.com/office/drawing/2016/SVG/main" r:embed="rId48"/>
              </a:ext>
            </a:extLst>
          </a:blip>
          <a:stretch>
            <a:fillRect/>
          </a:stretch>
        </p:blipFill>
        <p:spPr>
          <a:xfrm>
            <a:off x="4559300" y="4679315"/>
            <a:ext cx="452755" cy="452755"/>
          </a:xfrm>
          <a:prstGeom prst="rect">
            <a:avLst/>
          </a:prstGeom>
        </p:spPr>
      </p:pic>
      <p:sp>
        <p:nvSpPr>
          <p:cNvPr id="134" name="圆角矩形 133"/>
          <p:cNvSpPr/>
          <p:nvPr>
            <p:custDataLst>
              <p:tags r:id="rId24"/>
            </p:custDataLst>
          </p:nvPr>
        </p:nvSpPr>
        <p:spPr>
          <a:xfrm>
            <a:off x="10035540" y="2273935"/>
            <a:ext cx="1802130" cy="3286760"/>
          </a:xfrm>
          <a:prstGeom prst="roundRect">
            <a:avLst>
              <a:gd name="adj" fmla="val 4159"/>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sp>
        <p:nvSpPr>
          <p:cNvPr id="135" name="圆角矩形 134"/>
          <p:cNvSpPr/>
          <p:nvPr>
            <p:custDataLst>
              <p:tags r:id="rId25"/>
            </p:custDataLst>
          </p:nvPr>
        </p:nvSpPr>
        <p:spPr>
          <a:xfrm>
            <a:off x="10099675" y="2722245"/>
            <a:ext cx="1608455" cy="1230630"/>
          </a:xfrm>
          <a:prstGeom prst="roundRect">
            <a:avLst>
              <a:gd name="adj" fmla="val 5782"/>
            </a:avLst>
          </a:prstGeom>
          <a:noFill/>
          <a:ln w="12700" cap="rnd">
            <a:solidFill>
              <a:schemeClr val="bg1">
                <a:lumMod val="65000"/>
                <a:alpha val="75000"/>
              </a:schemeClr>
            </a:solidFill>
            <a:prstDash val="dash"/>
          </a:ln>
          <a:extLst>
            <a:ext uri="{909E8E84-426E-40DD-AFC4-6F175D3DCCD1}">
              <a14:hiddenFill xmlns:a14="http://schemas.microsoft.com/office/drawing/2010/main">
                <a:solidFill>
                  <a:srgbClr val="5E068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sp>
        <p:nvSpPr>
          <p:cNvPr id="136" name="矩形 135"/>
          <p:cNvSpPr/>
          <p:nvPr>
            <p:custDataLst>
              <p:tags r:id="rId26"/>
            </p:custDataLst>
          </p:nvPr>
        </p:nvSpPr>
        <p:spPr>
          <a:xfrm>
            <a:off x="10183495" y="2802255"/>
            <a:ext cx="1459230" cy="1079500"/>
          </a:xfrm>
          <a:prstGeom prst="rect">
            <a:avLst/>
          </a:prstGeom>
          <a:noFill/>
          <a:ln w="158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cxnSp>
        <p:nvCxnSpPr>
          <p:cNvPr id="137" name="直接连接符 136"/>
          <p:cNvCxnSpPr/>
          <p:nvPr>
            <p:custDataLst>
              <p:tags r:id="rId27"/>
            </p:custDataLst>
          </p:nvPr>
        </p:nvCxnSpPr>
        <p:spPr>
          <a:xfrm>
            <a:off x="10183495" y="3055620"/>
            <a:ext cx="1466215"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sp>
        <p:nvSpPr>
          <p:cNvPr id="138" name="文本框 137"/>
          <p:cNvSpPr txBox="1"/>
          <p:nvPr>
            <p:custDataLst>
              <p:tags r:id="rId28"/>
            </p:custDataLst>
          </p:nvPr>
        </p:nvSpPr>
        <p:spPr>
          <a:xfrm>
            <a:off x="10228580" y="2829878"/>
            <a:ext cx="1609090" cy="184150"/>
          </a:xfrm>
          <a:prstGeom prst="rect">
            <a:avLst/>
          </a:prstGeom>
          <a:noFill/>
        </p:spPr>
        <p:txBody>
          <a:bodyPr wrap="square" rtlCol="0">
            <a:noAutofit/>
          </a:bodyPr>
          <a:lstStyle/>
          <a:p>
            <a:r>
              <a:rPr lang="en-US" altLang="zh-CN" sz="900" b="1" dirty="0">
                <a:latin typeface="Times New Roman Bold" panose="02020603050405020304" charset="0"/>
                <a:cs typeface="Times New Roman Bold" panose="02020603050405020304" charset="0"/>
                <a:sym typeface="+mn-ea"/>
              </a:rPr>
              <a:t>LLM</a:t>
            </a:r>
            <a:r>
              <a:rPr lang="zh-CN" altLang="en-US" sz="900" b="1" dirty="0">
                <a:latin typeface="Times New Roman Bold" panose="02020603050405020304" charset="0"/>
                <a:cs typeface="Times New Roman Bold" panose="02020603050405020304" charset="0"/>
                <a:sym typeface="+mn-ea"/>
              </a:rPr>
              <a:t> 辅助异常原因分析</a:t>
            </a:r>
            <a:endParaRPr lang="en-US" altLang="zh-CN" sz="900" b="1" dirty="0">
              <a:latin typeface="Times New Roman Bold" panose="02020603050405020304" charset="0"/>
              <a:cs typeface="Times New Roman Bold" panose="02020603050405020304" charset="0"/>
            </a:endParaRPr>
          </a:p>
        </p:txBody>
      </p:sp>
      <p:sp>
        <p:nvSpPr>
          <p:cNvPr id="139" name="圆角矩形 138"/>
          <p:cNvSpPr/>
          <p:nvPr>
            <p:custDataLst>
              <p:tags r:id="rId29"/>
            </p:custDataLst>
          </p:nvPr>
        </p:nvSpPr>
        <p:spPr>
          <a:xfrm>
            <a:off x="10102850" y="4135755"/>
            <a:ext cx="1644015" cy="1257300"/>
          </a:xfrm>
          <a:prstGeom prst="roundRect">
            <a:avLst>
              <a:gd name="adj" fmla="val 5782"/>
            </a:avLst>
          </a:prstGeom>
          <a:noFill/>
          <a:ln w="12700" cap="rnd">
            <a:solidFill>
              <a:schemeClr val="bg1">
                <a:lumMod val="65000"/>
                <a:alpha val="75000"/>
              </a:schemeClr>
            </a:solidFill>
            <a:prstDash val="dash"/>
          </a:ln>
          <a:extLst>
            <a:ext uri="{909E8E84-426E-40DD-AFC4-6F175D3DCCD1}">
              <a14:hiddenFill xmlns:a14="http://schemas.microsoft.com/office/drawing/2010/main">
                <a:solidFill>
                  <a:srgbClr val="5E068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sp>
        <p:nvSpPr>
          <p:cNvPr id="140" name="矩形 139"/>
          <p:cNvSpPr/>
          <p:nvPr>
            <p:custDataLst>
              <p:tags r:id="rId30"/>
            </p:custDataLst>
          </p:nvPr>
        </p:nvSpPr>
        <p:spPr>
          <a:xfrm>
            <a:off x="10186670" y="4224655"/>
            <a:ext cx="1459230" cy="1079500"/>
          </a:xfrm>
          <a:prstGeom prst="rect">
            <a:avLst/>
          </a:prstGeom>
          <a:noFill/>
          <a:ln w="158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cxnSp>
        <p:nvCxnSpPr>
          <p:cNvPr id="141" name="直接连接符 140"/>
          <p:cNvCxnSpPr/>
          <p:nvPr>
            <p:custDataLst>
              <p:tags r:id="rId31"/>
            </p:custDataLst>
          </p:nvPr>
        </p:nvCxnSpPr>
        <p:spPr>
          <a:xfrm>
            <a:off x="10186670" y="4478020"/>
            <a:ext cx="1466215"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sp>
        <p:nvSpPr>
          <p:cNvPr id="142" name="文本框 141"/>
          <p:cNvSpPr txBox="1"/>
          <p:nvPr>
            <p:custDataLst>
              <p:tags r:id="rId32"/>
            </p:custDataLst>
          </p:nvPr>
        </p:nvSpPr>
        <p:spPr>
          <a:xfrm>
            <a:off x="10372021" y="4258627"/>
            <a:ext cx="1608455" cy="179070"/>
          </a:xfrm>
          <a:prstGeom prst="rect">
            <a:avLst/>
          </a:prstGeom>
          <a:noFill/>
        </p:spPr>
        <p:txBody>
          <a:bodyPr wrap="square" rtlCol="0">
            <a:noAutofit/>
          </a:bodyPr>
          <a:lstStyle/>
          <a:p>
            <a:r>
              <a:rPr lang="zh-CN" altLang="en-US" sz="900" b="1" dirty="0">
                <a:latin typeface="Times New Roman Bold" panose="02020603050405020304" charset="0"/>
                <a:cs typeface="Times New Roman Bold" panose="02020603050405020304" charset="0"/>
              </a:rPr>
              <a:t>网络分析报告生成</a:t>
            </a:r>
            <a:endParaRPr lang="en-US" altLang="zh-CN" sz="900" b="1" dirty="0">
              <a:latin typeface="Times New Roman Bold" panose="02020603050405020304" charset="0"/>
              <a:cs typeface="Times New Roman Bold" panose="02020603050405020304" charset="0"/>
            </a:endParaRPr>
          </a:p>
        </p:txBody>
      </p:sp>
      <p:cxnSp>
        <p:nvCxnSpPr>
          <p:cNvPr id="149" name="直接连接符 148"/>
          <p:cNvCxnSpPr/>
          <p:nvPr>
            <p:custDataLst>
              <p:tags r:id="rId33"/>
            </p:custDataLst>
          </p:nvPr>
        </p:nvCxnSpPr>
        <p:spPr>
          <a:xfrm>
            <a:off x="10035540" y="2524125"/>
            <a:ext cx="1816100"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pic>
        <p:nvPicPr>
          <p:cNvPr id="156" name="图片 155" descr="yanzhenyichang"/>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11047095" y="3213735"/>
            <a:ext cx="488950" cy="488950"/>
          </a:xfrm>
          <a:prstGeom prst="rect">
            <a:avLst/>
          </a:prstGeom>
        </p:spPr>
      </p:pic>
      <p:pic>
        <p:nvPicPr>
          <p:cNvPr id="159" name="图片 158" descr="jixiaobiaodan"/>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0262235" y="4578985"/>
            <a:ext cx="589280" cy="589280"/>
          </a:xfrm>
          <a:prstGeom prst="rect">
            <a:avLst/>
          </a:prstGeom>
        </p:spPr>
      </p:pic>
      <p:pic>
        <p:nvPicPr>
          <p:cNvPr id="160" name="图片 159" descr="jixiaobiaodan"/>
          <p:cNvPicPr>
            <a:picLocks noChangeAspect="1"/>
          </p:cNvPicPr>
          <p:nvPr>
            <p:custDataLst>
              <p:tags r:id="rId34"/>
            </p:custDataLst>
          </p:nvPr>
        </p:nvPicPr>
        <p:blipFill>
          <a:blip r:embed="rId51">
            <a:extLst>
              <a:ext uri="{96DAC541-7B7A-43D3-8B79-37D633B846F1}">
                <asvg:svgBlip xmlns:asvg="http://schemas.microsoft.com/office/drawing/2016/SVG/main" r:embed="rId52"/>
              </a:ext>
            </a:extLst>
          </a:blip>
          <a:stretch>
            <a:fillRect/>
          </a:stretch>
        </p:blipFill>
        <p:spPr>
          <a:xfrm>
            <a:off x="10946765" y="4578985"/>
            <a:ext cx="589280" cy="589280"/>
          </a:xfrm>
          <a:prstGeom prst="rect">
            <a:avLst/>
          </a:prstGeom>
        </p:spPr>
      </p:pic>
      <p:sp>
        <p:nvSpPr>
          <p:cNvPr id="164" name="右箭头 163"/>
          <p:cNvSpPr/>
          <p:nvPr>
            <p:custDataLst>
              <p:tags r:id="rId35"/>
            </p:custDataLst>
          </p:nvPr>
        </p:nvSpPr>
        <p:spPr>
          <a:xfrm>
            <a:off x="5206365" y="4031615"/>
            <a:ext cx="375285" cy="133985"/>
          </a:xfrm>
          <a:prstGeom prst="rightArrow">
            <a:avLst/>
          </a:prstGeom>
          <a:solidFill>
            <a:schemeClr val="accent3">
              <a:lumMod val="5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pic>
        <p:nvPicPr>
          <p:cNvPr id="168" name="图片 167" descr="rengongzhinengdanao"/>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345420" y="3261360"/>
            <a:ext cx="441325" cy="441325"/>
          </a:xfrm>
          <a:prstGeom prst="rect">
            <a:avLst/>
          </a:prstGeom>
        </p:spPr>
      </p:pic>
      <p:sp>
        <p:nvSpPr>
          <p:cNvPr id="169" name="文本框 168"/>
          <p:cNvSpPr txBox="1"/>
          <p:nvPr>
            <p:custDataLst>
              <p:tags r:id="rId36"/>
            </p:custDataLst>
          </p:nvPr>
        </p:nvSpPr>
        <p:spPr>
          <a:xfrm>
            <a:off x="11675726" y="6410195"/>
            <a:ext cx="623795" cy="230832"/>
          </a:xfrm>
          <a:prstGeom prst="rect">
            <a:avLst/>
          </a:prstGeom>
          <a:noFill/>
        </p:spPr>
        <p:txBody>
          <a:bodyPr wrap="square" rtlCol="0">
            <a:spAutoFit/>
          </a:bodyPr>
          <a:lstStyle/>
          <a:p>
            <a:r>
              <a:rPr lang="en-US" altLang="zh-CN" sz="900" dirty="0">
                <a:solidFill>
                  <a:srgbClr val="5E068C"/>
                </a:solidFill>
                <a:latin typeface="微软雅黑" panose="020B0503020204020204" pitchFamily="34" charset="-122"/>
                <a:ea typeface="微软雅黑" panose="020B0503020204020204" pitchFamily="34" charset="-122"/>
              </a:rPr>
              <a:t>03</a:t>
            </a:r>
            <a:endParaRPr lang="zh-CN" altLang="en-US" sz="900" dirty="0">
              <a:solidFill>
                <a:srgbClr val="5E068C"/>
              </a:solidFill>
              <a:latin typeface="微软雅黑" panose="020B0503020204020204" pitchFamily="34" charset="-122"/>
              <a:ea typeface="微软雅黑" panose="020B0503020204020204" pitchFamily="34" charset="-122"/>
            </a:endParaRPr>
          </a:p>
        </p:txBody>
      </p:sp>
      <p:sp>
        <p:nvSpPr>
          <p:cNvPr id="2" name="圆角矩形 1">
            <a:extLst>
              <a:ext uri="{FF2B5EF4-FFF2-40B4-BE49-F238E27FC236}">
                <a16:creationId xmlns:a16="http://schemas.microsoft.com/office/drawing/2014/main" id="{CCFCD37A-CAFD-34DB-8240-1D34DD75B7F9}"/>
              </a:ext>
            </a:extLst>
          </p:cNvPr>
          <p:cNvSpPr/>
          <p:nvPr/>
        </p:nvSpPr>
        <p:spPr>
          <a:xfrm>
            <a:off x="6244385" y="1438475"/>
            <a:ext cx="2420100" cy="1128581"/>
          </a:xfrm>
          <a:prstGeom prst="roundRect">
            <a:avLst/>
          </a:prstGeom>
          <a:solidFill>
            <a:schemeClr val="bg1"/>
          </a:solidFill>
          <a:ln w="15875">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900" b="1" dirty="0">
                <a:latin typeface="Times New Roman Bold" panose="02020603050405020304" charset="0"/>
                <a:cs typeface="Times New Roman Bold" panose="02020603050405020304" charset="0"/>
              </a:rPr>
              <a:t>5. Investigate</a:t>
            </a:r>
          </a:p>
        </p:txBody>
      </p:sp>
      <p:cxnSp>
        <p:nvCxnSpPr>
          <p:cNvPr id="5" name="直线连接符 4">
            <a:extLst>
              <a:ext uri="{FF2B5EF4-FFF2-40B4-BE49-F238E27FC236}">
                <a16:creationId xmlns:a16="http://schemas.microsoft.com/office/drawing/2014/main" id="{4B940A06-5614-C227-5954-338A4897A0B5}"/>
              </a:ext>
            </a:extLst>
          </p:cNvPr>
          <p:cNvCxnSpPr>
            <a:cxnSpLocks/>
          </p:cNvCxnSpPr>
          <p:nvPr/>
        </p:nvCxnSpPr>
        <p:spPr>
          <a:xfrm>
            <a:off x="6244385" y="1636615"/>
            <a:ext cx="24201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FC30D8AB-0623-77B0-6674-F7C11F66D00E}"/>
              </a:ext>
            </a:extLst>
          </p:cNvPr>
          <p:cNvSpPr txBox="1"/>
          <p:nvPr/>
        </p:nvSpPr>
        <p:spPr>
          <a:xfrm>
            <a:off x="7035850" y="1430079"/>
            <a:ext cx="1011187" cy="230832"/>
          </a:xfrm>
          <a:prstGeom prst="rect">
            <a:avLst/>
          </a:prstGeom>
          <a:noFill/>
        </p:spPr>
        <p:txBody>
          <a:bodyPr wrap="square">
            <a:spAutoFit/>
          </a:bodyPr>
          <a:lstStyle/>
          <a:p>
            <a:r>
              <a:rPr lang="en-US" altLang="zh-CN" sz="900" b="1" dirty="0">
                <a:latin typeface="Times New Roman Bold" panose="02020603050405020304" charset="0"/>
                <a:cs typeface="Times New Roman Bold" panose="02020603050405020304" charset="0"/>
              </a:rPr>
              <a:t>1. </a:t>
            </a:r>
            <a:r>
              <a:rPr lang="zh-CN" altLang="en-US" sz="900" b="1" dirty="0">
                <a:latin typeface="Times New Roman Bold" panose="02020603050405020304" charset="0"/>
                <a:cs typeface="Times New Roman Bold" panose="02020603050405020304" charset="0"/>
              </a:rPr>
              <a:t>模式挖掘</a:t>
            </a:r>
            <a:endParaRPr lang="en-US" altLang="zh-CN" sz="900" b="1" dirty="0">
              <a:latin typeface="Times New Roman Bold" panose="02020603050405020304" charset="0"/>
              <a:cs typeface="Times New Roman Bold" panose="02020603050405020304" charset="0"/>
            </a:endParaRPr>
          </a:p>
        </p:txBody>
      </p:sp>
      <p:sp>
        <p:nvSpPr>
          <p:cNvPr id="20" name="圆角矩形 19">
            <a:extLst>
              <a:ext uri="{FF2B5EF4-FFF2-40B4-BE49-F238E27FC236}">
                <a16:creationId xmlns:a16="http://schemas.microsoft.com/office/drawing/2014/main" id="{9C774206-662B-5DA5-EE56-280128FC3BA2}"/>
              </a:ext>
            </a:extLst>
          </p:cNvPr>
          <p:cNvSpPr/>
          <p:nvPr/>
        </p:nvSpPr>
        <p:spPr>
          <a:xfrm>
            <a:off x="6439724" y="1664114"/>
            <a:ext cx="767739" cy="867855"/>
          </a:xfrm>
          <a:prstGeom prst="roundRect">
            <a:avLst/>
          </a:prstGeom>
          <a:solidFill>
            <a:schemeClr val="bg1"/>
          </a:solidFill>
          <a:ln w="12700">
            <a:solidFill>
              <a:schemeClr val="accent3">
                <a:lumMod val="50000"/>
              </a:schemeClr>
            </a:solidFill>
            <a:prstDash val="sysDash"/>
            <a:extLst>
              <a:ext uri="{C807C97D-BFC1-408E-A445-0C87EB9F89A2}">
                <ask:lineSketchStyleProps xmlns:ask="http://schemas.microsoft.com/office/drawing/2018/sketchyshapes" sd="1219033472">
                  <a:custGeom>
                    <a:avLst/>
                    <a:gdLst>
                      <a:gd name="connsiteX0" fmla="*/ 0 w 2675800"/>
                      <a:gd name="connsiteY0" fmla="*/ 152403 h 914400"/>
                      <a:gd name="connsiteX1" fmla="*/ 152403 w 2675800"/>
                      <a:gd name="connsiteY1" fmla="*/ 0 h 914400"/>
                      <a:gd name="connsiteX2" fmla="*/ 2523397 w 2675800"/>
                      <a:gd name="connsiteY2" fmla="*/ 0 h 914400"/>
                      <a:gd name="connsiteX3" fmla="*/ 2675800 w 2675800"/>
                      <a:gd name="connsiteY3" fmla="*/ 152403 h 914400"/>
                      <a:gd name="connsiteX4" fmla="*/ 2675800 w 2675800"/>
                      <a:gd name="connsiteY4" fmla="*/ 761997 h 914400"/>
                      <a:gd name="connsiteX5" fmla="*/ 2523397 w 2675800"/>
                      <a:gd name="connsiteY5" fmla="*/ 914400 h 914400"/>
                      <a:gd name="connsiteX6" fmla="*/ 152403 w 2675800"/>
                      <a:gd name="connsiteY6" fmla="*/ 914400 h 914400"/>
                      <a:gd name="connsiteX7" fmla="*/ 0 w 2675800"/>
                      <a:gd name="connsiteY7" fmla="*/ 761997 h 914400"/>
                      <a:gd name="connsiteX8" fmla="*/ 0 w 2675800"/>
                      <a:gd name="connsiteY8" fmla="*/ 152403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75800" h="914400" fill="none" extrusionOk="0">
                        <a:moveTo>
                          <a:pt x="0" y="152403"/>
                        </a:moveTo>
                        <a:cubicBezTo>
                          <a:pt x="-5672" y="67316"/>
                          <a:pt x="71581" y="2738"/>
                          <a:pt x="152403" y="0"/>
                        </a:cubicBezTo>
                        <a:cubicBezTo>
                          <a:pt x="770154" y="130954"/>
                          <a:pt x="1817921" y="43574"/>
                          <a:pt x="2523397" y="0"/>
                        </a:cubicBezTo>
                        <a:cubicBezTo>
                          <a:pt x="2610959" y="5224"/>
                          <a:pt x="2681458" y="75164"/>
                          <a:pt x="2675800" y="152403"/>
                        </a:cubicBezTo>
                        <a:cubicBezTo>
                          <a:pt x="2641789" y="443481"/>
                          <a:pt x="2633861" y="582816"/>
                          <a:pt x="2675800" y="761997"/>
                        </a:cubicBezTo>
                        <a:cubicBezTo>
                          <a:pt x="2674577" y="846368"/>
                          <a:pt x="2600585" y="909583"/>
                          <a:pt x="2523397" y="914400"/>
                        </a:cubicBezTo>
                        <a:cubicBezTo>
                          <a:pt x="1731069" y="1069597"/>
                          <a:pt x="879653" y="1077420"/>
                          <a:pt x="152403" y="914400"/>
                        </a:cubicBezTo>
                        <a:cubicBezTo>
                          <a:pt x="68535" y="910312"/>
                          <a:pt x="-10516" y="852308"/>
                          <a:pt x="0" y="761997"/>
                        </a:cubicBezTo>
                        <a:cubicBezTo>
                          <a:pt x="4194" y="607785"/>
                          <a:pt x="-47148" y="377597"/>
                          <a:pt x="0" y="152403"/>
                        </a:cubicBezTo>
                        <a:close/>
                      </a:path>
                      <a:path w="2675800" h="914400" stroke="0" extrusionOk="0">
                        <a:moveTo>
                          <a:pt x="0" y="152403"/>
                        </a:moveTo>
                        <a:cubicBezTo>
                          <a:pt x="-5457" y="64867"/>
                          <a:pt x="66695" y="577"/>
                          <a:pt x="152403" y="0"/>
                        </a:cubicBezTo>
                        <a:cubicBezTo>
                          <a:pt x="1314545" y="132882"/>
                          <a:pt x="1356168" y="-84951"/>
                          <a:pt x="2523397" y="0"/>
                        </a:cubicBezTo>
                        <a:cubicBezTo>
                          <a:pt x="2603339" y="4129"/>
                          <a:pt x="2673310" y="81994"/>
                          <a:pt x="2675800" y="152403"/>
                        </a:cubicBezTo>
                        <a:cubicBezTo>
                          <a:pt x="2684362" y="418525"/>
                          <a:pt x="2691315" y="664525"/>
                          <a:pt x="2675800" y="761997"/>
                        </a:cubicBezTo>
                        <a:cubicBezTo>
                          <a:pt x="2681932" y="846894"/>
                          <a:pt x="2608876" y="911706"/>
                          <a:pt x="2523397" y="914400"/>
                        </a:cubicBezTo>
                        <a:cubicBezTo>
                          <a:pt x="1998766" y="1002039"/>
                          <a:pt x="1106917" y="841721"/>
                          <a:pt x="152403" y="914400"/>
                        </a:cubicBezTo>
                        <a:cubicBezTo>
                          <a:pt x="67149" y="904067"/>
                          <a:pt x="-9153" y="858887"/>
                          <a:pt x="0" y="761997"/>
                        </a:cubicBezTo>
                        <a:cubicBezTo>
                          <a:pt x="46211" y="581938"/>
                          <a:pt x="39484" y="449708"/>
                          <a:pt x="0" y="152403"/>
                        </a:cubicBezTo>
                        <a:close/>
                      </a:path>
                    </a:pathLst>
                  </a:custGeom>
                  <ask:type>
                    <ask:lineSketchNone/>
                  </ask:type>
                </ask:lineSketchStyleProps>
              </a:ext>
            </a:extLst>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900" dirty="0">
                <a:solidFill>
                  <a:schemeClr val="tx1"/>
                </a:solidFill>
                <a:latin typeface="Times New Roman Bold" panose="02020603050405020304" charset="0"/>
                <a:cs typeface="Times New Roman Bold" panose="02020603050405020304" charset="0"/>
              </a:rPr>
              <a:t>2001::001</a:t>
            </a:r>
          </a:p>
          <a:p>
            <a:r>
              <a:rPr lang="en-US" altLang="zh-CN" sz="900" dirty="0">
                <a:solidFill>
                  <a:schemeClr val="tx1"/>
                </a:solidFill>
                <a:latin typeface="Times New Roman Bold" panose="02020603050405020304" charset="0"/>
                <a:cs typeface="Times New Roman Bold" panose="02020603050405020304" charset="0"/>
              </a:rPr>
              <a:t>2001::002</a:t>
            </a:r>
          </a:p>
          <a:p>
            <a:r>
              <a:rPr lang="en-US" altLang="zh-CN" sz="900" dirty="0">
                <a:solidFill>
                  <a:schemeClr val="tx1"/>
                </a:solidFill>
                <a:latin typeface="Times New Roman Bold" panose="02020603050405020304" charset="0"/>
                <a:cs typeface="Times New Roman Bold" panose="02020603050405020304" charset="0"/>
              </a:rPr>
              <a:t>2001::111</a:t>
            </a:r>
            <a:br>
              <a:rPr lang="en-US" altLang="zh-CN" sz="900" dirty="0">
                <a:solidFill>
                  <a:schemeClr val="tx1"/>
                </a:solidFill>
                <a:latin typeface="Times New Roman Bold" panose="02020603050405020304" charset="0"/>
                <a:cs typeface="Times New Roman Bold" panose="02020603050405020304" charset="0"/>
              </a:rPr>
            </a:br>
            <a:r>
              <a:rPr lang="en-US" altLang="zh-CN" sz="900" dirty="0">
                <a:solidFill>
                  <a:schemeClr val="tx1"/>
                </a:solidFill>
                <a:latin typeface="Times New Roman Bold" panose="02020603050405020304" charset="0"/>
                <a:cs typeface="Times New Roman Bold" panose="02020603050405020304" charset="0"/>
              </a:rPr>
              <a:t>2001::105</a:t>
            </a:r>
          </a:p>
          <a:p>
            <a:r>
              <a:rPr lang="en-US" altLang="zh-CN" sz="900" dirty="0">
                <a:solidFill>
                  <a:schemeClr val="tx1"/>
                </a:solidFill>
                <a:latin typeface="Times New Roman Bold" panose="02020603050405020304" charset="0"/>
                <a:cs typeface="Times New Roman Bold" panose="02020603050405020304" charset="0"/>
              </a:rPr>
              <a:t>2001::012</a:t>
            </a:r>
          </a:p>
          <a:p>
            <a:r>
              <a:rPr lang="en-US" altLang="zh-CN" sz="900" dirty="0">
                <a:solidFill>
                  <a:schemeClr val="tx1"/>
                </a:solidFill>
                <a:latin typeface="Times New Roman Bold" panose="02020603050405020304" charset="0"/>
                <a:cs typeface="Times New Roman Bold" panose="02020603050405020304" charset="0"/>
              </a:rPr>
              <a:t>2001::013</a:t>
            </a:r>
          </a:p>
        </p:txBody>
      </p:sp>
      <p:sp>
        <p:nvSpPr>
          <p:cNvPr id="28" name="圆角矩形 27">
            <a:extLst>
              <a:ext uri="{FF2B5EF4-FFF2-40B4-BE49-F238E27FC236}">
                <a16:creationId xmlns:a16="http://schemas.microsoft.com/office/drawing/2014/main" id="{E6FBE834-D9C5-C34C-2EE4-1718DAF9B022}"/>
              </a:ext>
            </a:extLst>
          </p:cNvPr>
          <p:cNvSpPr/>
          <p:nvPr/>
        </p:nvSpPr>
        <p:spPr>
          <a:xfrm>
            <a:off x="7832194" y="1924236"/>
            <a:ext cx="767739" cy="337246"/>
          </a:xfrm>
          <a:prstGeom prst="roundRect">
            <a:avLst/>
          </a:prstGeom>
          <a:solidFill>
            <a:schemeClr val="bg1"/>
          </a:solidFill>
          <a:ln w="12700">
            <a:solidFill>
              <a:schemeClr val="accent3">
                <a:lumMod val="50000"/>
              </a:schemeClr>
            </a:solidFill>
            <a:prstDash val="sysDash"/>
            <a:extLst>
              <a:ext uri="{C807C97D-BFC1-408E-A445-0C87EB9F89A2}">
                <ask:lineSketchStyleProps xmlns:ask="http://schemas.microsoft.com/office/drawing/2018/sketchyshapes" sd="1219033472">
                  <a:custGeom>
                    <a:avLst/>
                    <a:gdLst>
                      <a:gd name="connsiteX0" fmla="*/ 0 w 2675800"/>
                      <a:gd name="connsiteY0" fmla="*/ 152403 h 914400"/>
                      <a:gd name="connsiteX1" fmla="*/ 152403 w 2675800"/>
                      <a:gd name="connsiteY1" fmla="*/ 0 h 914400"/>
                      <a:gd name="connsiteX2" fmla="*/ 2523397 w 2675800"/>
                      <a:gd name="connsiteY2" fmla="*/ 0 h 914400"/>
                      <a:gd name="connsiteX3" fmla="*/ 2675800 w 2675800"/>
                      <a:gd name="connsiteY3" fmla="*/ 152403 h 914400"/>
                      <a:gd name="connsiteX4" fmla="*/ 2675800 w 2675800"/>
                      <a:gd name="connsiteY4" fmla="*/ 761997 h 914400"/>
                      <a:gd name="connsiteX5" fmla="*/ 2523397 w 2675800"/>
                      <a:gd name="connsiteY5" fmla="*/ 914400 h 914400"/>
                      <a:gd name="connsiteX6" fmla="*/ 152403 w 2675800"/>
                      <a:gd name="connsiteY6" fmla="*/ 914400 h 914400"/>
                      <a:gd name="connsiteX7" fmla="*/ 0 w 2675800"/>
                      <a:gd name="connsiteY7" fmla="*/ 761997 h 914400"/>
                      <a:gd name="connsiteX8" fmla="*/ 0 w 2675800"/>
                      <a:gd name="connsiteY8" fmla="*/ 152403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75800" h="914400" fill="none" extrusionOk="0">
                        <a:moveTo>
                          <a:pt x="0" y="152403"/>
                        </a:moveTo>
                        <a:cubicBezTo>
                          <a:pt x="-5672" y="67316"/>
                          <a:pt x="71581" y="2738"/>
                          <a:pt x="152403" y="0"/>
                        </a:cubicBezTo>
                        <a:cubicBezTo>
                          <a:pt x="770154" y="130954"/>
                          <a:pt x="1817921" y="43574"/>
                          <a:pt x="2523397" y="0"/>
                        </a:cubicBezTo>
                        <a:cubicBezTo>
                          <a:pt x="2610959" y="5224"/>
                          <a:pt x="2681458" y="75164"/>
                          <a:pt x="2675800" y="152403"/>
                        </a:cubicBezTo>
                        <a:cubicBezTo>
                          <a:pt x="2641789" y="443481"/>
                          <a:pt x="2633861" y="582816"/>
                          <a:pt x="2675800" y="761997"/>
                        </a:cubicBezTo>
                        <a:cubicBezTo>
                          <a:pt x="2674577" y="846368"/>
                          <a:pt x="2600585" y="909583"/>
                          <a:pt x="2523397" y="914400"/>
                        </a:cubicBezTo>
                        <a:cubicBezTo>
                          <a:pt x="1731069" y="1069597"/>
                          <a:pt x="879653" y="1077420"/>
                          <a:pt x="152403" y="914400"/>
                        </a:cubicBezTo>
                        <a:cubicBezTo>
                          <a:pt x="68535" y="910312"/>
                          <a:pt x="-10516" y="852308"/>
                          <a:pt x="0" y="761997"/>
                        </a:cubicBezTo>
                        <a:cubicBezTo>
                          <a:pt x="4194" y="607785"/>
                          <a:pt x="-47148" y="377597"/>
                          <a:pt x="0" y="152403"/>
                        </a:cubicBezTo>
                        <a:close/>
                      </a:path>
                      <a:path w="2675800" h="914400" stroke="0" extrusionOk="0">
                        <a:moveTo>
                          <a:pt x="0" y="152403"/>
                        </a:moveTo>
                        <a:cubicBezTo>
                          <a:pt x="-5457" y="64867"/>
                          <a:pt x="66695" y="577"/>
                          <a:pt x="152403" y="0"/>
                        </a:cubicBezTo>
                        <a:cubicBezTo>
                          <a:pt x="1314545" y="132882"/>
                          <a:pt x="1356168" y="-84951"/>
                          <a:pt x="2523397" y="0"/>
                        </a:cubicBezTo>
                        <a:cubicBezTo>
                          <a:pt x="2603339" y="4129"/>
                          <a:pt x="2673310" y="81994"/>
                          <a:pt x="2675800" y="152403"/>
                        </a:cubicBezTo>
                        <a:cubicBezTo>
                          <a:pt x="2684362" y="418525"/>
                          <a:pt x="2691315" y="664525"/>
                          <a:pt x="2675800" y="761997"/>
                        </a:cubicBezTo>
                        <a:cubicBezTo>
                          <a:pt x="2681932" y="846894"/>
                          <a:pt x="2608876" y="911706"/>
                          <a:pt x="2523397" y="914400"/>
                        </a:cubicBezTo>
                        <a:cubicBezTo>
                          <a:pt x="1998766" y="1002039"/>
                          <a:pt x="1106917" y="841721"/>
                          <a:pt x="152403" y="914400"/>
                        </a:cubicBezTo>
                        <a:cubicBezTo>
                          <a:pt x="67149" y="904067"/>
                          <a:pt x="-9153" y="858887"/>
                          <a:pt x="0" y="761997"/>
                        </a:cubicBezTo>
                        <a:cubicBezTo>
                          <a:pt x="46211" y="581938"/>
                          <a:pt x="39484" y="449708"/>
                          <a:pt x="0" y="152403"/>
                        </a:cubicBezTo>
                        <a:close/>
                      </a:path>
                    </a:pathLst>
                  </a:custGeom>
                  <ask:type>
                    <ask:lineSketchNone/>
                  </ask:type>
                </ask:lineSketchStyleProps>
              </a:ext>
            </a:extLst>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900" dirty="0">
                <a:solidFill>
                  <a:schemeClr val="tx1"/>
                </a:solidFill>
                <a:latin typeface="Times New Roman Bold" panose="02020603050405020304" charset="0"/>
                <a:cs typeface="Times New Roman Bold" panose="02020603050405020304" charset="0"/>
              </a:rPr>
              <a:t>2001::0</a:t>
            </a:r>
            <a:r>
              <a:rPr lang="zh-CN" altLang="en-US" sz="900" dirty="0">
                <a:solidFill>
                  <a:schemeClr val="tx1"/>
                </a:solidFill>
                <a:latin typeface="Times New Roman Bold" panose="02020603050405020304" charset="0"/>
                <a:cs typeface="Times New Roman Bold" panose="02020603050405020304" charset="0"/>
              </a:rPr>
              <a:t>**</a:t>
            </a:r>
            <a:endParaRPr lang="en-US" altLang="zh-CN" sz="900" dirty="0">
              <a:solidFill>
                <a:schemeClr val="tx1"/>
              </a:solidFill>
              <a:latin typeface="Times New Roman Bold" panose="02020603050405020304" charset="0"/>
              <a:cs typeface="Times New Roman Bold" panose="02020603050405020304" charset="0"/>
            </a:endParaRPr>
          </a:p>
          <a:p>
            <a:r>
              <a:rPr lang="en-US" altLang="zh-CN" sz="900" dirty="0">
                <a:solidFill>
                  <a:schemeClr val="tx1"/>
                </a:solidFill>
                <a:latin typeface="Times New Roman Bold" panose="02020603050405020304" charset="0"/>
                <a:cs typeface="Times New Roman Bold" panose="02020603050405020304" charset="0"/>
              </a:rPr>
              <a:t>2001::1</a:t>
            </a:r>
            <a:r>
              <a:rPr lang="zh-CN" altLang="en-US" sz="900" dirty="0">
                <a:solidFill>
                  <a:schemeClr val="tx1"/>
                </a:solidFill>
                <a:latin typeface="Times New Roman Bold" panose="02020603050405020304" charset="0"/>
                <a:cs typeface="Times New Roman Bold" panose="02020603050405020304" charset="0"/>
              </a:rPr>
              <a:t>**</a:t>
            </a:r>
            <a:endParaRPr lang="en-US" altLang="zh-CN" sz="900" dirty="0">
              <a:solidFill>
                <a:schemeClr val="tx1"/>
              </a:solidFill>
              <a:latin typeface="Times New Roman Bold" panose="02020603050405020304" charset="0"/>
              <a:cs typeface="Times New Roman Bold" panose="02020603050405020304" charset="0"/>
            </a:endParaRPr>
          </a:p>
        </p:txBody>
      </p:sp>
      <p:sp>
        <p:nvSpPr>
          <p:cNvPr id="30" name="右箭头 29">
            <a:extLst>
              <a:ext uri="{FF2B5EF4-FFF2-40B4-BE49-F238E27FC236}">
                <a16:creationId xmlns:a16="http://schemas.microsoft.com/office/drawing/2014/main" id="{4F6A970E-5A60-0C56-93E2-5422505B209F}"/>
              </a:ext>
            </a:extLst>
          </p:cNvPr>
          <p:cNvSpPr/>
          <p:nvPr>
            <p:custDataLst>
              <p:tags r:id="rId37"/>
            </p:custDataLst>
          </p:nvPr>
        </p:nvSpPr>
        <p:spPr>
          <a:xfrm>
            <a:off x="7325139" y="2030359"/>
            <a:ext cx="375285" cy="133985"/>
          </a:xfrm>
          <a:prstGeom prst="rightArrow">
            <a:avLst/>
          </a:prstGeom>
          <a:solidFill>
            <a:schemeClr val="accent3">
              <a:lumMod val="5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grpSp>
        <p:nvGrpSpPr>
          <p:cNvPr id="109" name="组合 108">
            <a:extLst>
              <a:ext uri="{FF2B5EF4-FFF2-40B4-BE49-F238E27FC236}">
                <a16:creationId xmlns:a16="http://schemas.microsoft.com/office/drawing/2014/main" id="{DAFF7006-1C05-A648-FE9B-7B9D6119856E}"/>
              </a:ext>
            </a:extLst>
          </p:cNvPr>
          <p:cNvGrpSpPr/>
          <p:nvPr/>
        </p:nvGrpSpPr>
        <p:grpSpPr>
          <a:xfrm>
            <a:off x="5842000" y="2661106"/>
            <a:ext cx="2366159" cy="869271"/>
            <a:chOff x="5751822" y="2860297"/>
            <a:chExt cx="2366159" cy="869271"/>
          </a:xfrm>
        </p:grpSpPr>
        <p:sp>
          <p:nvSpPr>
            <p:cNvPr id="33" name="圆角矩形 32">
              <a:extLst>
                <a:ext uri="{FF2B5EF4-FFF2-40B4-BE49-F238E27FC236}">
                  <a16:creationId xmlns:a16="http://schemas.microsoft.com/office/drawing/2014/main" id="{F594D624-7D93-17E4-C1C8-C911D9B9CAB1}"/>
                </a:ext>
              </a:extLst>
            </p:cNvPr>
            <p:cNvSpPr/>
            <p:nvPr/>
          </p:nvSpPr>
          <p:spPr>
            <a:xfrm>
              <a:off x="5751822" y="2879978"/>
              <a:ext cx="2366159" cy="844960"/>
            </a:xfrm>
            <a:prstGeom prst="roundRect">
              <a:avLst/>
            </a:prstGeom>
            <a:solidFill>
              <a:schemeClr val="bg1"/>
            </a:solidFill>
            <a:ln w="15875">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900" b="1" dirty="0">
                  <a:latin typeface="Times New Roman Bold" panose="02020603050405020304" charset="0"/>
                  <a:cs typeface="Times New Roman Bold" panose="02020603050405020304" charset="0"/>
                </a:rPr>
                <a:t>5. Investigate</a:t>
              </a:r>
            </a:p>
          </p:txBody>
        </p:sp>
        <p:cxnSp>
          <p:nvCxnSpPr>
            <p:cNvPr id="34" name="直线连接符 33">
              <a:extLst>
                <a:ext uri="{FF2B5EF4-FFF2-40B4-BE49-F238E27FC236}">
                  <a16:creationId xmlns:a16="http://schemas.microsoft.com/office/drawing/2014/main" id="{87B20B7F-E0F5-175B-5BE6-7C917F196730}"/>
                </a:ext>
              </a:extLst>
            </p:cNvPr>
            <p:cNvCxnSpPr>
              <a:cxnSpLocks/>
            </p:cNvCxnSpPr>
            <p:nvPr/>
          </p:nvCxnSpPr>
          <p:spPr>
            <a:xfrm>
              <a:off x="5751822" y="3072765"/>
              <a:ext cx="2347301" cy="88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95C14B7F-C571-D1F3-84D4-2493FADE8409}"/>
                </a:ext>
              </a:extLst>
            </p:cNvPr>
            <p:cNvSpPr txBox="1"/>
            <p:nvPr/>
          </p:nvSpPr>
          <p:spPr>
            <a:xfrm>
              <a:off x="6490283" y="2860297"/>
              <a:ext cx="1011187" cy="230832"/>
            </a:xfrm>
            <a:prstGeom prst="rect">
              <a:avLst/>
            </a:prstGeom>
            <a:noFill/>
          </p:spPr>
          <p:txBody>
            <a:bodyPr wrap="square">
              <a:spAutoFit/>
            </a:bodyPr>
            <a:lstStyle/>
            <a:p>
              <a:r>
                <a:rPr lang="en-US" altLang="zh-CN" sz="900" b="1" dirty="0">
                  <a:latin typeface="Times New Roman Bold" panose="02020603050405020304" charset="0"/>
                  <a:cs typeface="Times New Roman Bold" panose="02020603050405020304" charset="0"/>
                </a:rPr>
                <a:t>2. </a:t>
              </a:r>
              <a:r>
                <a:rPr lang="zh-CN" altLang="en-US" sz="900" b="1" dirty="0">
                  <a:latin typeface="Times New Roman Bold" panose="02020603050405020304" charset="0"/>
                  <a:cs typeface="Times New Roman Bold" panose="02020603050405020304" charset="0"/>
                </a:rPr>
                <a:t>目标前缀选择</a:t>
              </a:r>
              <a:endParaRPr lang="en-US" altLang="zh-CN" sz="900" b="1" dirty="0">
                <a:latin typeface="Times New Roman Bold" panose="02020603050405020304" charset="0"/>
                <a:cs typeface="Times New Roman Bold" panose="02020603050405020304" charset="0"/>
              </a:endParaRPr>
            </a:p>
          </p:txBody>
        </p:sp>
        <p:sp>
          <p:nvSpPr>
            <p:cNvPr id="37" name="AutoShape 2">
              <a:extLst>
                <a:ext uri="{FF2B5EF4-FFF2-40B4-BE49-F238E27FC236}">
                  <a16:creationId xmlns:a16="http://schemas.microsoft.com/office/drawing/2014/main" id="{4A460B2E-72A2-5539-1300-95FC9976F86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1" name="图片 40">
              <a:extLst>
                <a:ext uri="{FF2B5EF4-FFF2-40B4-BE49-F238E27FC236}">
                  <a16:creationId xmlns:a16="http://schemas.microsoft.com/office/drawing/2014/main" id="{6FA082DD-8880-8629-9CE4-77943E1ADCF1}"/>
                </a:ext>
              </a:extLst>
            </p:cNvPr>
            <p:cNvPicPr>
              <a:picLocks noChangeAspect="1"/>
            </p:cNvPicPr>
            <p:nvPr/>
          </p:nvPicPr>
          <p:blipFill>
            <a:blip r:embed="rId55">
              <a:extLst>
                <a:ext uri="{28A0092B-C50C-407E-A947-70E740481C1C}">
                  <a14:useLocalDpi xmlns:a14="http://schemas.microsoft.com/office/drawing/2010/main" val="0"/>
                </a:ext>
              </a:extLst>
            </a:blip>
            <a:stretch>
              <a:fillRect/>
            </a:stretch>
          </p:blipFill>
          <p:spPr>
            <a:xfrm>
              <a:off x="5951592" y="3119726"/>
              <a:ext cx="379449" cy="379449"/>
            </a:xfrm>
            <a:prstGeom prst="rect">
              <a:avLst/>
            </a:prstGeom>
          </p:spPr>
        </p:pic>
        <p:pic>
          <p:nvPicPr>
            <p:cNvPr id="43" name="图片 42">
              <a:extLst>
                <a:ext uri="{FF2B5EF4-FFF2-40B4-BE49-F238E27FC236}">
                  <a16:creationId xmlns:a16="http://schemas.microsoft.com/office/drawing/2014/main" id="{E060ACD1-CCCF-7C83-226B-6C76027B75F4}"/>
                </a:ext>
              </a:extLst>
            </p:cNvPr>
            <p:cNvPicPr>
              <a:picLocks noChangeAspect="1"/>
            </p:cNvPicPr>
            <p:nvPr/>
          </p:nvPicPr>
          <p:blipFill>
            <a:blip r:embed="rId56">
              <a:extLst>
                <a:ext uri="{28A0092B-C50C-407E-A947-70E740481C1C}">
                  <a14:useLocalDpi xmlns:a14="http://schemas.microsoft.com/office/drawing/2010/main" val="0"/>
                </a:ext>
              </a:extLst>
            </a:blip>
            <a:stretch>
              <a:fillRect/>
            </a:stretch>
          </p:blipFill>
          <p:spPr>
            <a:xfrm>
              <a:off x="6663387" y="3076848"/>
              <a:ext cx="462081" cy="462081"/>
            </a:xfrm>
            <a:prstGeom prst="rect">
              <a:avLst/>
            </a:prstGeom>
          </p:spPr>
        </p:pic>
        <p:pic>
          <p:nvPicPr>
            <p:cNvPr id="46" name="图片 45">
              <a:extLst>
                <a:ext uri="{FF2B5EF4-FFF2-40B4-BE49-F238E27FC236}">
                  <a16:creationId xmlns:a16="http://schemas.microsoft.com/office/drawing/2014/main" id="{8631DD64-67AF-A871-F8E8-965D9708508E}"/>
                </a:ext>
              </a:extLst>
            </p:cNvPr>
            <p:cNvPicPr>
              <a:picLocks noChangeAspect="1"/>
            </p:cNvPicPr>
            <p:nvPr/>
          </p:nvPicPr>
          <p:blipFill>
            <a:blip r:embed="rId57">
              <a:extLst>
                <a:ext uri="{28A0092B-C50C-407E-A947-70E740481C1C}">
                  <a14:useLocalDpi xmlns:a14="http://schemas.microsoft.com/office/drawing/2010/main" val="0"/>
                </a:ext>
              </a:extLst>
            </a:blip>
            <a:stretch>
              <a:fillRect/>
            </a:stretch>
          </p:blipFill>
          <p:spPr>
            <a:xfrm>
              <a:off x="7430863" y="3107236"/>
              <a:ext cx="406400" cy="406400"/>
            </a:xfrm>
            <a:prstGeom prst="rect">
              <a:avLst/>
            </a:prstGeom>
          </p:spPr>
        </p:pic>
        <p:sp>
          <p:nvSpPr>
            <p:cNvPr id="103" name="文本框 102">
              <a:extLst>
                <a:ext uri="{FF2B5EF4-FFF2-40B4-BE49-F238E27FC236}">
                  <a16:creationId xmlns:a16="http://schemas.microsoft.com/office/drawing/2014/main" id="{E44DD20E-78A0-206E-00FA-2D20EA942B60}"/>
                </a:ext>
              </a:extLst>
            </p:cNvPr>
            <p:cNvSpPr txBox="1"/>
            <p:nvPr/>
          </p:nvSpPr>
          <p:spPr>
            <a:xfrm>
              <a:off x="5834803" y="3497886"/>
              <a:ext cx="604922" cy="215444"/>
            </a:xfrm>
            <a:prstGeom prst="rect">
              <a:avLst/>
            </a:prstGeom>
            <a:noFill/>
          </p:spPr>
          <p:txBody>
            <a:bodyPr wrap="square">
              <a:spAutoFit/>
            </a:bodyPr>
            <a:lstStyle/>
            <a:p>
              <a:r>
                <a:rPr lang="en-US" altLang="zh-CN" sz="800" b="1" dirty="0">
                  <a:latin typeface="Times New Roman" panose="02020603050405020304" pitchFamily="18" charset="0"/>
                  <a:cs typeface="Times New Roman" panose="02020603050405020304" pitchFamily="18" charset="0"/>
                </a:rPr>
                <a:t>Top</a:t>
              </a:r>
              <a:r>
                <a:rPr lang="zh-CN" altLang="en-US" sz="800" b="1" dirty="0">
                  <a:latin typeface="Times New Roman" panose="02020603050405020304" pitchFamily="18" charset="0"/>
                  <a:cs typeface="Times New Roman" panose="02020603050405020304" pitchFamily="18" charset="0"/>
                </a:rPr>
                <a:t> </a:t>
              </a:r>
              <a:r>
                <a:rPr lang="en-US" altLang="zh-CN" sz="800" b="1" dirty="0">
                  <a:latin typeface="Times New Roman" panose="02020603050405020304" pitchFamily="18" charset="0"/>
                  <a:cs typeface="Times New Roman" panose="02020603050405020304" pitchFamily="18" charset="0"/>
                </a:rPr>
                <a:t>ASN</a:t>
              </a:r>
            </a:p>
          </p:txBody>
        </p:sp>
        <p:sp>
          <p:nvSpPr>
            <p:cNvPr id="104" name="文本框 103">
              <a:extLst>
                <a:ext uri="{FF2B5EF4-FFF2-40B4-BE49-F238E27FC236}">
                  <a16:creationId xmlns:a16="http://schemas.microsoft.com/office/drawing/2014/main" id="{0CD6EF1A-782F-54E1-F17B-43427B1691B2}"/>
                </a:ext>
              </a:extLst>
            </p:cNvPr>
            <p:cNvSpPr txBox="1"/>
            <p:nvPr/>
          </p:nvSpPr>
          <p:spPr>
            <a:xfrm>
              <a:off x="6591924" y="3509131"/>
              <a:ext cx="604922" cy="215444"/>
            </a:xfrm>
            <a:prstGeom prst="rect">
              <a:avLst/>
            </a:prstGeom>
            <a:noFill/>
          </p:spPr>
          <p:txBody>
            <a:bodyPr wrap="square">
              <a:spAutoFit/>
            </a:bodyPr>
            <a:lstStyle/>
            <a:p>
              <a:r>
                <a:rPr lang="zh-CN" altLang="en-US" sz="800" b="1" dirty="0">
                  <a:latin typeface="Times New Roman" panose="02020603050405020304" pitchFamily="18" charset="0"/>
                  <a:cs typeface="Times New Roman" panose="02020603050405020304" pitchFamily="18" charset="0"/>
                </a:rPr>
                <a:t>业务流量</a:t>
              </a:r>
              <a:endParaRPr lang="en-US" altLang="zh-CN" sz="800" b="1" dirty="0">
                <a:latin typeface="Times New Roman" panose="02020603050405020304" pitchFamily="18" charset="0"/>
                <a:cs typeface="Times New Roman" panose="02020603050405020304" pitchFamily="18" charset="0"/>
              </a:endParaRPr>
            </a:p>
          </p:txBody>
        </p:sp>
        <p:sp>
          <p:nvSpPr>
            <p:cNvPr id="105" name="文本框 104">
              <a:extLst>
                <a:ext uri="{FF2B5EF4-FFF2-40B4-BE49-F238E27FC236}">
                  <a16:creationId xmlns:a16="http://schemas.microsoft.com/office/drawing/2014/main" id="{B9765A7A-C4F7-3584-A4B0-306EF482BB16}"/>
                </a:ext>
              </a:extLst>
            </p:cNvPr>
            <p:cNvSpPr txBox="1"/>
            <p:nvPr/>
          </p:nvSpPr>
          <p:spPr>
            <a:xfrm>
              <a:off x="7296190" y="3514124"/>
              <a:ext cx="739889" cy="215444"/>
            </a:xfrm>
            <a:prstGeom prst="rect">
              <a:avLst/>
            </a:prstGeom>
            <a:noFill/>
          </p:spPr>
          <p:txBody>
            <a:bodyPr wrap="square">
              <a:spAutoFit/>
            </a:bodyPr>
            <a:lstStyle/>
            <a:p>
              <a:r>
                <a:rPr lang="zh-CN" altLang="en-US" sz="800" b="1" dirty="0">
                  <a:latin typeface="Times New Roman" panose="02020603050405020304" pitchFamily="18" charset="0"/>
                  <a:cs typeface="Times New Roman" panose="02020603050405020304" pitchFamily="18" charset="0"/>
                </a:rPr>
                <a:t>未覆盖前缀</a:t>
              </a:r>
              <a:endParaRPr lang="en-US" altLang="zh-CN" sz="800" b="1" dirty="0">
                <a:latin typeface="Times New Roman" panose="02020603050405020304" pitchFamily="18" charset="0"/>
                <a:cs typeface="Times New Roman" panose="02020603050405020304" pitchFamily="18" charset="0"/>
              </a:endParaRPr>
            </a:p>
          </p:txBody>
        </p:sp>
      </p:grpSp>
      <p:grpSp>
        <p:nvGrpSpPr>
          <p:cNvPr id="153" name="组合 152">
            <a:extLst>
              <a:ext uri="{FF2B5EF4-FFF2-40B4-BE49-F238E27FC236}">
                <a16:creationId xmlns:a16="http://schemas.microsoft.com/office/drawing/2014/main" id="{80A6CD02-D6AA-9C30-C6A3-3E12A5FF0AED}"/>
              </a:ext>
            </a:extLst>
          </p:cNvPr>
          <p:cNvGrpSpPr/>
          <p:nvPr/>
        </p:nvGrpSpPr>
        <p:grpSpPr>
          <a:xfrm>
            <a:off x="5692516" y="4547247"/>
            <a:ext cx="3780291" cy="749194"/>
            <a:chOff x="5692516" y="4547247"/>
            <a:chExt cx="3780291" cy="749194"/>
          </a:xfrm>
        </p:grpSpPr>
        <p:grpSp>
          <p:nvGrpSpPr>
            <p:cNvPr id="152" name="组合 151">
              <a:extLst>
                <a:ext uri="{FF2B5EF4-FFF2-40B4-BE49-F238E27FC236}">
                  <a16:creationId xmlns:a16="http://schemas.microsoft.com/office/drawing/2014/main" id="{E656CA99-102D-6DD9-5731-46B56FF2D00D}"/>
                </a:ext>
              </a:extLst>
            </p:cNvPr>
            <p:cNvGrpSpPr/>
            <p:nvPr/>
          </p:nvGrpSpPr>
          <p:grpSpPr>
            <a:xfrm>
              <a:off x="5692516" y="4566769"/>
              <a:ext cx="3780291" cy="729672"/>
              <a:chOff x="5692516" y="4566769"/>
              <a:chExt cx="3780291" cy="729672"/>
            </a:xfrm>
          </p:grpSpPr>
          <p:grpSp>
            <p:nvGrpSpPr>
              <p:cNvPr id="151" name="组合 150">
                <a:extLst>
                  <a:ext uri="{FF2B5EF4-FFF2-40B4-BE49-F238E27FC236}">
                    <a16:creationId xmlns:a16="http://schemas.microsoft.com/office/drawing/2014/main" id="{484001CC-A04E-D095-5793-B1198C072113}"/>
                  </a:ext>
                </a:extLst>
              </p:cNvPr>
              <p:cNvGrpSpPr/>
              <p:nvPr/>
            </p:nvGrpSpPr>
            <p:grpSpPr>
              <a:xfrm>
                <a:off x="5692516" y="4566769"/>
                <a:ext cx="3780291" cy="729672"/>
                <a:chOff x="5692516" y="4566769"/>
                <a:chExt cx="3780291" cy="729672"/>
              </a:xfrm>
            </p:grpSpPr>
            <p:sp>
              <p:nvSpPr>
                <p:cNvPr id="93" name="圆角矩形 92">
                  <a:extLst>
                    <a:ext uri="{FF2B5EF4-FFF2-40B4-BE49-F238E27FC236}">
                      <a16:creationId xmlns:a16="http://schemas.microsoft.com/office/drawing/2014/main" id="{CD50D549-AB38-59F0-3C59-D4DCE2B941B2}"/>
                    </a:ext>
                  </a:extLst>
                </p:cNvPr>
                <p:cNvSpPr/>
                <p:nvPr/>
              </p:nvSpPr>
              <p:spPr>
                <a:xfrm>
                  <a:off x="5692516" y="4566769"/>
                  <a:ext cx="3780291" cy="729672"/>
                </a:xfrm>
                <a:prstGeom prst="roundRect">
                  <a:avLst/>
                </a:prstGeom>
                <a:solidFill>
                  <a:schemeClr val="bg1"/>
                </a:solidFill>
                <a:ln w="15875">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900" b="1" dirty="0">
                      <a:latin typeface="Times New Roman Bold" panose="02020603050405020304" charset="0"/>
                      <a:cs typeface="Times New Roman Bold" panose="02020603050405020304" charset="0"/>
                    </a:rPr>
                    <a:t>5. Investigate</a:t>
                  </a:r>
                </a:p>
              </p:txBody>
            </p:sp>
            <p:cxnSp>
              <p:nvCxnSpPr>
                <p:cNvPr id="94" name="直线连接符 93">
                  <a:extLst>
                    <a:ext uri="{FF2B5EF4-FFF2-40B4-BE49-F238E27FC236}">
                      <a16:creationId xmlns:a16="http://schemas.microsoft.com/office/drawing/2014/main" id="{F681D3F3-250B-1DBB-6962-5BD4E98A93D9}"/>
                    </a:ext>
                  </a:extLst>
                </p:cNvPr>
                <p:cNvCxnSpPr/>
                <p:nvPr/>
              </p:nvCxnSpPr>
              <p:spPr>
                <a:xfrm>
                  <a:off x="5692516" y="4774771"/>
                  <a:ext cx="3780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8" name="圆角矩形 97">
                <a:extLst>
                  <a:ext uri="{FF2B5EF4-FFF2-40B4-BE49-F238E27FC236}">
                    <a16:creationId xmlns:a16="http://schemas.microsoft.com/office/drawing/2014/main" id="{5A62FF6D-B784-8194-52D1-4364F7B320E9}"/>
                  </a:ext>
                </a:extLst>
              </p:cNvPr>
              <p:cNvSpPr/>
              <p:nvPr/>
            </p:nvSpPr>
            <p:spPr>
              <a:xfrm>
                <a:off x="5934584" y="4866026"/>
                <a:ext cx="1219740" cy="290190"/>
              </a:xfrm>
              <a:prstGeom prst="round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latin typeface="Times New Roman" panose="02020603050405020304" pitchFamily="18" charset="0"/>
                    <a:cs typeface="Times New Roman" panose="02020603050405020304" pitchFamily="18" charset="0"/>
                  </a:rPr>
                  <a:t>地址选择和收敛</a:t>
                </a:r>
              </a:p>
            </p:txBody>
          </p:sp>
          <p:sp>
            <p:nvSpPr>
              <p:cNvPr id="99" name="圆角矩形 98">
                <a:extLst>
                  <a:ext uri="{FF2B5EF4-FFF2-40B4-BE49-F238E27FC236}">
                    <a16:creationId xmlns:a16="http://schemas.microsoft.com/office/drawing/2014/main" id="{44595456-831C-0E96-0CA5-98AF9939BD28}"/>
                  </a:ext>
                </a:extLst>
              </p:cNvPr>
              <p:cNvSpPr/>
              <p:nvPr/>
            </p:nvSpPr>
            <p:spPr>
              <a:xfrm>
                <a:off x="7963458" y="4878643"/>
                <a:ext cx="1219740" cy="290190"/>
              </a:xfrm>
              <a:prstGeom prst="round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latin typeface="Times New Roman" panose="02020603050405020304" pitchFamily="18" charset="0"/>
                    <a:cs typeface="Times New Roman" panose="02020603050405020304" pitchFamily="18" charset="0"/>
                  </a:rPr>
                  <a:t>互联网实时探测</a:t>
                </a:r>
              </a:p>
            </p:txBody>
          </p:sp>
          <p:sp>
            <p:nvSpPr>
              <p:cNvPr id="148" name="右箭头 147">
                <a:extLst>
                  <a:ext uri="{FF2B5EF4-FFF2-40B4-BE49-F238E27FC236}">
                    <a16:creationId xmlns:a16="http://schemas.microsoft.com/office/drawing/2014/main" id="{67546B47-242C-6C79-ACCC-2F7217EEFB9D}"/>
                  </a:ext>
                </a:extLst>
              </p:cNvPr>
              <p:cNvSpPr/>
              <p:nvPr>
                <p:custDataLst>
                  <p:tags r:id="rId42"/>
                </p:custDataLst>
              </p:nvPr>
            </p:nvSpPr>
            <p:spPr>
              <a:xfrm>
                <a:off x="7359951" y="4946443"/>
                <a:ext cx="375285" cy="133985"/>
              </a:xfrm>
              <a:prstGeom prst="rightArrow">
                <a:avLst/>
              </a:prstGeom>
              <a:solidFill>
                <a:schemeClr val="accent3">
                  <a:lumMod val="5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grpSp>
        <p:sp>
          <p:nvSpPr>
            <p:cNvPr id="150" name="文本框 149">
              <a:extLst>
                <a:ext uri="{FF2B5EF4-FFF2-40B4-BE49-F238E27FC236}">
                  <a16:creationId xmlns:a16="http://schemas.microsoft.com/office/drawing/2014/main" id="{5EA63E3A-85C9-51E9-C399-3DF6444DD107}"/>
                </a:ext>
              </a:extLst>
            </p:cNvPr>
            <p:cNvSpPr txBox="1"/>
            <p:nvPr/>
          </p:nvSpPr>
          <p:spPr>
            <a:xfrm>
              <a:off x="6991800" y="4547247"/>
              <a:ext cx="1098196" cy="230832"/>
            </a:xfrm>
            <a:prstGeom prst="rect">
              <a:avLst/>
            </a:prstGeom>
            <a:noFill/>
          </p:spPr>
          <p:txBody>
            <a:bodyPr wrap="square">
              <a:spAutoFit/>
            </a:bodyPr>
            <a:lstStyle/>
            <a:p>
              <a:r>
                <a:rPr lang="en-US" altLang="zh-CN" sz="900" b="1" dirty="0">
                  <a:latin typeface="Times New Roman Bold" panose="02020603050405020304" charset="0"/>
                  <a:cs typeface="Times New Roman Bold" panose="02020603050405020304" charset="0"/>
                </a:rPr>
                <a:t>4. </a:t>
              </a:r>
              <a:r>
                <a:rPr lang="zh-CN" altLang="en-US" sz="900" b="1" dirty="0">
                  <a:latin typeface="Times New Roman Bold" panose="02020603050405020304" charset="0"/>
                  <a:cs typeface="Times New Roman Bold" panose="02020603050405020304" charset="0"/>
                </a:rPr>
                <a:t>实时互联网探测</a:t>
              </a:r>
              <a:endParaRPr lang="en-US" altLang="zh-CN" sz="900" b="1" dirty="0">
                <a:latin typeface="Times New Roman Bold" panose="02020603050405020304" charset="0"/>
                <a:cs typeface="Times New Roman Bold" panose="02020603050405020304" charset="0"/>
              </a:endParaRPr>
            </a:p>
          </p:txBody>
        </p:sp>
      </p:grpSp>
      <p:grpSp>
        <p:nvGrpSpPr>
          <p:cNvPr id="124" name="组合 123">
            <a:extLst>
              <a:ext uri="{FF2B5EF4-FFF2-40B4-BE49-F238E27FC236}">
                <a16:creationId xmlns:a16="http://schemas.microsoft.com/office/drawing/2014/main" id="{FBB93874-169A-ED7B-6D78-EB748F7CF5AB}"/>
              </a:ext>
            </a:extLst>
          </p:cNvPr>
          <p:cNvGrpSpPr/>
          <p:nvPr/>
        </p:nvGrpSpPr>
        <p:grpSpPr>
          <a:xfrm>
            <a:off x="5692140" y="3617847"/>
            <a:ext cx="3787775" cy="879283"/>
            <a:chOff x="5692140" y="3753136"/>
            <a:chExt cx="3787775" cy="879283"/>
          </a:xfrm>
        </p:grpSpPr>
        <p:sp>
          <p:nvSpPr>
            <p:cNvPr id="58" name="圆角矩形 57">
              <a:extLst>
                <a:ext uri="{FF2B5EF4-FFF2-40B4-BE49-F238E27FC236}">
                  <a16:creationId xmlns:a16="http://schemas.microsoft.com/office/drawing/2014/main" id="{16283BBC-E3CA-5CA2-93E1-29B7C8F937B9}"/>
                </a:ext>
              </a:extLst>
            </p:cNvPr>
            <p:cNvSpPr/>
            <p:nvPr/>
          </p:nvSpPr>
          <p:spPr>
            <a:xfrm>
              <a:off x="5699624" y="3756276"/>
              <a:ext cx="3780291" cy="844076"/>
            </a:xfrm>
            <a:prstGeom prst="roundRect">
              <a:avLst/>
            </a:prstGeom>
            <a:solidFill>
              <a:schemeClr val="bg1"/>
            </a:solidFill>
            <a:ln w="15875">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900" b="1" dirty="0">
                  <a:latin typeface="Times New Roman" panose="02020603050405020304" pitchFamily="18" charset="0"/>
                  <a:cs typeface="Times New Roman" panose="02020603050405020304" pitchFamily="18" charset="0"/>
                </a:rPr>
                <a:t>增量学习历史信息</a:t>
              </a:r>
              <a:endParaRPr lang="en-US" altLang="zh-CN" sz="900" b="1" dirty="0">
                <a:latin typeface="Times New Roman" panose="02020603050405020304" pitchFamily="18" charset="0"/>
                <a:cs typeface="Times New Roman" panose="02020603050405020304" pitchFamily="18" charset="0"/>
              </a:endParaRPr>
            </a:p>
          </p:txBody>
        </p:sp>
        <p:grpSp>
          <p:nvGrpSpPr>
            <p:cNvPr id="72" name="组合 71">
              <a:extLst>
                <a:ext uri="{FF2B5EF4-FFF2-40B4-BE49-F238E27FC236}">
                  <a16:creationId xmlns:a16="http://schemas.microsoft.com/office/drawing/2014/main" id="{660D44DF-A261-517E-C4E8-FCABA89AB3EC}"/>
                </a:ext>
              </a:extLst>
            </p:cNvPr>
            <p:cNvGrpSpPr/>
            <p:nvPr/>
          </p:nvGrpSpPr>
          <p:grpSpPr>
            <a:xfrm>
              <a:off x="5823281" y="4008130"/>
              <a:ext cx="1006449" cy="428317"/>
              <a:chOff x="5975069" y="4598971"/>
              <a:chExt cx="1006449" cy="428317"/>
            </a:xfrm>
          </p:grpSpPr>
          <p:sp>
            <p:nvSpPr>
              <p:cNvPr id="61" name="矩形 60">
                <a:extLst>
                  <a:ext uri="{FF2B5EF4-FFF2-40B4-BE49-F238E27FC236}">
                    <a16:creationId xmlns:a16="http://schemas.microsoft.com/office/drawing/2014/main" id="{9EF7224A-641D-D2DE-531B-B779CFEF13F2}"/>
                  </a:ext>
                </a:extLst>
              </p:cNvPr>
              <p:cNvSpPr/>
              <p:nvPr/>
            </p:nvSpPr>
            <p:spPr>
              <a:xfrm>
                <a:off x="5975069" y="4598971"/>
                <a:ext cx="1005226" cy="14636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700" dirty="0">
                    <a:solidFill>
                      <a:schemeClr val="tx1"/>
                    </a:solidFill>
                    <a:latin typeface="Times New Roman" panose="02020603050405020304" pitchFamily="18" charset="0"/>
                    <a:cs typeface="Times New Roman" panose="02020603050405020304" pitchFamily="18" charset="0"/>
                  </a:rPr>
                  <a:t>2001::/32, 20251210</a:t>
                </a:r>
                <a:endParaRPr kumimoji="1" lang="zh-CN" altLang="en-US" sz="700" dirty="0">
                  <a:solidFill>
                    <a:schemeClr val="tx1"/>
                  </a:solidFill>
                  <a:latin typeface="Times New Roman" panose="02020603050405020304" pitchFamily="18" charset="0"/>
                  <a:cs typeface="Times New Roman" panose="02020603050405020304" pitchFamily="18" charset="0"/>
                </a:endParaRPr>
              </a:p>
            </p:txBody>
          </p:sp>
          <p:sp>
            <p:nvSpPr>
              <p:cNvPr id="67" name="矩形 66">
                <a:extLst>
                  <a:ext uri="{FF2B5EF4-FFF2-40B4-BE49-F238E27FC236}">
                    <a16:creationId xmlns:a16="http://schemas.microsoft.com/office/drawing/2014/main" id="{08B07647-8DC3-090C-2E54-F02E65CF498A}"/>
                  </a:ext>
                </a:extLst>
              </p:cNvPr>
              <p:cNvSpPr/>
              <p:nvPr/>
            </p:nvSpPr>
            <p:spPr>
              <a:xfrm>
                <a:off x="5976292" y="4731385"/>
                <a:ext cx="1005226" cy="14636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700" dirty="0">
                    <a:solidFill>
                      <a:schemeClr val="tx1"/>
                    </a:solidFill>
                    <a:latin typeface="Times New Roman" panose="02020603050405020304" pitchFamily="18" charset="0"/>
                    <a:cs typeface="Times New Roman" panose="02020603050405020304" pitchFamily="18" charset="0"/>
                  </a:rPr>
                  <a:t>2001::/32, 202512xx</a:t>
                </a:r>
                <a:endParaRPr kumimoji="1" lang="zh-CN" altLang="en-US" sz="700" dirty="0">
                  <a:solidFill>
                    <a:schemeClr val="tx1"/>
                  </a:solidFill>
                  <a:latin typeface="Times New Roman" panose="02020603050405020304" pitchFamily="18" charset="0"/>
                  <a:cs typeface="Times New Roman" panose="02020603050405020304" pitchFamily="18" charset="0"/>
                </a:endParaRPr>
              </a:p>
            </p:txBody>
          </p:sp>
          <p:sp>
            <p:nvSpPr>
              <p:cNvPr id="69" name="矩形 68">
                <a:extLst>
                  <a:ext uri="{FF2B5EF4-FFF2-40B4-BE49-F238E27FC236}">
                    <a16:creationId xmlns:a16="http://schemas.microsoft.com/office/drawing/2014/main" id="{E9CEF213-705F-76BC-84D7-75F78C085EAF}"/>
                  </a:ext>
                </a:extLst>
              </p:cNvPr>
              <p:cNvSpPr/>
              <p:nvPr/>
            </p:nvSpPr>
            <p:spPr>
              <a:xfrm>
                <a:off x="5975337" y="4880924"/>
                <a:ext cx="1005226" cy="14636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700" dirty="0">
                    <a:solidFill>
                      <a:schemeClr val="tx1"/>
                    </a:solidFill>
                    <a:latin typeface="Times New Roman" panose="02020603050405020304" pitchFamily="18" charset="0"/>
                    <a:cs typeface="Times New Roman" panose="02020603050405020304" pitchFamily="18" charset="0"/>
                  </a:rPr>
                  <a:t>2001::/32, 20251215</a:t>
                </a:r>
                <a:endParaRPr kumimoji="1" lang="zh-CN" altLang="en-US" sz="700" dirty="0">
                  <a:solidFill>
                    <a:schemeClr val="tx1"/>
                  </a:solidFill>
                  <a:latin typeface="Times New Roman" panose="02020603050405020304" pitchFamily="18" charset="0"/>
                  <a:cs typeface="Times New Roman" panose="02020603050405020304" pitchFamily="18" charset="0"/>
                </a:endParaRPr>
              </a:p>
            </p:txBody>
          </p:sp>
        </p:grpSp>
        <p:pic>
          <p:nvPicPr>
            <p:cNvPr id="115" name="图片 114">
              <a:extLst>
                <a:ext uri="{FF2B5EF4-FFF2-40B4-BE49-F238E27FC236}">
                  <a16:creationId xmlns:a16="http://schemas.microsoft.com/office/drawing/2014/main" id="{F24FF5F8-E30C-68D3-5C2B-4F4040AAE6A7}"/>
                </a:ext>
              </a:extLst>
            </p:cNvPr>
            <p:cNvPicPr>
              <a:picLocks noChangeAspect="1"/>
            </p:cNvPicPr>
            <p:nvPr/>
          </p:nvPicPr>
          <p:blipFill>
            <a:blip r:embed="rId58"/>
            <a:stretch>
              <a:fillRect/>
            </a:stretch>
          </p:blipFill>
          <p:spPr>
            <a:xfrm>
              <a:off x="8630445" y="4015152"/>
              <a:ext cx="602507" cy="404314"/>
            </a:xfrm>
            <a:prstGeom prst="rect">
              <a:avLst/>
            </a:prstGeom>
          </p:spPr>
        </p:pic>
        <p:pic>
          <p:nvPicPr>
            <p:cNvPr id="116" name="图片 115">
              <a:extLst>
                <a:ext uri="{FF2B5EF4-FFF2-40B4-BE49-F238E27FC236}">
                  <a16:creationId xmlns:a16="http://schemas.microsoft.com/office/drawing/2014/main" id="{780C09F2-594F-A8B0-4FC0-C8800CCAC85A}"/>
                </a:ext>
              </a:extLst>
            </p:cNvPr>
            <p:cNvPicPr>
              <a:picLocks noChangeAspect="1"/>
            </p:cNvPicPr>
            <p:nvPr/>
          </p:nvPicPr>
          <p:blipFill>
            <a:blip r:embed="rId59"/>
            <a:stretch>
              <a:fillRect/>
            </a:stretch>
          </p:blipFill>
          <p:spPr>
            <a:xfrm>
              <a:off x="7387094" y="4012860"/>
              <a:ext cx="637285" cy="378102"/>
            </a:xfrm>
            <a:prstGeom prst="rect">
              <a:avLst/>
            </a:prstGeom>
          </p:spPr>
        </p:pic>
        <p:sp>
          <p:nvSpPr>
            <p:cNvPr id="117" name="文本框 116">
              <a:extLst>
                <a:ext uri="{FF2B5EF4-FFF2-40B4-BE49-F238E27FC236}">
                  <a16:creationId xmlns:a16="http://schemas.microsoft.com/office/drawing/2014/main" id="{F2EE955D-FEED-5895-F485-6A38D8987CC8}"/>
                </a:ext>
              </a:extLst>
            </p:cNvPr>
            <p:cNvSpPr txBox="1"/>
            <p:nvPr/>
          </p:nvSpPr>
          <p:spPr>
            <a:xfrm>
              <a:off x="5811107" y="4416975"/>
              <a:ext cx="1054942" cy="215444"/>
            </a:xfrm>
            <a:prstGeom prst="rect">
              <a:avLst/>
            </a:prstGeom>
            <a:noFill/>
          </p:spPr>
          <p:txBody>
            <a:bodyPr wrap="square">
              <a:spAutoFit/>
            </a:bodyPr>
            <a:lstStyle/>
            <a:p>
              <a:r>
                <a:rPr lang="zh-CN" altLang="en-US" sz="800" b="1" dirty="0">
                  <a:latin typeface="Times New Roman" panose="02020603050405020304" pitchFamily="18" charset="0"/>
                  <a:cs typeface="Times New Roman" panose="02020603050405020304" pitchFamily="18" charset="0"/>
                </a:rPr>
                <a:t>增量学习历史信息</a:t>
              </a:r>
              <a:endParaRPr lang="en-US" altLang="zh-CN" sz="800" b="1" dirty="0">
                <a:latin typeface="Times New Roman" panose="02020603050405020304" pitchFamily="18" charset="0"/>
                <a:cs typeface="Times New Roman" panose="02020603050405020304" pitchFamily="18" charset="0"/>
              </a:endParaRPr>
            </a:p>
          </p:txBody>
        </p:sp>
        <p:sp>
          <p:nvSpPr>
            <p:cNvPr id="118" name="文本框 117">
              <a:extLst>
                <a:ext uri="{FF2B5EF4-FFF2-40B4-BE49-F238E27FC236}">
                  <a16:creationId xmlns:a16="http://schemas.microsoft.com/office/drawing/2014/main" id="{8AD92275-057B-6671-023C-AAFF59CB59D0}"/>
                </a:ext>
              </a:extLst>
            </p:cNvPr>
            <p:cNvSpPr txBox="1"/>
            <p:nvPr/>
          </p:nvSpPr>
          <p:spPr>
            <a:xfrm>
              <a:off x="7311804" y="4416975"/>
              <a:ext cx="1054942" cy="215444"/>
            </a:xfrm>
            <a:prstGeom prst="rect">
              <a:avLst/>
            </a:prstGeom>
            <a:noFill/>
          </p:spPr>
          <p:txBody>
            <a:bodyPr wrap="square">
              <a:spAutoFit/>
            </a:bodyPr>
            <a:lstStyle/>
            <a:p>
              <a:r>
                <a:rPr lang="zh-CN" altLang="en-US" sz="800" b="1" dirty="0">
                  <a:latin typeface="Times New Roman" panose="02020603050405020304" pitchFamily="18" charset="0"/>
                  <a:cs typeface="Times New Roman" panose="02020603050405020304" pitchFamily="18" charset="0"/>
                </a:rPr>
                <a:t>目标地址生成</a:t>
              </a:r>
              <a:endParaRPr lang="en-US" altLang="zh-CN" sz="800" b="1" dirty="0">
                <a:latin typeface="Times New Roman" panose="02020603050405020304" pitchFamily="18" charset="0"/>
                <a:cs typeface="Times New Roman" panose="02020603050405020304" pitchFamily="18" charset="0"/>
              </a:endParaRPr>
            </a:p>
          </p:txBody>
        </p:sp>
        <p:sp>
          <p:nvSpPr>
            <p:cNvPr id="120" name="右箭头 119">
              <a:extLst>
                <a:ext uri="{FF2B5EF4-FFF2-40B4-BE49-F238E27FC236}">
                  <a16:creationId xmlns:a16="http://schemas.microsoft.com/office/drawing/2014/main" id="{A5F0D6C6-680C-4FCE-7CEE-4FC17E2E4774}"/>
                </a:ext>
              </a:extLst>
            </p:cNvPr>
            <p:cNvSpPr/>
            <p:nvPr>
              <p:custDataLst>
                <p:tags r:id="rId40"/>
              </p:custDataLst>
            </p:nvPr>
          </p:nvSpPr>
          <p:spPr>
            <a:xfrm>
              <a:off x="8113289" y="4175947"/>
              <a:ext cx="375285" cy="133985"/>
            </a:xfrm>
            <a:prstGeom prst="rightArrow">
              <a:avLst/>
            </a:prstGeom>
            <a:solidFill>
              <a:schemeClr val="accent3">
                <a:lumMod val="5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sp>
          <p:nvSpPr>
            <p:cNvPr id="121" name="右箭头 120">
              <a:extLst>
                <a:ext uri="{FF2B5EF4-FFF2-40B4-BE49-F238E27FC236}">
                  <a16:creationId xmlns:a16="http://schemas.microsoft.com/office/drawing/2014/main" id="{D6DAAFFB-5DD3-3D30-18D5-FF3E82829B0F}"/>
                </a:ext>
              </a:extLst>
            </p:cNvPr>
            <p:cNvSpPr/>
            <p:nvPr>
              <p:custDataLst>
                <p:tags r:id="rId41"/>
              </p:custDataLst>
            </p:nvPr>
          </p:nvSpPr>
          <p:spPr>
            <a:xfrm>
              <a:off x="6911043" y="4175947"/>
              <a:ext cx="375285" cy="133985"/>
            </a:xfrm>
            <a:prstGeom prst="rightArrow">
              <a:avLst/>
            </a:prstGeom>
            <a:solidFill>
              <a:schemeClr val="accent3">
                <a:lumMod val="5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sp>
          <p:nvSpPr>
            <p:cNvPr id="122" name="文本框 121">
              <a:extLst>
                <a:ext uri="{FF2B5EF4-FFF2-40B4-BE49-F238E27FC236}">
                  <a16:creationId xmlns:a16="http://schemas.microsoft.com/office/drawing/2014/main" id="{A6DA37C3-B506-E7B8-D456-9B30237ABCDB}"/>
                </a:ext>
              </a:extLst>
            </p:cNvPr>
            <p:cNvSpPr txBox="1"/>
            <p:nvPr/>
          </p:nvSpPr>
          <p:spPr>
            <a:xfrm>
              <a:off x="6948841" y="3753136"/>
              <a:ext cx="1011187" cy="230832"/>
            </a:xfrm>
            <a:prstGeom prst="rect">
              <a:avLst/>
            </a:prstGeom>
            <a:noFill/>
          </p:spPr>
          <p:txBody>
            <a:bodyPr wrap="square">
              <a:spAutoFit/>
            </a:bodyPr>
            <a:lstStyle/>
            <a:p>
              <a:r>
                <a:rPr lang="en-US" altLang="zh-CN" sz="900" b="1" dirty="0">
                  <a:latin typeface="Times New Roman Bold" panose="02020603050405020304" charset="0"/>
                  <a:cs typeface="Times New Roman Bold" panose="02020603050405020304" charset="0"/>
                </a:rPr>
                <a:t>3. </a:t>
              </a:r>
              <a:r>
                <a:rPr lang="zh-CN" altLang="en-US" sz="900" b="1" dirty="0">
                  <a:latin typeface="Times New Roman Bold" panose="02020603050405020304" charset="0"/>
                  <a:cs typeface="Times New Roman Bold" panose="02020603050405020304" charset="0"/>
                </a:rPr>
                <a:t>活跃地址探索</a:t>
              </a:r>
              <a:endParaRPr lang="en-US" altLang="zh-CN" sz="900" b="1" dirty="0">
                <a:latin typeface="Times New Roman Bold" panose="02020603050405020304" charset="0"/>
                <a:cs typeface="Times New Roman Bold" panose="02020603050405020304" charset="0"/>
              </a:endParaRPr>
            </a:p>
          </p:txBody>
        </p:sp>
        <p:cxnSp>
          <p:nvCxnSpPr>
            <p:cNvPr id="59" name="直线连接符 58">
              <a:extLst>
                <a:ext uri="{FF2B5EF4-FFF2-40B4-BE49-F238E27FC236}">
                  <a16:creationId xmlns:a16="http://schemas.microsoft.com/office/drawing/2014/main" id="{39FC3389-3600-0805-811F-46D304F91E4E}"/>
                </a:ext>
              </a:extLst>
            </p:cNvPr>
            <p:cNvCxnSpPr>
              <a:cxnSpLocks/>
            </p:cNvCxnSpPr>
            <p:nvPr/>
          </p:nvCxnSpPr>
          <p:spPr>
            <a:xfrm>
              <a:off x="5692140" y="3958706"/>
              <a:ext cx="3780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9" name="文本框 118">
            <a:extLst>
              <a:ext uri="{FF2B5EF4-FFF2-40B4-BE49-F238E27FC236}">
                <a16:creationId xmlns:a16="http://schemas.microsoft.com/office/drawing/2014/main" id="{A95444ED-75F8-60AA-C9FF-C93D348ED51C}"/>
              </a:ext>
            </a:extLst>
          </p:cNvPr>
          <p:cNvSpPr txBox="1"/>
          <p:nvPr/>
        </p:nvSpPr>
        <p:spPr>
          <a:xfrm>
            <a:off x="8493678" y="4273706"/>
            <a:ext cx="1054942" cy="215444"/>
          </a:xfrm>
          <a:prstGeom prst="rect">
            <a:avLst/>
          </a:prstGeom>
          <a:noFill/>
        </p:spPr>
        <p:txBody>
          <a:bodyPr wrap="square">
            <a:spAutoFit/>
          </a:bodyPr>
          <a:lstStyle/>
          <a:p>
            <a:r>
              <a:rPr lang="zh-CN" altLang="en-US" sz="800" b="1" dirty="0">
                <a:latin typeface="Times New Roman" panose="02020603050405020304" pitchFamily="18" charset="0"/>
                <a:cs typeface="Times New Roman" panose="02020603050405020304" pitchFamily="18" charset="0"/>
              </a:rPr>
              <a:t>可达性探测</a:t>
            </a:r>
            <a:endParaRPr lang="en-US" altLang="zh-CN" sz="800" b="1" dirty="0">
              <a:latin typeface="Times New Roman" panose="02020603050405020304" pitchFamily="18" charset="0"/>
              <a:cs typeface="Times New Roman" panose="02020603050405020304" pitchFamily="18" charset="0"/>
            </a:endParaRPr>
          </a:p>
        </p:txBody>
      </p:sp>
      <p:sp>
        <p:nvSpPr>
          <p:cNvPr id="167" name="圆角矩形 166">
            <a:extLst>
              <a:ext uri="{FF2B5EF4-FFF2-40B4-BE49-F238E27FC236}">
                <a16:creationId xmlns:a16="http://schemas.microsoft.com/office/drawing/2014/main" id="{E5B07A99-7D67-7C74-42BA-216243B12A62}"/>
              </a:ext>
            </a:extLst>
          </p:cNvPr>
          <p:cNvSpPr/>
          <p:nvPr/>
        </p:nvSpPr>
        <p:spPr>
          <a:xfrm>
            <a:off x="5707703" y="5360630"/>
            <a:ext cx="3780291" cy="1280379"/>
          </a:xfrm>
          <a:prstGeom prst="roundRect">
            <a:avLst/>
          </a:prstGeom>
          <a:solidFill>
            <a:schemeClr val="bg1"/>
          </a:solidFill>
          <a:ln w="15875">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900" b="1" dirty="0">
                <a:latin typeface="Times New Roman Bold" panose="02020603050405020304" charset="0"/>
                <a:cs typeface="Times New Roman Bold" panose="02020603050405020304" charset="0"/>
              </a:rPr>
              <a:t>5. Investigate</a:t>
            </a:r>
          </a:p>
        </p:txBody>
      </p:sp>
      <p:cxnSp>
        <p:nvCxnSpPr>
          <p:cNvPr id="170" name="直线连接符 169">
            <a:extLst>
              <a:ext uri="{FF2B5EF4-FFF2-40B4-BE49-F238E27FC236}">
                <a16:creationId xmlns:a16="http://schemas.microsoft.com/office/drawing/2014/main" id="{5B92CC1F-B4AE-D00F-4145-7353B1D86A9F}"/>
              </a:ext>
            </a:extLst>
          </p:cNvPr>
          <p:cNvCxnSpPr>
            <a:cxnSpLocks/>
          </p:cNvCxnSpPr>
          <p:nvPr/>
        </p:nvCxnSpPr>
        <p:spPr>
          <a:xfrm>
            <a:off x="5707703" y="5568633"/>
            <a:ext cx="3780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文本框 156">
            <a:extLst>
              <a:ext uri="{FF2B5EF4-FFF2-40B4-BE49-F238E27FC236}">
                <a16:creationId xmlns:a16="http://schemas.microsoft.com/office/drawing/2014/main" id="{54295286-4AF3-2A81-C8F5-065CC1BA3125}"/>
              </a:ext>
            </a:extLst>
          </p:cNvPr>
          <p:cNvSpPr txBox="1"/>
          <p:nvPr/>
        </p:nvSpPr>
        <p:spPr>
          <a:xfrm>
            <a:off x="6941337" y="5346373"/>
            <a:ext cx="1436065" cy="230832"/>
          </a:xfrm>
          <a:prstGeom prst="rect">
            <a:avLst/>
          </a:prstGeom>
          <a:noFill/>
        </p:spPr>
        <p:txBody>
          <a:bodyPr wrap="square">
            <a:spAutoFit/>
          </a:bodyPr>
          <a:lstStyle/>
          <a:p>
            <a:r>
              <a:rPr lang="en-US" altLang="zh-CN" sz="900" b="1" dirty="0">
                <a:latin typeface="Times New Roman Bold" panose="02020603050405020304" charset="0"/>
                <a:cs typeface="Times New Roman Bold" panose="02020603050405020304" charset="0"/>
              </a:rPr>
              <a:t>5. </a:t>
            </a:r>
            <a:r>
              <a:rPr lang="zh-CN" altLang="en-US" sz="900" b="1" dirty="0">
                <a:latin typeface="Times New Roman Bold" panose="02020603050405020304" charset="0"/>
                <a:cs typeface="Times New Roman Bold" panose="02020603050405020304" charset="0"/>
              </a:rPr>
              <a:t>异常检测和故障分析</a:t>
            </a:r>
            <a:endParaRPr lang="en-US" altLang="zh-CN" sz="900" b="1" dirty="0">
              <a:latin typeface="Times New Roman Bold" panose="02020603050405020304" charset="0"/>
              <a:cs typeface="Times New Roman Bold" panose="02020603050405020304" charset="0"/>
            </a:endParaRPr>
          </a:p>
        </p:txBody>
      </p:sp>
      <p:pic>
        <p:nvPicPr>
          <p:cNvPr id="90" name="图片 89">
            <a:extLst>
              <a:ext uri="{FF2B5EF4-FFF2-40B4-BE49-F238E27FC236}">
                <a16:creationId xmlns:a16="http://schemas.microsoft.com/office/drawing/2014/main" id="{C04EA1DE-1958-1EBF-8F46-D32FB19BB733}"/>
              </a:ext>
            </a:extLst>
          </p:cNvPr>
          <p:cNvPicPr>
            <a:picLocks noChangeAspect="1"/>
          </p:cNvPicPr>
          <p:nvPr/>
        </p:nvPicPr>
        <p:blipFill>
          <a:blip r:embed="rId60"/>
          <a:stretch>
            <a:fillRect/>
          </a:stretch>
        </p:blipFill>
        <p:spPr>
          <a:xfrm>
            <a:off x="7247950" y="5622200"/>
            <a:ext cx="2105962" cy="920509"/>
          </a:xfrm>
          <a:prstGeom prst="rect">
            <a:avLst/>
          </a:prstGeom>
        </p:spPr>
      </p:pic>
      <p:pic>
        <p:nvPicPr>
          <p:cNvPr id="91" name="图片 90">
            <a:extLst>
              <a:ext uri="{FF2B5EF4-FFF2-40B4-BE49-F238E27FC236}">
                <a16:creationId xmlns:a16="http://schemas.microsoft.com/office/drawing/2014/main" id="{79BDBA7E-CA55-5B9B-B74D-15C8575D7F72}"/>
              </a:ext>
            </a:extLst>
          </p:cNvPr>
          <p:cNvPicPr>
            <a:picLocks noChangeAspect="1"/>
          </p:cNvPicPr>
          <p:nvPr/>
        </p:nvPicPr>
        <p:blipFill>
          <a:blip r:embed="rId61"/>
          <a:stretch>
            <a:fillRect/>
          </a:stretch>
        </p:blipFill>
        <p:spPr>
          <a:xfrm>
            <a:off x="5838824" y="5612374"/>
            <a:ext cx="1341272" cy="1008123"/>
          </a:xfrm>
          <a:prstGeom prst="rect">
            <a:avLst/>
          </a:prstGeom>
        </p:spPr>
      </p:pic>
      <p:grpSp>
        <p:nvGrpSpPr>
          <p:cNvPr id="174" name="组合 173">
            <a:extLst>
              <a:ext uri="{FF2B5EF4-FFF2-40B4-BE49-F238E27FC236}">
                <a16:creationId xmlns:a16="http://schemas.microsoft.com/office/drawing/2014/main" id="{88FA4ACF-6BC9-FADB-46A1-F8FD2079B901}"/>
              </a:ext>
            </a:extLst>
          </p:cNvPr>
          <p:cNvGrpSpPr/>
          <p:nvPr/>
        </p:nvGrpSpPr>
        <p:grpSpPr>
          <a:xfrm>
            <a:off x="8535421" y="2681500"/>
            <a:ext cx="762826" cy="854393"/>
            <a:chOff x="8578910" y="2675340"/>
            <a:chExt cx="762826" cy="854393"/>
          </a:xfrm>
        </p:grpSpPr>
        <p:sp>
          <p:nvSpPr>
            <p:cNvPr id="50" name="圆角矩形 49">
              <a:extLst>
                <a:ext uri="{FF2B5EF4-FFF2-40B4-BE49-F238E27FC236}">
                  <a16:creationId xmlns:a16="http://schemas.microsoft.com/office/drawing/2014/main" id="{2BA4DCED-828E-AE9A-67EB-9F7321B4F00D}"/>
                </a:ext>
              </a:extLst>
            </p:cNvPr>
            <p:cNvSpPr/>
            <p:nvPr/>
          </p:nvSpPr>
          <p:spPr>
            <a:xfrm>
              <a:off x="8579664" y="2680149"/>
              <a:ext cx="732463" cy="849584"/>
            </a:xfrm>
            <a:prstGeom prst="roundRect">
              <a:avLst/>
            </a:prstGeom>
            <a:solidFill>
              <a:schemeClr val="bg1"/>
            </a:solidFill>
            <a:ln w="15875">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900" b="1" dirty="0">
                  <a:latin typeface="Times New Roman Bold" panose="02020603050405020304" charset="0"/>
                  <a:cs typeface="Times New Roman Bold" panose="02020603050405020304" charset="0"/>
                </a:rPr>
                <a:t>5. Investigate</a:t>
              </a:r>
            </a:p>
          </p:txBody>
        </p:sp>
        <p:pic>
          <p:nvPicPr>
            <p:cNvPr id="56" name="图片 55">
              <a:extLst>
                <a:ext uri="{FF2B5EF4-FFF2-40B4-BE49-F238E27FC236}">
                  <a16:creationId xmlns:a16="http://schemas.microsoft.com/office/drawing/2014/main" id="{EEDD6B83-83E7-5ABF-DB5C-336455EA0473}"/>
                </a:ext>
              </a:extLst>
            </p:cNvPr>
            <p:cNvPicPr>
              <a:picLocks noChangeAspect="1"/>
            </p:cNvPicPr>
            <p:nvPr/>
          </p:nvPicPr>
          <p:blipFill>
            <a:blip r:embed="rId62">
              <a:extLst>
                <a:ext uri="{28A0092B-C50C-407E-A947-70E740481C1C}">
                  <a14:useLocalDpi xmlns:a14="http://schemas.microsoft.com/office/drawing/2010/main" val="0"/>
                </a:ext>
              </a:extLst>
            </a:blip>
            <a:stretch>
              <a:fillRect/>
            </a:stretch>
          </p:blipFill>
          <p:spPr>
            <a:xfrm>
              <a:off x="8763316" y="3003569"/>
              <a:ext cx="406400" cy="406400"/>
            </a:xfrm>
            <a:prstGeom prst="rect">
              <a:avLst/>
            </a:prstGeom>
          </p:spPr>
        </p:pic>
        <p:sp>
          <p:nvSpPr>
            <p:cNvPr id="112" name="文本框 111">
              <a:extLst>
                <a:ext uri="{FF2B5EF4-FFF2-40B4-BE49-F238E27FC236}">
                  <a16:creationId xmlns:a16="http://schemas.microsoft.com/office/drawing/2014/main" id="{80BA0F25-E784-A920-5737-D6A343C01680}"/>
                </a:ext>
              </a:extLst>
            </p:cNvPr>
            <p:cNvSpPr txBox="1"/>
            <p:nvPr/>
          </p:nvSpPr>
          <p:spPr>
            <a:xfrm>
              <a:off x="8578910" y="2675340"/>
              <a:ext cx="762826" cy="230832"/>
            </a:xfrm>
            <a:prstGeom prst="rect">
              <a:avLst/>
            </a:prstGeom>
            <a:noFill/>
          </p:spPr>
          <p:txBody>
            <a:bodyPr wrap="square">
              <a:spAutoFit/>
            </a:bodyPr>
            <a:lstStyle/>
            <a:p>
              <a:r>
                <a:rPr lang="en-US" altLang="zh-CN" sz="900" b="1" dirty="0">
                  <a:latin typeface="Times New Roman Bold" panose="02020603050405020304" charset="0"/>
                  <a:cs typeface="Times New Roman Bold" panose="02020603050405020304" charset="0"/>
                </a:rPr>
                <a:t>3. </a:t>
              </a:r>
              <a:r>
                <a:rPr lang="zh-CN" altLang="en-US" sz="900" b="1" dirty="0">
                  <a:latin typeface="Times New Roman Bold" panose="02020603050405020304" charset="0"/>
                  <a:cs typeface="Times New Roman Bold" panose="02020603050405020304" charset="0"/>
                </a:rPr>
                <a:t>模式迁移</a:t>
              </a:r>
              <a:endParaRPr lang="en-US" altLang="zh-CN" sz="900" b="1" dirty="0">
                <a:latin typeface="Times New Roman Bold" panose="02020603050405020304" charset="0"/>
                <a:cs typeface="Times New Roman Bold" panose="02020603050405020304" charset="0"/>
              </a:endParaRPr>
            </a:p>
          </p:txBody>
        </p:sp>
        <p:cxnSp>
          <p:nvCxnSpPr>
            <p:cNvPr id="51" name="直线连接符 50">
              <a:extLst>
                <a:ext uri="{FF2B5EF4-FFF2-40B4-BE49-F238E27FC236}">
                  <a16:creationId xmlns:a16="http://schemas.microsoft.com/office/drawing/2014/main" id="{33F6C72C-F827-0A7D-A4C1-14F461D2E42C}"/>
                </a:ext>
              </a:extLst>
            </p:cNvPr>
            <p:cNvCxnSpPr/>
            <p:nvPr/>
          </p:nvCxnSpPr>
          <p:spPr>
            <a:xfrm>
              <a:off x="8588408" y="2895284"/>
              <a:ext cx="73246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78" name="图片 177">
            <a:extLst>
              <a:ext uri="{FF2B5EF4-FFF2-40B4-BE49-F238E27FC236}">
                <a16:creationId xmlns:a16="http://schemas.microsoft.com/office/drawing/2014/main" id="{3EA505D8-A01B-4AC0-8E02-283A70E8F81A}"/>
              </a:ext>
            </a:extLst>
          </p:cNvPr>
          <p:cNvPicPr>
            <a:picLocks noChangeAspect="1"/>
          </p:cNvPicPr>
          <p:nvPr/>
        </p:nvPicPr>
        <p:blipFill>
          <a:blip r:embed="rId63">
            <a:extLst>
              <a:ext uri="{28A0092B-C50C-407E-A947-70E740481C1C}">
                <a14:useLocalDpi xmlns:a14="http://schemas.microsoft.com/office/drawing/2010/main" val="0"/>
              </a:ext>
            </a:extLst>
          </a:blip>
          <a:stretch>
            <a:fillRect/>
          </a:stretch>
        </p:blipFill>
        <p:spPr>
          <a:xfrm>
            <a:off x="2581423" y="3020989"/>
            <a:ext cx="431800" cy="2260600"/>
          </a:xfrm>
          <a:prstGeom prst="rect">
            <a:avLst/>
          </a:prstGeom>
        </p:spPr>
      </p:pic>
      <p:sp>
        <p:nvSpPr>
          <p:cNvPr id="179" name="右箭头 178">
            <a:extLst>
              <a:ext uri="{FF2B5EF4-FFF2-40B4-BE49-F238E27FC236}">
                <a16:creationId xmlns:a16="http://schemas.microsoft.com/office/drawing/2014/main" id="{730BD8DA-4889-5E9F-268E-346980C2B183}"/>
              </a:ext>
            </a:extLst>
          </p:cNvPr>
          <p:cNvSpPr/>
          <p:nvPr>
            <p:custDataLst>
              <p:tags r:id="rId38"/>
            </p:custDataLst>
          </p:nvPr>
        </p:nvSpPr>
        <p:spPr>
          <a:xfrm>
            <a:off x="3028190" y="4019867"/>
            <a:ext cx="375285" cy="133985"/>
          </a:xfrm>
          <a:prstGeom prst="rightArrow">
            <a:avLst/>
          </a:prstGeom>
          <a:solidFill>
            <a:schemeClr val="accent3">
              <a:lumMod val="5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sp>
        <p:nvSpPr>
          <p:cNvPr id="180" name="文本框 179">
            <a:extLst>
              <a:ext uri="{FF2B5EF4-FFF2-40B4-BE49-F238E27FC236}">
                <a16:creationId xmlns:a16="http://schemas.microsoft.com/office/drawing/2014/main" id="{1EAE2716-FDED-C191-8477-B476C5F3D79C}"/>
              </a:ext>
            </a:extLst>
          </p:cNvPr>
          <p:cNvSpPr txBox="1"/>
          <p:nvPr/>
        </p:nvSpPr>
        <p:spPr>
          <a:xfrm>
            <a:off x="2519712" y="3510125"/>
            <a:ext cx="604922" cy="215444"/>
          </a:xfrm>
          <a:prstGeom prst="rect">
            <a:avLst/>
          </a:prstGeom>
          <a:noFill/>
        </p:spPr>
        <p:txBody>
          <a:bodyPr wrap="square">
            <a:spAutoFit/>
          </a:bodyPr>
          <a:lstStyle/>
          <a:p>
            <a:r>
              <a:rPr lang="en-US" altLang="zh-CN" sz="800" b="1" dirty="0">
                <a:latin typeface="Times New Roman" panose="02020603050405020304" pitchFamily="18" charset="0"/>
                <a:cs typeface="Times New Roman" panose="02020603050405020304" pitchFamily="18" charset="0"/>
              </a:rPr>
              <a:t>DNS</a:t>
            </a:r>
            <a:r>
              <a:rPr lang="zh-CN" altLang="en-US" sz="800" b="1" dirty="0">
                <a:latin typeface="Times New Roman" panose="02020603050405020304" pitchFamily="18" charset="0"/>
                <a:cs typeface="Times New Roman" panose="02020603050405020304" pitchFamily="18" charset="0"/>
              </a:rPr>
              <a:t>解析</a:t>
            </a:r>
            <a:endParaRPr lang="en-US" altLang="zh-CN" sz="800" b="1" dirty="0">
              <a:latin typeface="Times New Roman" panose="02020603050405020304" pitchFamily="18" charset="0"/>
              <a:cs typeface="Times New Roman" panose="02020603050405020304" pitchFamily="18" charset="0"/>
            </a:endParaRPr>
          </a:p>
        </p:txBody>
      </p:sp>
      <p:sp>
        <p:nvSpPr>
          <p:cNvPr id="181" name="文本框 180">
            <a:extLst>
              <a:ext uri="{FF2B5EF4-FFF2-40B4-BE49-F238E27FC236}">
                <a16:creationId xmlns:a16="http://schemas.microsoft.com/office/drawing/2014/main" id="{A4097976-6606-3FFD-14C8-915BF63306FB}"/>
              </a:ext>
            </a:extLst>
          </p:cNvPr>
          <p:cNvSpPr txBox="1"/>
          <p:nvPr/>
        </p:nvSpPr>
        <p:spPr>
          <a:xfrm>
            <a:off x="2436403" y="4313814"/>
            <a:ext cx="850815" cy="215444"/>
          </a:xfrm>
          <a:prstGeom prst="rect">
            <a:avLst/>
          </a:prstGeom>
          <a:noFill/>
        </p:spPr>
        <p:txBody>
          <a:bodyPr wrap="square">
            <a:spAutoFit/>
          </a:bodyPr>
          <a:lstStyle/>
          <a:p>
            <a:r>
              <a:rPr lang="zh-CN" altLang="en-US" sz="800" b="1" dirty="0">
                <a:latin typeface="Times New Roman" panose="02020603050405020304" pitchFamily="18" charset="0"/>
                <a:cs typeface="Times New Roman" panose="02020603050405020304" pitchFamily="18" charset="0"/>
              </a:rPr>
              <a:t>开源数据下载</a:t>
            </a:r>
            <a:endParaRPr lang="en-US" altLang="zh-CN" sz="800" b="1" dirty="0">
              <a:latin typeface="Times New Roman" panose="02020603050405020304" pitchFamily="18" charset="0"/>
              <a:cs typeface="Times New Roman" panose="02020603050405020304" pitchFamily="18" charset="0"/>
            </a:endParaRPr>
          </a:p>
        </p:txBody>
      </p:sp>
      <p:sp>
        <p:nvSpPr>
          <p:cNvPr id="182" name="文本框 181">
            <a:extLst>
              <a:ext uri="{FF2B5EF4-FFF2-40B4-BE49-F238E27FC236}">
                <a16:creationId xmlns:a16="http://schemas.microsoft.com/office/drawing/2014/main" id="{D460D13A-D9B3-D16F-8B81-5BD2E5AF26EF}"/>
              </a:ext>
            </a:extLst>
          </p:cNvPr>
          <p:cNvSpPr txBox="1"/>
          <p:nvPr/>
        </p:nvSpPr>
        <p:spPr>
          <a:xfrm>
            <a:off x="2394035" y="5172823"/>
            <a:ext cx="850815" cy="215444"/>
          </a:xfrm>
          <a:prstGeom prst="rect">
            <a:avLst/>
          </a:prstGeom>
          <a:noFill/>
        </p:spPr>
        <p:txBody>
          <a:bodyPr wrap="square">
            <a:spAutoFit/>
          </a:bodyPr>
          <a:lstStyle/>
          <a:p>
            <a:r>
              <a:rPr lang="zh-CN" altLang="en-US" sz="800" b="1" dirty="0">
                <a:latin typeface="Times New Roman" panose="02020603050405020304" pitchFamily="18" charset="0"/>
                <a:cs typeface="Times New Roman" panose="02020603050405020304" pitchFamily="18" charset="0"/>
              </a:rPr>
              <a:t>业务流量测量</a:t>
            </a:r>
            <a:endParaRPr lang="en-US" altLang="zh-CN" sz="800" b="1" dirty="0">
              <a:latin typeface="Times New Roman" panose="02020603050405020304" pitchFamily="18" charset="0"/>
              <a:cs typeface="Times New Roman" panose="02020603050405020304" pitchFamily="18" charset="0"/>
            </a:endParaRPr>
          </a:p>
        </p:txBody>
      </p:sp>
      <p:sp>
        <p:nvSpPr>
          <p:cNvPr id="183" name="右箭头 182">
            <a:extLst>
              <a:ext uri="{FF2B5EF4-FFF2-40B4-BE49-F238E27FC236}">
                <a16:creationId xmlns:a16="http://schemas.microsoft.com/office/drawing/2014/main" id="{755B77E3-1DE8-F017-6A51-5CF96E633C62}"/>
              </a:ext>
            </a:extLst>
          </p:cNvPr>
          <p:cNvSpPr/>
          <p:nvPr>
            <p:custDataLst>
              <p:tags r:id="rId39"/>
            </p:custDataLst>
          </p:nvPr>
        </p:nvSpPr>
        <p:spPr>
          <a:xfrm>
            <a:off x="9626600" y="4020294"/>
            <a:ext cx="375285" cy="133985"/>
          </a:xfrm>
          <a:prstGeom prst="rightArrow">
            <a:avLst/>
          </a:prstGeom>
          <a:solidFill>
            <a:schemeClr val="accent3">
              <a:lumMod val="5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p>
        </p:txBody>
      </p:sp>
      <p:sp>
        <p:nvSpPr>
          <p:cNvPr id="184" name="文本框 183">
            <a:extLst>
              <a:ext uri="{FF2B5EF4-FFF2-40B4-BE49-F238E27FC236}">
                <a16:creationId xmlns:a16="http://schemas.microsoft.com/office/drawing/2014/main" id="{6C4A19E1-97D3-89E1-3B2E-C3AF0BBBB625}"/>
              </a:ext>
            </a:extLst>
          </p:cNvPr>
          <p:cNvSpPr txBox="1"/>
          <p:nvPr/>
        </p:nvSpPr>
        <p:spPr>
          <a:xfrm>
            <a:off x="2421667" y="6574723"/>
            <a:ext cx="2982539" cy="246221"/>
          </a:xfrm>
          <a:prstGeom prst="rect">
            <a:avLst/>
          </a:prstGeom>
          <a:noFill/>
        </p:spPr>
        <p:txBody>
          <a:bodyPr wrap="square">
            <a:spAutoFit/>
          </a:bodyPr>
          <a:lstStyle/>
          <a:p>
            <a:r>
              <a:rPr lang="en-US" altLang="zh-CN" sz="1000" dirty="0">
                <a:latin typeface="Times New Roman" panose="02020603050405020304" pitchFamily="18" charset="0"/>
                <a:cs typeface="Times New Roman" panose="02020603050405020304" pitchFamily="18" charset="0"/>
              </a:rPr>
              <a:t>Top</a:t>
            </a:r>
            <a:r>
              <a:rPr lang="zh-CN" altLang="en-US" sz="1000" dirty="0">
                <a:latin typeface="Times New Roman" panose="02020603050405020304" pitchFamily="18" charset="0"/>
                <a:cs typeface="Times New Roman" panose="02020603050405020304" pitchFamily="18" charset="0"/>
              </a:rPr>
              <a:t> </a:t>
            </a:r>
            <a:r>
              <a:rPr lang="en-US" altLang="zh-CN" sz="1000" dirty="0">
                <a:latin typeface="Times New Roman" panose="02020603050405020304" pitchFamily="18" charset="0"/>
                <a:cs typeface="Times New Roman" panose="02020603050405020304" pitchFamily="18" charset="0"/>
              </a:rPr>
              <a:t>ASN</a:t>
            </a:r>
            <a:r>
              <a:rPr lang="zh-CN" altLang="en-US" sz="1000" dirty="0">
                <a:latin typeface="Times New Roman" panose="02020603050405020304" pitchFamily="18" charset="0"/>
                <a:cs typeface="Times New Roman" panose="02020603050405020304" pitchFamily="18" charset="0"/>
              </a:rPr>
              <a:t>：不同国家的</a:t>
            </a:r>
            <a:r>
              <a:rPr lang="en-US" altLang="zh-CN" sz="1000" dirty="0">
                <a:latin typeface="Times New Roman" panose="02020603050405020304" pitchFamily="18" charset="0"/>
                <a:cs typeface="Times New Roman" panose="02020603050405020304" pitchFamily="18" charset="0"/>
              </a:rPr>
              <a:t>Top3</a:t>
            </a:r>
            <a:r>
              <a:rPr lang="zh-CN" altLang="en-US" sz="1000" dirty="0">
                <a:latin typeface="Times New Roman" panose="02020603050405020304" pitchFamily="18" charset="0"/>
                <a:cs typeface="Times New Roman" panose="02020603050405020304" pitchFamily="18" charset="0"/>
              </a:rPr>
              <a:t> 固定网</a:t>
            </a:r>
            <a:r>
              <a:rPr lang="en-US" altLang="zh-CN" sz="1000" dirty="0">
                <a:latin typeface="Times New Roman" panose="02020603050405020304" pitchFamily="18" charset="0"/>
                <a:cs typeface="Times New Roman" panose="02020603050405020304" pitchFamily="18" charset="0"/>
              </a:rPr>
              <a:t>&amp;Top3</a:t>
            </a:r>
            <a:r>
              <a:rPr lang="zh-CN" altLang="en-US" sz="1000" dirty="0">
                <a:latin typeface="Times New Roman" panose="02020603050405020304" pitchFamily="18" charset="0"/>
                <a:cs typeface="Times New Roman" panose="02020603050405020304" pitchFamily="18" charset="0"/>
              </a:rPr>
              <a:t>移动网</a:t>
            </a:r>
            <a:endParaRPr lang="en-US" altLang="zh-CN"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11" name="矩形 10"/>
          <p:cNvSpPr/>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16"/>
          <p:cNvSpPr/>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8" name="矩形 17"/>
          <p:cNvSpPr/>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9" name="矩形 18"/>
          <p:cNvSpPr/>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文本框 2"/>
          <p:cNvSpPr txBox="1"/>
          <p:nvPr/>
        </p:nvSpPr>
        <p:spPr>
          <a:xfrm>
            <a:off x="2892717" y="492189"/>
            <a:ext cx="6456027" cy="46037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选题背景：相关工作</a:t>
            </a: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099560" y="1684020"/>
            <a:ext cx="2548890" cy="369332"/>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一、</a:t>
            </a:r>
            <a:r>
              <a:rPr lang="en-US" altLang="zh-CN" b="1" dirty="0">
                <a:solidFill>
                  <a:srgbClr val="5E068C"/>
                </a:solidFill>
                <a:latin typeface="微软雅黑" panose="020B0503020204020204" pitchFamily="34" charset="-122"/>
                <a:ea typeface="微软雅黑" panose="020B0503020204020204" pitchFamily="34" charset="-122"/>
              </a:rPr>
              <a:t>IPv6</a:t>
            </a:r>
            <a:r>
              <a:rPr lang="zh-CN" altLang="en-US" b="1" dirty="0">
                <a:solidFill>
                  <a:srgbClr val="5E068C"/>
                </a:solidFill>
                <a:latin typeface="微软雅黑" panose="020B0503020204020204" pitchFamily="34" charset="-122"/>
                <a:ea typeface="微软雅黑" panose="020B0503020204020204" pitchFamily="34" charset="-122"/>
              </a:rPr>
              <a:t>目标地址生成</a:t>
            </a:r>
          </a:p>
        </p:txBody>
      </p:sp>
      <p:sp>
        <p:nvSpPr>
          <p:cNvPr id="28" name="文本框 27"/>
          <p:cNvSpPr txBox="1"/>
          <p:nvPr/>
        </p:nvSpPr>
        <p:spPr>
          <a:xfrm>
            <a:off x="4213225" y="2096770"/>
            <a:ext cx="6155690" cy="419730"/>
          </a:xfrm>
          <a:prstGeom prst="rect">
            <a:avLst/>
          </a:prstGeom>
          <a:noFill/>
        </p:spPr>
        <p:txBody>
          <a:bodyPr wrap="square" rtlCol="0">
            <a:spAutoFit/>
          </a:bodyPr>
          <a:lstStyle/>
          <a:p>
            <a:pPr algn="just">
              <a:lnSpc>
                <a:spcPct val="150000"/>
              </a:lnSpc>
            </a:pP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从种子地址中学习地址模式，以便生成更多</a:t>
            </a:r>
            <a:r>
              <a:rPr lang="en-US" altLang="zh-CN"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IPv6</a:t>
            </a: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地址进行网络探测</a:t>
            </a:r>
          </a:p>
        </p:txBody>
      </p:sp>
      <p:sp>
        <p:nvSpPr>
          <p:cNvPr id="46" name="文本框 45"/>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04</a:t>
            </a:r>
            <a:endParaRPr lang="zh-CN" altLang="en-US" sz="1400" dirty="0">
              <a:solidFill>
                <a:srgbClr val="5E068C"/>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3019233" y="3486248"/>
            <a:ext cx="755089" cy="755089"/>
            <a:chOff x="4442416" y="1010597"/>
            <a:chExt cx="800219" cy="800219"/>
          </a:xfrm>
        </p:grpSpPr>
        <p:sp>
          <p:nvSpPr>
            <p:cNvPr id="31" name="椭圆 30"/>
            <p:cNvSpPr/>
            <p:nvPr/>
          </p:nvSpPr>
          <p:spPr>
            <a:xfrm>
              <a:off x="4442416" y="1010597"/>
              <a:ext cx="800219" cy="800219"/>
            </a:xfrm>
            <a:prstGeom prst="ellipse">
              <a:avLst/>
            </a:prstGeom>
            <a:solidFill>
              <a:schemeClr val="bg1"/>
            </a:solidFill>
            <a:ln w="19050">
              <a:solidFill>
                <a:srgbClr val="7B2B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descr="图片包含 游戏机&#10;&#10;描述已自动生成"/>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669349" y="1224072"/>
              <a:ext cx="416627" cy="393713"/>
            </a:xfrm>
            <a:prstGeom prst="rect">
              <a:avLst/>
            </a:prstGeom>
          </p:spPr>
        </p:pic>
      </p:grpSp>
      <p:grpSp>
        <p:nvGrpSpPr>
          <p:cNvPr id="22" name="组合 21"/>
          <p:cNvGrpSpPr/>
          <p:nvPr/>
        </p:nvGrpSpPr>
        <p:grpSpPr>
          <a:xfrm>
            <a:off x="3077653" y="1900160"/>
            <a:ext cx="755089" cy="755089"/>
            <a:chOff x="4468617" y="2323574"/>
            <a:chExt cx="800219" cy="800219"/>
          </a:xfrm>
        </p:grpSpPr>
        <p:sp>
          <p:nvSpPr>
            <p:cNvPr id="33" name="椭圆 32"/>
            <p:cNvSpPr/>
            <p:nvPr/>
          </p:nvSpPr>
          <p:spPr>
            <a:xfrm>
              <a:off x="4468617" y="2323574"/>
              <a:ext cx="800219" cy="800219"/>
            </a:xfrm>
            <a:prstGeom prst="ellipse">
              <a:avLst/>
            </a:prstGeom>
            <a:solidFill>
              <a:schemeClr val="bg1"/>
            </a:solidFill>
            <a:ln w="19050">
              <a:solidFill>
                <a:srgbClr val="7B2B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图片 3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637910" y="2491395"/>
              <a:ext cx="479503" cy="479503"/>
            </a:xfrm>
            <a:prstGeom prst="rect">
              <a:avLst/>
            </a:prstGeom>
          </p:spPr>
        </p:pic>
      </p:grpSp>
      <p:sp>
        <p:nvSpPr>
          <p:cNvPr id="34" name="椭圆 33"/>
          <p:cNvSpPr/>
          <p:nvPr/>
        </p:nvSpPr>
        <p:spPr>
          <a:xfrm>
            <a:off x="2985135" y="5018405"/>
            <a:ext cx="755015" cy="755015"/>
          </a:xfrm>
          <a:prstGeom prst="ellipse">
            <a:avLst/>
          </a:prstGeom>
          <a:solidFill>
            <a:schemeClr val="bg1"/>
          </a:solidFill>
          <a:ln w="19050">
            <a:solidFill>
              <a:srgbClr val="7B2B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4099560" y="3298190"/>
            <a:ext cx="3147060" cy="369332"/>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二、实时网络质量探测</a:t>
            </a:r>
          </a:p>
        </p:txBody>
      </p:sp>
      <p:sp>
        <p:nvSpPr>
          <p:cNvPr id="56" name="文本框 55"/>
          <p:cNvSpPr txBox="1"/>
          <p:nvPr/>
        </p:nvSpPr>
        <p:spPr>
          <a:xfrm>
            <a:off x="4099560" y="3667760"/>
            <a:ext cx="5751195" cy="789062"/>
          </a:xfrm>
          <a:prstGeom prst="rect">
            <a:avLst/>
          </a:prstGeom>
          <a:noFill/>
        </p:spPr>
        <p:txBody>
          <a:bodyPr wrap="square" rtlCol="0">
            <a:spAutoFit/>
          </a:bodyPr>
          <a:lstStyle/>
          <a:p>
            <a:pPr algn="just">
              <a:lnSpc>
                <a:spcPct val="150000"/>
              </a:lnSpc>
            </a:pP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实时探测互联网所有实体</a:t>
            </a:r>
            <a:r>
              <a:rPr lang="en-US" altLang="zh-CN"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(AS/Prefix)</a:t>
            </a: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，从而评价公有云网络质量，以便衡量网络性能和及时发现潜在安全问题或系统故障</a:t>
            </a:r>
          </a:p>
        </p:txBody>
      </p:sp>
      <p:sp>
        <p:nvSpPr>
          <p:cNvPr id="57" name="文本框 56"/>
          <p:cNvSpPr txBox="1"/>
          <p:nvPr/>
        </p:nvSpPr>
        <p:spPr>
          <a:xfrm>
            <a:off x="4099559" y="4953000"/>
            <a:ext cx="3448115" cy="369332"/>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三、网络异常检测</a:t>
            </a:r>
          </a:p>
        </p:txBody>
      </p:sp>
      <p:sp>
        <p:nvSpPr>
          <p:cNvPr id="58" name="文本框 57"/>
          <p:cNvSpPr txBox="1"/>
          <p:nvPr/>
        </p:nvSpPr>
        <p:spPr>
          <a:xfrm>
            <a:off x="4099560" y="5238750"/>
            <a:ext cx="6080125" cy="789062"/>
          </a:xfrm>
          <a:prstGeom prst="rect">
            <a:avLst/>
          </a:prstGeom>
          <a:noFill/>
        </p:spPr>
        <p:txBody>
          <a:bodyPr wrap="square" rtlCol="0">
            <a:spAutoFit/>
          </a:bodyPr>
          <a:lstStyle/>
          <a:p>
            <a:pPr algn="just">
              <a:lnSpc>
                <a:spcPct val="150000"/>
              </a:lnSpc>
            </a:pP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自动识别网络中的异常模式，对检测到的异常进行深入分析，以发现故障、路由调整和流量调度</a:t>
            </a:r>
          </a:p>
        </p:txBody>
      </p:sp>
      <p:cxnSp>
        <p:nvCxnSpPr>
          <p:cNvPr id="59" name="直接连接符 58"/>
          <p:cNvCxnSpPr/>
          <p:nvPr/>
        </p:nvCxnSpPr>
        <p:spPr>
          <a:xfrm flipH="1">
            <a:off x="3077770" y="3043069"/>
            <a:ext cx="721169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077770" y="4626239"/>
            <a:ext cx="710184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3341370" y="5245100"/>
            <a:ext cx="177800" cy="178435"/>
          </a:xfrm>
          <a:prstGeom prst="ellipse">
            <a:avLst/>
          </a:prstGeom>
          <a:solidFill>
            <a:schemeClr val="bg1"/>
          </a:solidFill>
          <a:ln w="2222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 name="直接连接符 6"/>
          <p:cNvCxnSpPr>
            <a:stCxn id="6" idx="3"/>
          </p:cNvCxnSpPr>
          <p:nvPr/>
        </p:nvCxnSpPr>
        <p:spPr>
          <a:xfrm flipH="1">
            <a:off x="3199130" y="5397500"/>
            <a:ext cx="168275" cy="132715"/>
          </a:xfrm>
          <a:prstGeom prst="line">
            <a:avLst/>
          </a:prstGeom>
          <a:ln w="22225">
            <a:solidFill>
              <a:schemeClr val="tx1"/>
            </a:solidFill>
          </a:ln>
        </p:spPr>
        <p:style>
          <a:lnRef idx="2">
            <a:schemeClr val="accent1"/>
          </a:lnRef>
          <a:fillRef idx="0">
            <a:srgbClr val="FFFFFF"/>
          </a:fillRef>
          <a:effectRef idx="0">
            <a:srgbClr val="FFFFFF"/>
          </a:effectRef>
          <a:fontRef idx="minor">
            <a:schemeClr val="tx1"/>
          </a:fontRef>
        </p:style>
      </p:cxnSp>
      <p:sp>
        <p:nvSpPr>
          <p:cNvPr id="53" name="矩形 52"/>
          <p:cNvSpPr/>
          <p:nvPr>
            <p:custDataLst>
              <p:tags r:id="rId1"/>
            </p:custDataLst>
          </p:nvPr>
        </p:nvSpPr>
        <p:spPr>
          <a:xfrm>
            <a:off x="-286" y="2382319"/>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54" name="文本框 53"/>
          <p:cNvSpPr txBox="1"/>
          <p:nvPr>
            <p:custDataLst>
              <p:tags r:id="rId2"/>
            </p:custDataLst>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3"/>
            </p:custDataLst>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4"/>
            </p:custDataLst>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5"/>
            </p:custDataLst>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6"/>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7"/>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3" name="文本框 2"/>
          <p:cNvSpPr txBox="1"/>
          <p:nvPr/>
        </p:nvSpPr>
        <p:spPr>
          <a:xfrm>
            <a:off x="2892718" y="492189"/>
            <a:ext cx="5234012" cy="46166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相关研究工作一：</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IPv6</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活跃地址获取</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05</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1"/>
            </p:custDataLst>
          </p:nvPr>
        </p:nvSpPr>
        <p:spPr>
          <a:xfrm>
            <a:off x="2892424" y="1324809"/>
            <a:ext cx="1917917" cy="368300"/>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目的</a:t>
            </a:r>
          </a:p>
        </p:txBody>
      </p:sp>
      <p:sp>
        <p:nvSpPr>
          <p:cNvPr id="4" name="文本框 3"/>
          <p:cNvSpPr txBox="1"/>
          <p:nvPr>
            <p:custDataLst>
              <p:tags r:id="rId2"/>
            </p:custDataLst>
          </p:nvPr>
        </p:nvSpPr>
        <p:spPr>
          <a:xfrm>
            <a:off x="2892424" y="1712499"/>
            <a:ext cx="8257930" cy="419795"/>
          </a:xfrm>
          <a:prstGeom prst="rect">
            <a:avLst/>
          </a:prstGeom>
          <a:noFill/>
        </p:spPr>
        <p:txBody>
          <a:bodyPr wrap="square" rtlCol="0">
            <a:spAutoFit/>
          </a:bodyPr>
          <a:lstStyle/>
          <a:p>
            <a:pPr algn="just">
              <a:lnSpc>
                <a:spcPct val="150000"/>
              </a:lnSpc>
            </a:pP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智能、高效地发现</a:t>
            </a:r>
            <a:r>
              <a:rPr lang="en-US" altLang="zh-CN"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IPv6</a:t>
            </a: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活跃地址，为资产发现、安全评估等下游应用提供基础。</a:t>
            </a:r>
          </a:p>
        </p:txBody>
      </p:sp>
      <p:sp>
        <p:nvSpPr>
          <p:cNvPr id="5" name="文本框 4"/>
          <p:cNvSpPr txBox="1"/>
          <p:nvPr>
            <p:custDataLst>
              <p:tags r:id="rId3"/>
            </p:custDataLst>
          </p:nvPr>
        </p:nvSpPr>
        <p:spPr>
          <a:xfrm>
            <a:off x="2892424" y="2110775"/>
            <a:ext cx="1917917" cy="368300"/>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相关研究工作</a:t>
            </a:r>
          </a:p>
        </p:txBody>
      </p:sp>
      <p:sp>
        <p:nvSpPr>
          <p:cNvPr id="9" name="矩形 8"/>
          <p:cNvSpPr/>
          <p:nvPr>
            <p:custDataLst>
              <p:tags r:id="rId4"/>
            </p:custDataLst>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custDataLst>
              <p:tags r:id="rId5"/>
            </p:custDataLst>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矩形 20"/>
          <p:cNvSpPr/>
          <p:nvPr>
            <p:custDataLst>
              <p:tags r:id="rId6"/>
            </p:custDataLst>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2" name="矩形 21"/>
          <p:cNvSpPr/>
          <p:nvPr>
            <p:custDataLst>
              <p:tags r:id="rId7"/>
            </p:custDataLst>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矩形 52"/>
          <p:cNvSpPr/>
          <p:nvPr>
            <p:custDataLst>
              <p:tags r:id="rId8"/>
            </p:custDataLst>
          </p:nvPr>
        </p:nvSpPr>
        <p:spPr>
          <a:xfrm>
            <a:off x="-286" y="2382319"/>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54" name="文本框 53"/>
          <p:cNvSpPr txBox="1"/>
          <p:nvPr>
            <p:custDataLst>
              <p:tags r:id="rId9"/>
            </p:custDataLst>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10"/>
            </p:custDataLst>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11"/>
            </p:custDataLst>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12"/>
            </p:custDataLst>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13"/>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14"/>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graphicFrame>
        <p:nvGraphicFramePr>
          <p:cNvPr id="16" name="表格 15">
            <a:extLst>
              <a:ext uri="{FF2B5EF4-FFF2-40B4-BE49-F238E27FC236}">
                <a16:creationId xmlns:a16="http://schemas.microsoft.com/office/drawing/2014/main" id="{C9B2F8BB-7079-E24D-CC81-A9922A2E709E}"/>
              </a:ext>
            </a:extLst>
          </p:cNvPr>
          <p:cNvGraphicFramePr>
            <a:graphicFrameLocks noGrp="1"/>
          </p:cNvGraphicFramePr>
          <p:nvPr>
            <p:extLst>
              <p:ext uri="{D42A27DB-BD31-4B8C-83A1-F6EECF244321}">
                <p14:modId xmlns:p14="http://schemas.microsoft.com/office/powerpoint/2010/main" val="243248631"/>
              </p:ext>
            </p:extLst>
          </p:nvPr>
        </p:nvGraphicFramePr>
        <p:xfrm>
          <a:off x="2571672" y="2440441"/>
          <a:ext cx="9564688" cy="4308308"/>
        </p:xfrm>
        <a:graphic>
          <a:graphicData uri="http://schemas.openxmlformats.org/drawingml/2006/table">
            <a:tbl>
              <a:tblPr firstRow="1" bandRow="1">
                <a:tableStyleId>{5C22544A-7EE6-4342-B048-85BDC9FD1C3A}</a:tableStyleId>
              </a:tblPr>
              <a:tblGrid>
                <a:gridCol w="1532200">
                  <a:extLst>
                    <a:ext uri="{9D8B030D-6E8A-4147-A177-3AD203B41FA5}">
                      <a16:colId xmlns:a16="http://schemas.microsoft.com/office/drawing/2014/main" val="2636843035"/>
                    </a:ext>
                  </a:extLst>
                </a:gridCol>
                <a:gridCol w="3010449">
                  <a:extLst>
                    <a:ext uri="{9D8B030D-6E8A-4147-A177-3AD203B41FA5}">
                      <a16:colId xmlns:a16="http://schemas.microsoft.com/office/drawing/2014/main" val="2006170715"/>
                    </a:ext>
                  </a:extLst>
                </a:gridCol>
                <a:gridCol w="5022039">
                  <a:extLst>
                    <a:ext uri="{9D8B030D-6E8A-4147-A177-3AD203B41FA5}">
                      <a16:colId xmlns:a16="http://schemas.microsoft.com/office/drawing/2014/main" val="3005746677"/>
                    </a:ext>
                  </a:extLst>
                </a:gridCol>
              </a:tblGrid>
              <a:tr h="310170">
                <a:tc>
                  <a:txBody>
                    <a:bodyPr/>
                    <a:lstStyle/>
                    <a:p>
                      <a:pPr algn="ctr">
                        <a:buNone/>
                      </a:pPr>
                      <a:r>
                        <a:rPr lang="zh-CN" altLang="en-US" sz="1600" dirty="0">
                          <a:latin typeface="Kaiti SC Regular" panose="02010600040101010101" charset="-122"/>
                          <a:ea typeface="Kaiti SC Regular" panose="02010600040101010101" charset="-122"/>
                          <a:cs typeface="Kaiti SC Regular" panose="02010600040101010101" charset="-122"/>
                          <a:sym typeface="+mn-ea"/>
                        </a:rPr>
                        <a:t>类型</a:t>
                      </a:r>
                    </a:p>
                  </a:txBody>
                  <a:tcPr/>
                </a:tc>
                <a:tc>
                  <a:txBody>
                    <a:bodyPr/>
                    <a:lstStyle/>
                    <a:p>
                      <a:pPr algn="ctr">
                        <a:buNone/>
                      </a:pPr>
                      <a:r>
                        <a:rPr lang="zh-CN" altLang="en-US" sz="1600">
                          <a:latin typeface="Kaiti SC Regular" panose="02010600040101010101" charset="-122"/>
                          <a:ea typeface="Kaiti SC Regular" panose="02010600040101010101" charset="-122"/>
                        </a:rPr>
                        <a:t>工作机制</a:t>
                      </a:r>
                      <a:endParaRPr lang="zh-CN" altLang="en-US" sz="1600" dirty="0">
                        <a:latin typeface="Kaiti SC Regular" panose="02010600040101010101" charset="-122"/>
                        <a:ea typeface="Kaiti SC Regular" panose="02010600040101010101" charset="-122"/>
                      </a:endParaRPr>
                    </a:p>
                  </a:txBody>
                  <a:tcPr/>
                </a:tc>
                <a:tc>
                  <a:txBody>
                    <a:bodyPr/>
                    <a:lstStyle/>
                    <a:p>
                      <a:pPr algn="ctr">
                        <a:buNone/>
                      </a:pPr>
                      <a:r>
                        <a:rPr lang="zh-CN" altLang="en-US" sz="1600">
                          <a:latin typeface="Kaiti SC Regular" panose="02010600040101010101" charset="-122"/>
                          <a:ea typeface="Kaiti SC Regular" panose="02010600040101010101" charset="-122"/>
                        </a:rPr>
                        <a:t>文献</a:t>
                      </a:r>
                      <a:endParaRPr lang="zh-CN" altLang="en-US" sz="1600" dirty="0">
                        <a:latin typeface="Kaiti SC Regular" panose="02010600040101010101" charset="-122"/>
                        <a:ea typeface="Kaiti SC Regular" panose="02010600040101010101" charset="-122"/>
                      </a:endParaRPr>
                    </a:p>
                  </a:txBody>
                  <a:tcPr/>
                </a:tc>
                <a:extLst>
                  <a:ext uri="{0D108BD9-81ED-4DB2-BD59-A6C34878D82A}">
                    <a16:rowId xmlns:a16="http://schemas.microsoft.com/office/drawing/2014/main" val="4093693925"/>
                  </a:ext>
                </a:extLst>
              </a:tr>
              <a:tr h="761327">
                <a:tc>
                  <a:txBody>
                    <a:bodyPr/>
                    <a:lstStyle/>
                    <a:p>
                      <a:pPr marL="0" algn="l" defTabSz="914400" rtl="0" eaLnBrk="1" latinLnBrk="0" hangingPunct="1">
                        <a:buNone/>
                      </a:pP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DNS </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解析</a:t>
                      </a:r>
                    </a:p>
                  </a:txBody>
                  <a:tcPr/>
                </a:tc>
                <a:tc>
                  <a:txBody>
                    <a:bodyPr/>
                    <a:lstStyle/>
                    <a:p>
                      <a:pPr marL="0" algn="l" defTabSz="914400" rtl="0" eaLnBrk="1" latinLnBrk="0" hangingPunct="1">
                        <a:buNone/>
                      </a:pP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从</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DNS</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解析的</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AAAA</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记录中获取活跃</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IPv6</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地址</a:t>
                      </a:r>
                      <a:endPar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sym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[Something from Nothing]-</a:t>
                      </a:r>
                      <a:r>
                        <a:rPr lang="en-US" altLang="zh-CN" sz="1600" b="0" kern="1200" dirty="0" err="1">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Fiebig</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 T. PAM 2017.</a:t>
                      </a:r>
                    </a:p>
                    <a:p>
                      <a:pPr marL="0" indent="0" algn="l" defTabSz="914400" rtl="0" eaLnBrk="1" latinLnBrk="0" hangingPunct="1">
                        <a:buFont typeface="+mj-lt"/>
                        <a:buNone/>
                      </a:pP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[In </a:t>
                      </a:r>
                      <a:r>
                        <a:rPr lang="en-US" altLang="zh-CN" sz="1600" b="0" kern="1200" dirty="0" err="1">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rdns</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 we trust]-</a:t>
                      </a:r>
                      <a:r>
                        <a:rPr lang="en-US" altLang="zh-CN" sz="1600" b="0" kern="1200" dirty="0" err="1">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Fiebig</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 T. PAM 2018.</a:t>
                      </a:r>
                    </a:p>
                    <a:p>
                      <a:pPr marL="0" indent="0" algn="l" defTabSz="914400" rtl="0" eaLnBrk="1" latinLnBrk="0" hangingPunct="1">
                        <a:buFont typeface="+mj-lt"/>
                        <a:buNone/>
                      </a:pP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[Enumerating IPv6 Address]-</a:t>
                      </a:r>
                      <a:r>
                        <a:rPr lang="en-US" altLang="zh-CN" sz="1600" b="0" kern="1200" dirty="0" err="1">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Borgolte</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 K. S&amp;P 2018</a:t>
                      </a:r>
                    </a:p>
                  </a:txBody>
                  <a:tcPr/>
                </a:tc>
                <a:extLst>
                  <a:ext uri="{0D108BD9-81ED-4DB2-BD59-A6C34878D82A}">
                    <a16:rowId xmlns:a16="http://schemas.microsoft.com/office/drawing/2014/main" val="2029772164"/>
                  </a:ext>
                </a:extLst>
              </a:tr>
              <a:tr h="53574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众包平台</a:t>
                      </a:r>
                    </a:p>
                  </a:txBody>
                  <a:tcPr/>
                </a:tc>
                <a:tc>
                  <a:txBody>
                    <a:bodyPr/>
                    <a:lstStyle/>
                    <a:p>
                      <a:pPr marL="0" algn="l" defTabSz="914400" rtl="0" eaLnBrk="1" latinLnBrk="0" hangingPunct="1">
                        <a:buNone/>
                      </a:pP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获取志愿者访问信息，从流量中提取活跃</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IPv6</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地址</a:t>
                      </a:r>
                      <a:endPar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sym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600" b="0" kern="120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[MTURK]-Foremski P, Plonka D. SIGCOMM 2015.</a:t>
                      </a:r>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600" b="0" kern="120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[IPv6 hitlist]-Gasser O, Scheitle Q. IMC 2018.</a:t>
                      </a:r>
                      <a:endPar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endParaRPr>
                    </a:p>
                  </a:txBody>
                  <a:tcPr/>
                </a:tc>
                <a:extLst>
                  <a:ext uri="{0D108BD9-81ED-4DB2-BD59-A6C34878D82A}">
                    <a16:rowId xmlns:a16="http://schemas.microsoft.com/office/drawing/2014/main" val="2283133555"/>
                  </a:ext>
                </a:extLst>
              </a:tr>
              <a:tr h="498308">
                <a:tc>
                  <a:txBody>
                    <a:bodyPr/>
                    <a:lstStyle/>
                    <a:p>
                      <a:pPr marL="0" algn="l" defTabSz="914400" rtl="0" eaLnBrk="1" latinLnBrk="0" hangingPunct="1">
                        <a:buNone/>
                      </a:pPr>
                      <a:r>
                        <a:rPr lang="zh-CN" altLang="en-US" sz="1600" b="0" kern="120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公开数据下载</a:t>
                      </a:r>
                      <a:endPar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endParaRPr>
                    </a:p>
                  </a:txBody>
                  <a:tcPr/>
                </a:tc>
                <a:tc>
                  <a:txBody>
                    <a:bodyPr/>
                    <a:lstStyle/>
                    <a:p>
                      <a:pPr marL="0" algn="l" defTabSz="914400" rtl="0" eaLnBrk="1" latinLnBrk="0" hangingPunct="1">
                        <a:buNone/>
                      </a:pPr>
                      <a:r>
                        <a:rPr lang="zh-CN" altLang="en-US" sz="1600" b="0" kern="120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开源数据下载</a:t>
                      </a:r>
                      <a:endPar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sym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600" b="0" kern="120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[IPv6 hitlist]-Gasser O, Scheitle Q. IMC 2018.</a:t>
                      </a:r>
                      <a:endPar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endParaRPr>
                    </a:p>
                  </a:txBody>
                  <a:tcPr/>
                </a:tc>
                <a:extLst>
                  <a:ext uri="{0D108BD9-81ED-4DB2-BD59-A6C34878D82A}">
                    <a16:rowId xmlns:a16="http://schemas.microsoft.com/office/drawing/2014/main" val="1652123145"/>
                  </a:ext>
                </a:extLst>
              </a:tr>
              <a:tr h="535748">
                <a:tc>
                  <a:txBody>
                    <a:bodyPr/>
                    <a:lstStyle/>
                    <a:p>
                      <a:pPr marL="0" algn="l" defTabSz="914400" rtl="0" eaLnBrk="1" latinLnBrk="0" hangingPunct="1">
                        <a:buNone/>
                      </a:pP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CDN</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日志获取</a:t>
                      </a:r>
                    </a:p>
                  </a:txBody>
                  <a:tcPr/>
                </a:tc>
                <a:tc>
                  <a:txBody>
                    <a:bodyPr/>
                    <a:lstStyle/>
                    <a:p>
                      <a:pPr marL="0" algn="l" defTabSz="914400" rtl="0" eaLnBrk="1" latinLnBrk="0" hangingPunct="1">
                        <a:buNone/>
                      </a:pP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从启用</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IPv6</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的</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CDN</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请求日志中提取地址</a:t>
                      </a:r>
                      <a:endPar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sym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[Temporal and Spatial Classification of Active IPv6 Addresses]</a:t>
                      </a:r>
                      <a:r>
                        <a:rPr lang="en-GB" altLang="zh-CN" sz="1600" b="0" kern="1200" dirty="0" err="1">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lonka</a:t>
                      </a:r>
                      <a:r>
                        <a:rPr lang="en-GB"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 D, Berger A.IMC,2015</a:t>
                      </a:r>
                      <a:endPar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endParaRPr>
                    </a:p>
                  </a:txBody>
                  <a:tcPr/>
                </a:tc>
                <a:extLst>
                  <a:ext uri="{0D108BD9-81ED-4DB2-BD59-A6C34878D82A}">
                    <a16:rowId xmlns:a16="http://schemas.microsoft.com/office/drawing/2014/main" val="816188247"/>
                  </a:ext>
                </a:extLst>
              </a:tr>
              <a:tr h="53574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IXP</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提取</a:t>
                      </a:r>
                    </a:p>
                  </a:txBody>
                  <a:tcPr/>
                </a:tc>
                <a:tc>
                  <a:txBody>
                    <a:bodyPr/>
                    <a:lstStyle/>
                    <a:p>
                      <a:pPr marL="0" algn="l" defTabSz="914400" rtl="0" eaLnBrk="1" latinLnBrk="0" hangingPunct="1">
                        <a:buNone/>
                      </a:pP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从互联网交换节点</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IXP</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流量中提取地址</a:t>
                      </a:r>
                      <a:endPar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sym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[Scanning the IPv6 Internet:]-Gasser O. et al. TMA 2016.</a:t>
                      </a:r>
                    </a:p>
                  </a:txBody>
                  <a:tcPr/>
                </a:tc>
                <a:extLst>
                  <a:ext uri="{0D108BD9-81ED-4DB2-BD59-A6C34878D82A}">
                    <a16:rowId xmlns:a16="http://schemas.microsoft.com/office/drawing/2014/main" val="2340388061"/>
                  </a:ext>
                </a:extLst>
              </a:tr>
              <a:tr h="535748">
                <a:tc>
                  <a:txBody>
                    <a:bodyPr/>
                    <a:lstStyle/>
                    <a:p>
                      <a:pPr marL="0" algn="l" defTabSz="914400" rtl="0" eaLnBrk="1" latinLnBrk="0" hangingPunct="1">
                        <a:buNone/>
                      </a:pP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NTP</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服务器获取</a:t>
                      </a:r>
                    </a:p>
                  </a:txBody>
                  <a:tcPr/>
                </a:tc>
                <a:tc>
                  <a:txBody>
                    <a:bodyPr/>
                    <a:lstStyle/>
                    <a:p>
                      <a:pPr marL="0" algn="l" defTabSz="914400" rtl="0" eaLnBrk="1" latinLnBrk="0" hangingPunct="1">
                        <a:buNone/>
                      </a:pP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从</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NTP</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的用户请求记录中提取地址</a:t>
                      </a:r>
                      <a:endPar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sym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[IPv6 Hitlists at Scale]-Erik Rye and Dave Levin. SIGCOMM ,2023</a:t>
                      </a:r>
                    </a:p>
                  </a:txBody>
                  <a:tcPr/>
                </a:tc>
                <a:extLst>
                  <a:ext uri="{0D108BD9-81ED-4DB2-BD59-A6C34878D82A}">
                    <a16:rowId xmlns:a16="http://schemas.microsoft.com/office/drawing/2014/main" val="3118524243"/>
                  </a:ext>
                </a:extLst>
              </a:tr>
              <a:tr h="310170">
                <a:tc>
                  <a:txBody>
                    <a:bodyPr/>
                    <a:lstStyle/>
                    <a:p>
                      <a:pPr marL="0" algn="l" defTabSz="914400" rtl="0" eaLnBrk="1" latinLnBrk="0" hangingPunct="1">
                        <a:buNone/>
                      </a:pP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HTTP</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请求获取</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 </a:t>
                      </a:r>
                      <a:endPar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sym typeface="+mn-ea"/>
                      </a:endParaRPr>
                    </a:p>
                  </a:txBody>
                  <a:tcPr/>
                </a:tc>
                <a:tc>
                  <a:txBody>
                    <a:bodyPr/>
                    <a:lstStyle/>
                    <a:p>
                      <a:pPr marL="0" algn="l" defTabSz="914400" rtl="0" eaLnBrk="1" latinLnBrk="0" hangingPunct="1">
                        <a:buNone/>
                      </a:pP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从</a:t>
                      </a: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HTTP</a:t>
                      </a:r>
                      <a:r>
                        <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请求中获取客户端地址</a:t>
                      </a:r>
                      <a:endParaRPr lang="zh-CN" altLang="en-US"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sym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[Towards a user-level]- Li F. et </a:t>
                      </a:r>
                      <a:r>
                        <a:rPr lang="en-US" altLang="zh-CN" sz="1600" b="0" kern="1200" dirty="0" err="1">
                          <a:solidFill>
                            <a:schemeClr val="tx1">
                              <a:lumMod val="65000"/>
                              <a:lumOff val="35000"/>
                            </a:schemeClr>
                          </a:solidFill>
                          <a:latin typeface="Microsoft YaHei Light" panose="020B0502040204020203" pitchFamily="34" charset="-122"/>
                          <a:ea typeface="Microsoft YaHei Light" panose="020B0502040204020203" pitchFamily="34" charset="-122"/>
                          <a:cs typeface="+mn-cs"/>
                        </a:rPr>
                        <a:t>al.s</a:t>
                      </a:r>
                      <a:endParaRPr lang="en-US" altLang="zh-CN" sz="1600" b="0" kern="1200" dirty="0">
                        <a:solidFill>
                          <a:schemeClr val="tx1">
                            <a:lumMod val="65000"/>
                            <a:lumOff val="35000"/>
                          </a:schemeClr>
                        </a:solidFill>
                        <a:latin typeface="Microsoft YaHei Light" panose="020B0502040204020203" pitchFamily="34" charset="-122"/>
                        <a:ea typeface="Microsoft YaHei Light" panose="020B0502040204020203" pitchFamily="34" charset="-122"/>
                        <a:cs typeface="+mn-cs"/>
                      </a:endParaRPr>
                    </a:p>
                  </a:txBody>
                  <a:tcPr/>
                </a:tc>
                <a:extLst>
                  <a:ext uri="{0D108BD9-81ED-4DB2-BD59-A6C34878D82A}">
                    <a16:rowId xmlns:a16="http://schemas.microsoft.com/office/drawing/2014/main" val="90958426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3" name="文本框 2"/>
          <p:cNvSpPr txBox="1"/>
          <p:nvPr/>
        </p:nvSpPr>
        <p:spPr>
          <a:xfrm>
            <a:off x="2892718" y="492189"/>
            <a:ext cx="5234012" cy="46037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相关研究工作一：</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IPv6</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目标地址生成</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06</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1"/>
            </p:custDataLst>
          </p:nvPr>
        </p:nvSpPr>
        <p:spPr>
          <a:xfrm>
            <a:off x="2893871" y="1496535"/>
            <a:ext cx="7429999" cy="369332"/>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相关研究工作：目标地址生成方法（</a:t>
            </a:r>
            <a:r>
              <a:rPr lang="en-US" altLang="zh-CN" b="1" dirty="0">
                <a:solidFill>
                  <a:srgbClr val="5E068C"/>
                </a:solidFill>
                <a:latin typeface="微软雅黑" panose="020B0503020204020204" pitchFamily="34" charset="-122"/>
                <a:ea typeface="微软雅黑" panose="020B0503020204020204" pitchFamily="34" charset="-122"/>
              </a:rPr>
              <a:t>Target</a:t>
            </a:r>
            <a:r>
              <a:rPr lang="zh-CN" altLang="en-US" b="1" dirty="0">
                <a:solidFill>
                  <a:srgbClr val="5E068C"/>
                </a:solidFill>
                <a:latin typeface="微软雅黑" panose="020B0503020204020204" pitchFamily="34" charset="-122"/>
                <a:ea typeface="微软雅黑" panose="020B0503020204020204" pitchFamily="34" charset="-122"/>
              </a:rPr>
              <a:t> </a:t>
            </a:r>
            <a:r>
              <a:rPr lang="en-US" altLang="zh-CN" b="1" dirty="0">
                <a:solidFill>
                  <a:srgbClr val="5E068C"/>
                </a:solidFill>
                <a:latin typeface="微软雅黑" panose="020B0503020204020204" pitchFamily="34" charset="-122"/>
                <a:ea typeface="微软雅黑" panose="020B0503020204020204" pitchFamily="34" charset="-122"/>
              </a:rPr>
              <a:t>Generation</a:t>
            </a:r>
            <a:r>
              <a:rPr lang="zh-CN" altLang="en-US" b="1" dirty="0">
                <a:solidFill>
                  <a:srgbClr val="5E068C"/>
                </a:solidFill>
                <a:latin typeface="微软雅黑" panose="020B0503020204020204" pitchFamily="34" charset="-122"/>
                <a:ea typeface="微软雅黑" panose="020B0503020204020204" pitchFamily="34" charset="-122"/>
              </a:rPr>
              <a:t> </a:t>
            </a:r>
            <a:r>
              <a:rPr lang="en-US" altLang="zh-CN" b="1" dirty="0">
                <a:solidFill>
                  <a:srgbClr val="5E068C"/>
                </a:solidFill>
                <a:latin typeface="微软雅黑" panose="020B0503020204020204" pitchFamily="34" charset="-122"/>
                <a:ea typeface="微软雅黑" panose="020B0503020204020204" pitchFamily="34" charset="-122"/>
              </a:rPr>
              <a:t>Algorithms</a:t>
            </a:r>
            <a:r>
              <a:rPr lang="zh-CN" altLang="en-US" b="1" dirty="0">
                <a:solidFill>
                  <a:srgbClr val="5E068C"/>
                </a:solidFill>
                <a:latin typeface="微软雅黑" panose="020B0503020204020204" pitchFamily="34" charset="-122"/>
                <a:ea typeface="微软雅黑" panose="020B0503020204020204" pitchFamily="34" charset="-122"/>
              </a:rPr>
              <a:t>）</a:t>
            </a:r>
          </a:p>
        </p:txBody>
      </p:sp>
      <p:sp>
        <p:nvSpPr>
          <p:cNvPr id="6" name="文本框 5"/>
          <p:cNvSpPr txBox="1"/>
          <p:nvPr>
            <p:custDataLst>
              <p:tags r:id="rId2"/>
            </p:custDataLst>
          </p:nvPr>
        </p:nvSpPr>
        <p:spPr>
          <a:xfrm>
            <a:off x="2997200" y="1868170"/>
            <a:ext cx="9195435" cy="4256871"/>
          </a:xfrm>
          <a:prstGeom prst="rect">
            <a:avLst/>
          </a:prstGeom>
          <a:noFill/>
        </p:spPr>
        <p:txBody>
          <a:bodyPr wrap="square" rtlCol="0">
            <a:spAutoFit/>
          </a:bodyPr>
          <a:lstStyle/>
          <a:p>
            <a:pPr algn="just">
              <a:lnSpc>
                <a:spcPct val="150000"/>
              </a:lnSpc>
            </a:pPr>
            <a:r>
              <a:rPr lang="zh-CN" altLang="en-US" sz="14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基于统计学习方法</a:t>
            </a:r>
          </a:p>
          <a:p>
            <a:pPr marL="285750" indent="-285750" algn="just">
              <a:lnSpc>
                <a:spcPct val="150000"/>
              </a:lnSpc>
              <a:buFont typeface="Arial" panose="020B0604020202090204" pitchFamily="34" charset="0"/>
              <a:buChar char="•"/>
            </a:pPr>
            <a:r>
              <a:rPr lang="zh-CN" altLang="en-US" sz="14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基于密度的方法</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通过分析种子地址的密度分布，优先在高密度区域生成目标地址。基于模式</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[13]</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递归检测密集区域，而</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6</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Gen[15]</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通过自下而上聚类提高命中率。</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DET[20]</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通过引入最小熵分裂来优化搜索空间，实现了更高的命中率，而</a:t>
            </a:r>
            <a:r>
              <a:rPr lang="en" altLang="zh-CN" sz="1400" dirty="0" err="1">
                <a:solidFill>
                  <a:schemeClr val="tx1">
                    <a:lumMod val="65000"/>
                    <a:lumOff val="35000"/>
                  </a:schemeClr>
                </a:solidFill>
                <a:latin typeface="Microsoft YaHei Light" panose="020B0502040204020203" pitchFamily="34" charset="-122"/>
                <a:ea typeface="Microsoft YaHei Light" panose="020B0502040204020203" pitchFamily="34" charset="-122"/>
              </a:rPr>
              <a:t>AddrMiner</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-S[23]</a:t>
            </a:r>
            <a:r>
              <a:rPr lang="zh-CN" altLang="e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[24]</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通过强化学习反馈进一步增强了这一过程。</a:t>
            </a:r>
            <a:endPar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indent="-285750" algn="just">
              <a:lnSpc>
                <a:spcPct val="150000"/>
              </a:lnSpc>
              <a:buFont typeface="Arial" panose="020B0604020202090204" pitchFamily="34" charset="0"/>
              <a:buChar char="•"/>
            </a:pPr>
            <a:r>
              <a:rPr lang="zh-CN" altLang="en-US" sz="14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基于结构的方法</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[14]</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关注种子地址内部的统计关系。熵</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IP[14]</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模型使用熵度量来处理变异性，以揭示网络中的潜在结构模式。</a:t>
            </a:r>
            <a:endPar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marR="0" indent="-285750" algn="just">
              <a:lnSpc>
                <a:spcPct val="150000"/>
              </a:lnSpc>
              <a:spcBef>
                <a:spcPts val="0"/>
              </a:spcBef>
              <a:spcAft>
                <a:spcPts val="0"/>
              </a:spcAft>
              <a:buFont typeface="Arial" panose="020B0604020202090204" pitchFamily="34" charset="0"/>
              <a:buChar char="•"/>
            </a:pPr>
            <a:r>
              <a:rPr lang="zh-CN" altLang="en-US" sz="14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基于层次结构的方法</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将种子地址划分为子网，并构造层次树来指导地址生成。</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6</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Tree[16]</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采用自顶向下聚类构建树，</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6</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Hit[17]</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采用强化学习优化生成策略。</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6</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Scan[18]</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通过在树节点中编码区域标识符来加快探测速度。</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6</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Graph[21]</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和</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6</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Forest[22]</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处理异常值以提高准确性和稳定性，</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6</a:t>
            </a:r>
            <a:r>
              <a:rPr lang="en" altLang="zh-CN" sz="1400" dirty="0" err="1">
                <a:solidFill>
                  <a:schemeClr val="tx1">
                    <a:lumMod val="65000"/>
                    <a:lumOff val="35000"/>
                  </a:schemeClr>
                </a:solidFill>
                <a:latin typeface="Microsoft YaHei Light" panose="020B0502040204020203" pitchFamily="34" charset="-122"/>
                <a:ea typeface="Microsoft YaHei Light" panose="020B0502040204020203" pitchFamily="34" charset="-122"/>
              </a:rPr>
              <a:t>Loda</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[33]</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进一步优化了</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6</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Forest</a:t>
            </a:r>
            <a:r>
              <a:rPr lang="zh-CN" altLang="e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endPar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algn="just">
              <a:lnSpc>
                <a:spcPct val="150000"/>
              </a:lnSpc>
            </a:pPr>
            <a:r>
              <a:rPr lang="zh-CN" altLang="en-US" sz="14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基于深度学习的方法</a:t>
            </a:r>
          </a:p>
          <a:p>
            <a:pPr marL="285750" marR="0" indent="-285750" algn="just">
              <a:lnSpc>
                <a:spcPct val="150000"/>
              </a:lnSpc>
              <a:spcBef>
                <a:spcPts val="0"/>
              </a:spcBef>
              <a:spcAft>
                <a:spcPts val="0"/>
              </a:spcAft>
              <a:buFont typeface="Arial" panose="020B0604020202090204" pitchFamily="34" charset="0"/>
              <a:buChar char="•"/>
            </a:pP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这些方法旨在对种子地址的分布进行建模，并使用学习的细粒度特征来生成目标地址。</a:t>
            </a:r>
          </a:p>
          <a:p>
            <a:pPr marL="285750" marR="0" indent="-285750" algn="just">
              <a:lnSpc>
                <a:spcPct val="150000"/>
              </a:lnSpc>
              <a:spcBef>
                <a:spcPts val="0"/>
              </a:spcBef>
              <a:spcAft>
                <a:spcPts val="0"/>
              </a:spcAft>
              <a:buFont typeface="Arial" panose="020B0604020202090204" pitchFamily="34" charset="0"/>
              <a:buChar char="•"/>
            </a:pP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6</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GAN[29]</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利用熵聚类进行细粒度分类，将生成对抗网络（</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GAN</a:t>
            </a:r>
            <a:r>
              <a:rPr lang="zh-CN" altLang="e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[36]</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与强化学习相结合进行训练。</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6</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Sense[9]</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使用</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LSTM[37]</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学习地址的</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/64</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前缀。</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6</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Vision[26]</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采用图像编码来学习地址之间的关联特征。</a:t>
            </a:r>
          </a:p>
        </p:txBody>
      </p:sp>
      <p:sp>
        <p:nvSpPr>
          <p:cNvPr id="9" name="矩形 8"/>
          <p:cNvSpPr/>
          <p:nvPr>
            <p:custDataLst>
              <p:tags r:id="rId3"/>
            </p:custDataLst>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custDataLst>
              <p:tags r:id="rId4"/>
            </p:custDataLst>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矩形 20"/>
          <p:cNvSpPr/>
          <p:nvPr>
            <p:custDataLst>
              <p:tags r:id="rId5"/>
            </p:custDataLst>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2" name="矩形 21"/>
          <p:cNvSpPr/>
          <p:nvPr>
            <p:custDataLst>
              <p:tags r:id="rId6"/>
            </p:custDataLst>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矩形 52"/>
          <p:cNvSpPr/>
          <p:nvPr>
            <p:custDataLst>
              <p:tags r:id="rId7"/>
            </p:custDataLst>
          </p:nvPr>
        </p:nvSpPr>
        <p:spPr>
          <a:xfrm>
            <a:off x="-286" y="2382319"/>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54" name="文本框 53"/>
          <p:cNvSpPr txBox="1"/>
          <p:nvPr>
            <p:custDataLst>
              <p:tags r:id="rId8"/>
            </p:custDataLst>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9"/>
            </p:custDataLst>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10"/>
            </p:custDataLst>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11"/>
            </p:custDataLst>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12"/>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13"/>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3" name="文本框 2"/>
          <p:cNvSpPr txBox="1"/>
          <p:nvPr/>
        </p:nvSpPr>
        <p:spPr>
          <a:xfrm>
            <a:off x="2892717" y="492189"/>
            <a:ext cx="6752025" cy="46166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相关研究工作二、三：实时网络探测与异常检测</a:t>
            </a: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07</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1"/>
            </p:custDataLst>
          </p:nvPr>
        </p:nvSpPr>
        <p:spPr>
          <a:xfrm>
            <a:off x="2892425" y="1319254"/>
            <a:ext cx="1917917" cy="368300"/>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目的</a:t>
            </a:r>
          </a:p>
        </p:txBody>
      </p:sp>
      <p:sp>
        <p:nvSpPr>
          <p:cNvPr id="4" name="文本框 3"/>
          <p:cNvSpPr txBox="1"/>
          <p:nvPr>
            <p:custDataLst>
              <p:tags r:id="rId2"/>
            </p:custDataLst>
          </p:nvPr>
        </p:nvSpPr>
        <p:spPr>
          <a:xfrm>
            <a:off x="2892425" y="1796510"/>
            <a:ext cx="7751763" cy="378886"/>
          </a:xfrm>
          <a:prstGeom prst="rect">
            <a:avLst/>
          </a:prstGeom>
          <a:noFill/>
        </p:spPr>
        <p:txBody>
          <a:bodyPr wrap="square" rtlCol="0">
            <a:spAutoFit/>
          </a:bodyPr>
          <a:lstStyle/>
          <a:p>
            <a:pPr algn="just">
              <a:lnSpc>
                <a:spcPct val="150000"/>
              </a:lnSpc>
            </a:pP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实时网络探测的目的是通过发送与业务流量相类似的探测流量，以反映网络真实状况。</a:t>
            </a:r>
          </a:p>
        </p:txBody>
      </p:sp>
      <p:sp>
        <p:nvSpPr>
          <p:cNvPr id="5" name="文本框 4"/>
          <p:cNvSpPr txBox="1"/>
          <p:nvPr>
            <p:custDataLst>
              <p:tags r:id="rId3"/>
            </p:custDataLst>
          </p:nvPr>
        </p:nvSpPr>
        <p:spPr>
          <a:xfrm>
            <a:off x="2892424" y="2284352"/>
            <a:ext cx="1917917" cy="368300"/>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sym typeface="+mn-ea"/>
              </a:rPr>
              <a:t>相关研究工作</a:t>
            </a:r>
            <a:endParaRPr lang="zh-CN" altLang="en-US" b="1" dirty="0">
              <a:solidFill>
                <a:srgbClr val="5E068C"/>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4"/>
            </p:custDataLst>
          </p:nvPr>
        </p:nvSpPr>
        <p:spPr>
          <a:xfrm>
            <a:off x="2891155" y="2644193"/>
            <a:ext cx="9167495" cy="3287375"/>
          </a:xfrm>
          <a:prstGeom prst="rect">
            <a:avLst/>
          </a:prstGeom>
          <a:noFill/>
        </p:spPr>
        <p:txBody>
          <a:bodyPr wrap="square" rtlCol="0">
            <a:spAutoFit/>
          </a:bodyPr>
          <a:lstStyle/>
          <a:p>
            <a:pPr algn="just">
              <a:lnSpc>
                <a:spcPct val="150000"/>
              </a:lnSpc>
            </a:pPr>
            <a:r>
              <a:rPr lang="zh-CN" altLang="en-US" sz="14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数据中心网络探测</a:t>
            </a:r>
          </a:p>
          <a:p>
            <a:pPr marL="285750" indent="-285750" algn="just">
              <a:lnSpc>
                <a:spcPct val="150000"/>
              </a:lnSpc>
              <a:buFont typeface="Arial" panose="020B0604020202090204" pitchFamily="34" charset="0"/>
              <a:buChar char="•"/>
            </a:pPr>
            <a:r>
              <a:rPr lang="en-US" altLang="zh-CN" sz="1400" dirty="0" err="1">
                <a:solidFill>
                  <a:schemeClr val="tx1">
                    <a:lumMod val="65000"/>
                    <a:lumOff val="35000"/>
                  </a:schemeClr>
                </a:solidFill>
                <a:latin typeface="Microsoft YaHei Light" panose="020B0502040204020203" pitchFamily="34" charset="-122"/>
                <a:ea typeface="Microsoft YaHei Light" panose="020B0502040204020203" pitchFamily="34" charset="-122"/>
              </a:rPr>
              <a:t>Pingmesh</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系统</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[1]</a:t>
            </a:r>
            <a:r>
              <a:rPr lang="zh-C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通过</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发送</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TCP</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握手包</a:t>
            </a:r>
            <a:r>
              <a:rPr lang="zh-C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实现数据中心网络的</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RTT</a:t>
            </a:r>
            <a:r>
              <a:rPr lang="zh-C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监测，有效反映链路延迟与网络健康状况</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endPar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indent="-285750" algn="just">
              <a:lnSpc>
                <a:spcPct val="150000"/>
              </a:lnSpc>
              <a:buFont typeface="Arial" panose="020B0604020202090204" pitchFamily="34" charset="0"/>
              <a:buChar char="•"/>
            </a:pPr>
            <a:r>
              <a:rPr lang="en-US" altLang="zh-CN" sz="1400" dirty="0" err="1">
                <a:solidFill>
                  <a:schemeClr val="tx1">
                    <a:lumMod val="65000"/>
                    <a:lumOff val="35000"/>
                  </a:schemeClr>
                </a:solidFill>
                <a:latin typeface="Microsoft YaHei Light" panose="020B0502040204020203" pitchFamily="34" charset="-122"/>
                <a:ea typeface="Microsoft YaHei Light" panose="020B0502040204020203" pitchFamily="34" charset="-122"/>
              </a:rPr>
              <a:t>Netbouncer</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[2]</a:t>
            </a:r>
            <a:r>
              <a:rPr lang="zh-C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利用</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IP-in-IP</a:t>
            </a:r>
            <a:r>
              <a:rPr lang="zh-C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探测数据包进行网络故障定位，能够准确诊断设备或链路故障 </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endPar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indent="-285750" algn="just">
              <a:lnSpc>
                <a:spcPct val="150000"/>
              </a:lnSpc>
              <a:buFont typeface="Arial" panose="020B0604020202090204" pitchFamily="34" charset="0"/>
              <a:buChar char="•"/>
            </a:pPr>
            <a:r>
              <a:rPr lang="en-US" altLang="zh-CN" sz="1400" dirty="0" err="1">
                <a:solidFill>
                  <a:schemeClr val="tx1">
                    <a:lumMod val="65000"/>
                    <a:lumOff val="35000"/>
                  </a:schemeClr>
                </a:solidFill>
                <a:latin typeface="Microsoft YaHei Light" panose="020B0502040204020203" pitchFamily="34" charset="-122"/>
                <a:ea typeface="Microsoft YaHei Light" panose="020B0502040204020203" pitchFamily="34" charset="-122"/>
              </a:rPr>
              <a:t>ByteTracker</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利用非法</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TCP</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 </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SYN/ACK</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 </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RST</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实现无</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Agent</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探测，利用多流消噪进行异常检测。</a:t>
            </a:r>
            <a:endPar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indent="-285750" algn="just">
              <a:lnSpc>
                <a:spcPct val="150000"/>
              </a:lnSpc>
              <a:buFont typeface="Arial" panose="020B0604020202090204" pitchFamily="34" charset="0"/>
              <a:buChar char="•"/>
            </a:pPr>
            <a:r>
              <a:rPr lang="en-US" altLang="zh-CN" sz="1400" dirty="0" err="1">
                <a:solidFill>
                  <a:schemeClr val="tx1">
                    <a:lumMod val="65000"/>
                    <a:lumOff val="35000"/>
                  </a:schemeClr>
                </a:solidFill>
                <a:latin typeface="Microsoft YaHei Light" panose="020B0502040204020203" pitchFamily="34" charset="-122"/>
                <a:ea typeface="Microsoft YaHei Light" panose="020B0502040204020203" pitchFamily="34" charset="-122"/>
              </a:rPr>
              <a:t>SkeletonHunter</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通过推断流量模式减少探测发包量。</a:t>
            </a:r>
          </a:p>
          <a:p>
            <a:pPr algn="just">
              <a:lnSpc>
                <a:spcPct val="150000"/>
              </a:lnSpc>
            </a:pPr>
            <a:r>
              <a:rPr lang="zh-CN" altLang="en-US" sz="14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互联网网络探测</a:t>
            </a:r>
          </a:p>
          <a:p>
            <a:pPr marL="285750" indent="-285750" algn="just">
              <a:lnSpc>
                <a:spcPct val="150000"/>
              </a:lnSpc>
              <a:buFont typeface="Arial" panose="020B0604020202090204" pitchFamily="34" charset="0"/>
              <a:buChar char="•"/>
            </a:pP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Paris</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 </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Traceroute</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r>
              <a:rPr lang="en-US" altLang="zh-CN" sz="1400" dirty="0" err="1">
                <a:solidFill>
                  <a:schemeClr val="tx1">
                    <a:lumMod val="65000"/>
                    <a:lumOff val="35000"/>
                  </a:schemeClr>
                </a:solidFill>
                <a:latin typeface="Microsoft YaHei Light" panose="020B0502040204020203" pitchFamily="34" charset="-122"/>
                <a:ea typeface="Microsoft YaHei Light" panose="020B0502040204020203" pitchFamily="34" charset="-122"/>
              </a:rPr>
              <a:t>Yarrp</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通过设计</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Trace</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方式实现快速拓扑发现和地址搜集。</a:t>
            </a:r>
            <a:endPar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indent="-285750" algn="just">
              <a:lnSpc>
                <a:spcPct val="150000"/>
              </a:lnSpc>
              <a:buFont typeface="Arial" panose="020B0604020202090204" pitchFamily="34" charset="0"/>
              <a:buChar char="•"/>
            </a:pPr>
            <a:r>
              <a:rPr lang="en" altLang="zh-CN" sz="1400" dirty="0" err="1">
                <a:solidFill>
                  <a:schemeClr val="tx1">
                    <a:lumMod val="65000"/>
                    <a:lumOff val="35000"/>
                  </a:schemeClr>
                </a:solidFill>
                <a:latin typeface="Microsoft YaHei Light" panose="020B0502040204020203" pitchFamily="34" charset="-122"/>
                <a:ea typeface="Microsoft YaHei Light" panose="020B0502040204020203" pitchFamily="34" charset="-122"/>
              </a:rPr>
              <a:t>BlameIt</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通过被动测量和主动探测相结合的方式，使用</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Traceroute</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定位故障</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AS</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endPar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indent="-285750" algn="just">
              <a:lnSpc>
                <a:spcPct val="150000"/>
              </a:lnSpc>
              <a:buFont typeface="Arial" panose="020B0604020202090204" pitchFamily="34" charset="0"/>
              <a:buChar char="•"/>
            </a:pPr>
            <a:r>
              <a:rPr lang="en" altLang="zh-CN" sz="1400" dirty="0" err="1">
                <a:solidFill>
                  <a:schemeClr val="tx1">
                    <a:lumMod val="65000"/>
                    <a:lumOff val="35000"/>
                  </a:schemeClr>
                </a:solidFill>
                <a:latin typeface="Microsoft YaHei Light" panose="020B0502040204020203" pitchFamily="34" charset="-122"/>
                <a:ea typeface="Microsoft YaHei Light" panose="020B0502040204020203" pitchFamily="34" charset="-122"/>
              </a:rPr>
              <a:t>AAsclepius</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通过</a:t>
            </a:r>
            <a:r>
              <a:rPr lang="en"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BGP</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路由宣告的撤回和重新宣告，判断互联网故障方向并绕行。</a:t>
            </a:r>
          </a:p>
          <a:p>
            <a:pPr marL="285750" indent="-285750" algn="just">
              <a:lnSpc>
                <a:spcPct val="150000"/>
              </a:lnSpc>
              <a:buFont typeface="Arial" panose="020B0604020202090204" pitchFamily="34" charset="0"/>
              <a:buChar char="•"/>
            </a:pP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Skyline</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在</a:t>
            </a:r>
            <a:r>
              <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CDN</a:t>
            </a:r>
            <a:r>
              <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rPr>
              <a:t>和公有云部署双向探测节点提升路径覆盖，扩大故障感知范围。</a:t>
            </a:r>
            <a:endParaRPr lang="en-US" altLang="zh-CN"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p:txBody>
      </p:sp>
      <p:sp>
        <p:nvSpPr>
          <p:cNvPr id="10" name="矩形 9"/>
          <p:cNvSpPr/>
          <p:nvPr>
            <p:custDataLst>
              <p:tags r:id="rId5"/>
            </p:custDataLst>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custDataLst>
              <p:tags r:id="rId6"/>
            </p:custDataLst>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2" name="矩形 21"/>
          <p:cNvSpPr/>
          <p:nvPr>
            <p:custDataLst>
              <p:tags r:id="rId7"/>
            </p:custDataLst>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3" name="矩形 22"/>
          <p:cNvSpPr/>
          <p:nvPr>
            <p:custDataLst>
              <p:tags r:id="rId8"/>
            </p:custDataLst>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矩形 52"/>
          <p:cNvSpPr/>
          <p:nvPr>
            <p:custDataLst>
              <p:tags r:id="rId9"/>
            </p:custDataLst>
          </p:nvPr>
        </p:nvSpPr>
        <p:spPr>
          <a:xfrm>
            <a:off x="-286" y="2382319"/>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54" name="文本框 53"/>
          <p:cNvSpPr txBox="1"/>
          <p:nvPr>
            <p:custDataLst>
              <p:tags r:id="rId10"/>
            </p:custDataLst>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11"/>
            </p:custDataLst>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12"/>
            </p:custDataLst>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13"/>
            </p:custDataLst>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14"/>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15"/>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16" name="文本框 15"/>
          <p:cNvSpPr txBox="1"/>
          <p:nvPr/>
        </p:nvSpPr>
        <p:spPr>
          <a:xfrm>
            <a:off x="230518" y="3828746"/>
            <a:ext cx="2529161" cy="307777"/>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结论和未来方向</a:t>
            </a:r>
          </a:p>
        </p:txBody>
      </p:sp>
      <p:sp>
        <p:nvSpPr>
          <p:cNvPr id="3" name="文本框 2"/>
          <p:cNvSpPr txBox="1"/>
          <p:nvPr/>
        </p:nvSpPr>
        <p:spPr>
          <a:xfrm>
            <a:off x="2892717" y="492189"/>
            <a:ext cx="5348033" cy="46166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研究内容一：</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IPv6</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探测目标生成</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(GTA)</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10</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1"/>
            </p:custDataLst>
          </p:nvPr>
        </p:nvSpPr>
        <p:spPr>
          <a:xfrm>
            <a:off x="2759887" y="1683860"/>
            <a:ext cx="1917917" cy="368300"/>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面临的挑战</a:t>
            </a:r>
          </a:p>
        </p:txBody>
      </p:sp>
      <p:sp>
        <p:nvSpPr>
          <p:cNvPr id="6" name="文本框 5"/>
          <p:cNvSpPr txBox="1"/>
          <p:nvPr>
            <p:custDataLst>
              <p:tags r:id="rId2"/>
            </p:custDataLst>
          </p:nvPr>
        </p:nvSpPr>
        <p:spPr>
          <a:xfrm>
            <a:off x="2759710" y="1729740"/>
            <a:ext cx="8554085" cy="4898390"/>
          </a:xfrm>
          <a:prstGeom prst="rect">
            <a:avLst/>
          </a:prstGeom>
          <a:noFill/>
        </p:spPr>
        <p:txBody>
          <a:bodyPr wrap="square" rtlCol="0">
            <a:noAutofit/>
          </a:bodyPr>
          <a:lstStyle/>
          <a:p>
            <a:pPr indent="0" algn="just">
              <a:lnSpc>
                <a:spcPct val="150000"/>
              </a:lnSpc>
              <a:buNone/>
            </a:pPr>
            <a:endPar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342900" indent="-342900" algn="just">
              <a:lnSpc>
                <a:spcPct val="150000"/>
              </a:lnSpc>
              <a:buAutoNum type="arabicPeriod"/>
            </a:pPr>
            <a:r>
              <a:rPr lang="zh-CN" altLang="en-US" sz="16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种子地址、目标地址有偏：</a:t>
            </a: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种子地址常集中在部分</a:t>
            </a:r>
            <a:r>
              <a:rPr lang="en-US" altLang="zh-CN"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AS/Prefix</a:t>
            </a: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，生成的候选地址同样存在偏好，而公告的前缀逐年增加，难以满足覆盖全球互联网的探测需要。</a:t>
            </a:r>
            <a:endParaRPr lang="en-US" altLang="zh-CN" sz="16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342900" indent="-342900" algn="just">
              <a:lnSpc>
                <a:spcPct val="150000"/>
              </a:lnSpc>
              <a:buAutoNum type="arabicPeriod"/>
            </a:pPr>
            <a:endPar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342900" indent="-342900" algn="just">
              <a:lnSpc>
                <a:spcPct val="150000"/>
              </a:lnSpc>
              <a:buAutoNum type="arabicPeriod"/>
            </a:pPr>
            <a:r>
              <a:rPr lang="zh-CN" altLang="en-US" sz="16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动态生成算法运行时间长：</a:t>
            </a: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 为提高响应率和覆盖率，动态生成算法先进行预扫描，再根据结果调整前缀</a:t>
            </a:r>
            <a:r>
              <a:rPr lang="en-US" altLang="zh-CN"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模式权重。然而这种“扫描</a:t>
            </a:r>
            <a:r>
              <a:rPr lang="en-US" altLang="zh-CN"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更新</a:t>
            </a:r>
            <a:r>
              <a:rPr lang="en-US" altLang="zh-CN"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r>
              <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rPr>
              <a:t>再生成”的有状态方法显著拉长单次运行时间，难以满足实时性的探测需要。</a:t>
            </a:r>
          </a:p>
          <a:p>
            <a:pPr marL="342900" indent="-342900" algn="just">
              <a:lnSpc>
                <a:spcPct val="150000"/>
              </a:lnSpc>
              <a:buAutoNum type="arabicPeriod"/>
            </a:pPr>
            <a:endPar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342900" indent="-342900" algn="just">
              <a:lnSpc>
                <a:spcPct val="150000"/>
              </a:lnSpc>
              <a:buAutoNum type="arabicPeriod"/>
            </a:pPr>
            <a:endPar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342900" indent="-342900" algn="just">
              <a:lnSpc>
                <a:spcPct val="150000"/>
              </a:lnSpc>
              <a:buAutoNum type="arabicPeriod"/>
            </a:pPr>
            <a:endPar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342900" indent="-342900" algn="just">
              <a:lnSpc>
                <a:spcPct val="150000"/>
              </a:lnSpc>
              <a:buAutoNum type="arabicPeriod"/>
            </a:pPr>
            <a:endParaRPr lang="zh-CN" altLang="en-US" sz="16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p:txBody>
      </p:sp>
      <p:sp>
        <p:nvSpPr>
          <p:cNvPr id="9" name="矩形 8"/>
          <p:cNvSpPr/>
          <p:nvPr>
            <p:custDataLst>
              <p:tags r:id="rId3"/>
            </p:custDataLst>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custDataLst>
              <p:tags r:id="rId4"/>
            </p:custDataLst>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矩形 20"/>
          <p:cNvSpPr/>
          <p:nvPr>
            <p:custDataLst>
              <p:tags r:id="rId5"/>
            </p:custDataLst>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2" name="矩形 21"/>
          <p:cNvSpPr/>
          <p:nvPr>
            <p:custDataLst>
              <p:tags r:id="rId6"/>
            </p:custDataLst>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矩形 52"/>
          <p:cNvSpPr/>
          <p:nvPr>
            <p:custDataLst>
              <p:tags r:id="rId7"/>
            </p:custDataLst>
          </p:nvPr>
        </p:nvSpPr>
        <p:spPr>
          <a:xfrm>
            <a:off x="8604" y="3034464"/>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54" name="文本框 53"/>
          <p:cNvSpPr txBox="1"/>
          <p:nvPr>
            <p:custDataLst>
              <p:tags r:id="rId8"/>
            </p:custDataLst>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9"/>
            </p:custDataLst>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10"/>
            </p:custDataLst>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11"/>
            </p:custDataLst>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12"/>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13"/>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pic>
        <p:nvPicPr>
          <p:cNvPr id="2" name="图片 1">
            <a:extLst>
              <a:ext uri="{FF2B5EF4-FFF2-40B4-BE49-F238E27FC236}">
                <a16:creationId xmlns:a16="http://schemas.microsoft.com/office/drawing/2014/main" id="{1CDDEF58-71C7-E13F-4D9F-58590435FA1C}"/>
              </a:ext>
            </a:extLst>
          </p:cNvPr>
          <p:cNvPicPr>
            <a:picLocks noChangeAspect="1"/>
          </p:cNvPicPr>
          <p:nvPr/>
        </p:nvPicPr>
        <p:blipFill>
          <a:blip r:embed="rId17"/>
          <a:stretch>
            <a:fillRect/>
          </a:stretch>
        </p:blipFill>
        <p:spPr>
          <a:xfrm>
            <a:off x="3108325" y="4351338"/>
            <a:ext cx="7327900" cy="1866900"/>
          </a:xfrm>
          <a:prstGeom prst="rect">
            <a:avLst/>
          </a:prstGeom>
        </p:spPr>
      </p:pic>
      <p:pic>
        <p:nvPicPr>
          <p:cNvPr id="4" name="图片 3">
            <a:extLst>
              <a:ext uri="{FF2B5EF4-FFF2-40B4-BE49-F238E27FC236}">
                <a16:creationId xmlns:a16="http://schemas.microsoft.com/office/drawing/2014/main" id="{ED93C9BC-897A-B698-221A-5324F95D5D60}"/>
              </a:ext>
            </a:extLst>
          </p:cNvPr>
          <p:cNvPicPr>
            <a:picLocks noChangeAspect="1"/>
          </p:cNvPicPr>
          <p:nvPr/>
        </p:nvPicPr>
        <p:blipFill>
          <a:blip r:embed="rId18"/>
          <a:stretch>
            <a:fillRect/>
          </a:stretch>
        </p:blipFill>
        <p:spPr>
          <a:xfrm>
            <a:off x="8118679" y="321868"/>
            <a:ext cx="3031659" cy="18569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3" name="文本框 2"/>
          <p:cNvSpPr txBox="1"/>
          <p:nvPr/>
        </p:nvSpPr>
        <p:spPr>
          <a:xfrm>
            <a:off x="2892718" y="492189"/>
            <a:ext cx="5559906" cy="46166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研究内容一：</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 IPv6</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探测目标生成</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(GTA)</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11</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1"/>
            </p:custDataLst>
          </p:nvPr>
        </p:nvSpPr>
        <p:spPr>
          <a:xfrm>
            <a:off x="2892602" y="1502885"/>
            <a:ext cx="1917917" cy="368300"/>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拟解决思路</a:t>
            </a:r>
          </a:p>
        </p:txBody>
      </p:sp>
      <p:sp>
        <p:nvSpPr>
          <p:cNvPr id="6" name="文本框 5"/>
          <p:cNvSpPr txBox="1"/>
          <p:nvPr>
            <p:custDataLst>
              <p:tags r:id="rId2"/>
            </p:custDataLst>
          </p:nvPr>
        </p:nvSpPr>
        <p:spPr>
          <a:xfrm>
            <a:off x="2892425" y="1871980"/>
            <a:ext cx="9031605" cy="3759835"/>
          </a:xfrm>
          <a:prstGeom prst="rect">
            <a:avLst/>
          </a:prstGeom>
          <a:noFill/>
        </p:spPr>
        <p:txBody>
          <a:bodyPr wrap="square" rtlCol="0">
            <a:noAutofit/>
          </a:bodyPr>
          <a:lstStyle/>
          <a:p>
            <a:pPr algn="just">
              <a:lnSpc>
                <a:spcPct val="150000"/>
              </a:lnSpc>
            </a:pPr>
            <a:r>
              <a:rPr lang="en-US" altLang="zh-CN" dirty="0">
                <a:solidFill>
                  <a:schemeClr val="tx1">
                    <a:lumMod val="65000"/>
                    <a:lumOff val="35000"/>
                  </a:schemeClr>
                </a:solidFill>
                <a:latin typeface="Microsoft YaHei Light" panose="020B0502040204020203" pitchFamily="34" charset="-122"/>
                <a:ea typeface="Microsoft YaHei Light" panose="020B0502040204020203" pitchFamily="34" charset="-122"/>
              </a:rPr>
              <a:t>1. </a:t>
            </a:r>
            <a:r>
              <a:rPr lang="zh-CN" altLang="en-US" b="1" dirty="0">
                <a:solidFill>
                  <a:schemeClr val="tx1">
                    <a:lumMod val="65000"/>
                    <a:lumOff val="35000"/>
                  </a:schemeClr>
                </a:solidFill>
                <a:latin typeface="Microsoft YaHei Light" panose="020B0502040204020203" pitchFamily="34" charset="-122"/>
                <a:ea typeface="Microsoft YaHei Light" panose="020B0502040204020203" pitchFamily="34" charset="-122"/>
              </a:rPr>
              <a:t>利用</a:t>
            </a:r>
            <a:r>
              <a:rPr lang="en-US" altLang="zh-CN" b="1" dirty="0">
                <a:solidFill>
                  <a:schemeClr val="tx1">
                    <a:lumMod val="65000"/>
                    <a:lumOff val="35000"/>
                  </a:schemeClr>
                </a:solidFill>
                <a:latin typeface="Microsoft YaHei Light" panose="020B0502040204020203" pitchFamily="34" charset="-122"/>
                <a:ea typeface="Microsoft YaHei Light" panose="020B0502040204020203" pitchFamily="34" charset="-122"/>
              </a:rPr>
              <a:t>BGP</a:t>
            </a:r>
            <a:r>
              <a:rPr lang="zh-CN" altLang="en-US" b="1" dirty="0">
                <a:solidFill>
                  <a:schemeClr val="tx1">
                    <a:lumMod val="65000"/>
                    <a:lumOff val="35000"/>
                  </a:schemeClr>
                </a:solidFill>
                <a:latin typeface="Microsoft YaHei Light" panose="020B0502040204020203" pitchFamily="34" charset="-122"/>
                <a:ea typeface="Microsoft YaHei Light" panose="020B0502040204020203" pitchFamily="34" charset="-122"/>
              </a:rPr>
              <a:t>前缀地址配置模版的相似性进行迁移</a:t>
            </a: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p>
          <a:p>
            <a:pPr algn="just">
              <a:lnSpc>
                <a:spcPct val="150000"/>
              </a:lnSpc>
            </a:pPr>
            <a:r>
              <a:rPr lang="en-US" altLang="zh-CN" dirty="0">
                <a:solidFill>
                  <a:schemeClr val="tx1">
                    <a:lumMod val="65000"/>
                    <a:lumOff val="35000"/>
                  </a:schemeClr>
                </a:solidFill>
                <a:latin typeface="Microsoft YaHei Light" panose="020B0502040204020203" pitchFamily="34" charset="-122"/>
                <a:ea typeface="Microsoft YaHei Light" panose="020B0502040204020203" pitchFamily="34" charset="-122"/>
                <a:sym typeface="+mn-ea"/>
              </a:rPr>
              <a:t>IPv6</a:t>
            </a: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sym typeface="+mn-ea"/>
              </a:rPr>
              <a:t>地址的接口标识符</a:t>
            </a:r>
            <a:r>
              <a:rPr lang="en-US" altLang="zh-CN" dirty="0">
                <a:solidFill>
                  <a:schemeClr val="tx1">
                    <a:lumMod val="65000"/>
                    <a:lumOff val="35000"/>
                  </a:schemeClr>
                </a:solidFill>
                <a:latin typeface="Microsoft YaHei Light" panose="020B0502040204020203" pitchFamily="34" charset="-122"/>
                <a:ea typeface="Microsoft YaHei Light" panose="020B0502040204020203" pitchFamily="34" charset="-122"/>
                <a:sym typeface="+mn-ea"/>
              </a:rPr>
              <a:t>(</a:t>
            </a:r>
            <a:r>
              <a:rPr lang="en" altLang="zh-CN" i="0" dirty="0">
                <a:solidFill>
                  <a:srgbClr val="0D1239"/>
                </a:solidFill>
                <a:effectLst/>
                <a:latin typeface="Times New Roman" panose="02020603050405020304" pitchFamily="18" charset="0"/>
                <a:ea typeface="PingFang SC" panose="020B0400000000000000" pitchFamily="34" charset="-122"/>
                <a:cs typeface="Times New Roman" panose="02020603050405020304" pitchFamily="18" charset="0"/>
              </a:rPr>
              <a:t>Interface Identifier</a:t>
            </a:r>
            <a:r>
              <a:rPr lang="en-US" altLang="zh-CN" dirty="0">
                <a:solidFill>
                  <a:schemeClr val="tx1">
                    <a:lumMod val="65000"/>
                    <a:lumOff val="35000"/>
                  </a:schemeClr>
                </a:solidFill>
                <a:latin typeface="Microsoft YaHei Light" panose="020B0502040204020203" pitchFamily="34" charset="-122"/>
                <a:ea typeface="Microsoft YaHei Light" panose="020B0502040204020203" pitchFamily="34" charset="-122"/>
                <a:sym typeface="+mn-ea"/>
              </a:rPr>
              <a:t>)</a:t>
            </a: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sym typeface="+mn-ea"/>
              </a:rPr>
              <a:t>具有通用的分配方式，不同</a:t>
            </a:r>
            <a:r>
              <a:rPr lang="en-US" altLang="zh-CN" dirty="0">
                <a:solidFill>
                  <a:schemeClr val="tx1">
                    <a:lumMod val="65000"/>
                    <a:lumOff val="35000"/>
                  </a:schemeClr>
                </a:solidFill>
                <a:latin typeface="Microsoft YaHei Light" panose="020B0502040204020203" pitchFamily="34" charset="-122"/>
                <a:ea typeface="Microsoft YaHei Light" panose="020B0502040204020203" pitchFamily="34" charset="-122"/>
                <a:sym typeface="+mn-ea"/>
              </a:rPr>
              <a:t>BGP</a:t>
            </a: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sym typeface="+mn-ea"/>
              </a:rPr>
              <a:t>前缀的地址分配模版具有</a:t>
            </a:r>
            <a:r>
              <a:rPr lang="zh-CN" altLang="en-US" b="1" dirty="0">
                <a:solidFill>
                  <a:srgbClr val="7030A0"/>
                </a:solidFill>
                <a:latin typeface="Microsoft YaHei Light" panose="020B0502040204020203" pitchFamily="34" charset="-122"/>
                <a:ea typeface="Microsoft YaHei Light" panose="020B0502040204020203" pitchFamily="34" charset="-122"/>
                <a:sym typeface="+mn-ea"/>
              </a:rPr>
              <a:t>相似性</a:t>
            </a: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sym typeface="+mn-ea"/>
              </a:rPr>
              <a:t>，从种子地址挖掘的模版可以迁移到其他前缀</a:t>
            </a:r>
          </a:p>
          <a:p>
            <a:pPr algn="just">
              <a:lnSpc>
                <a:spcPct val="150000"/>
              </a:lnSpc>
            </a:pPr>
            <a:endPar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algn="just">
              <a:lnSpc>
                <a:spcPct val="150000"/>
              </a:lnSpc>
            </a:pPr>
            <a:r>
              <a:rPr lang="en-US" altLang="zh-CN" dirty="0">
                <a:solidFill>
                  <a:schemeClr val="tx1">
                    <a:lumMod val="65000"/>
                    <a:lumOff val="35000"/>
                  </a:schemeClr>
                </a:solidFill>
                <a:latin typeface="Microsoft YaHei Light" panose="020B0502040204020203" pitchFamily="34" charset="-122"/>
                <a:ea typeface="Microsoft YaHei Light" panose="020B0502040204020203" pitchFamily="34" charset="-122"/>
              </a:rPr>
              <a:t>2</a:t>
            </a:r>
            <a:r>
              <a:rPr lang="en-US" altLang="zh-CN" b="1"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r>
              <a:rPr lang="zh-CN" altLang="en-US" b="1" dirty="0">
                <a:solidFill>
                  <a:schemeClr val="tx1">
                    <a:lumMod val="65000"/>
                    <a:lumOff val="35000"/>
                  </a:schemeClr>
                </a:solidFill>
                <a:latin typeface="Microsoft YaHei Light" panose="020B0502040204020203" pitchFamily="34" charset="-122"/>
                <a:ea typeface="Microsoft YaHei Light" panose="020B0502040204020203" pitchFamily="34" charset="-122"/>
              </a:rPr>
              <a:t>解耦预扫描</a:t>
            </a:r>
            <a:r>
              <a:rPr lang="zh-CN" altLang="en-US" b="1">
                <a:solidFill>
                  <a:schemeClr val="tx1">
                    <a:lumMod val="65000"/>
                    <a:lumOff val="35000"/>
                  </a:schemeClr>
                </a:solidFill>
                <a:latin typeface="Microsoft YaHei Light" panose="020B0502040204020203" pitchFamily="34" charset="-122"/>
                <a:ea typeface="Microsoft YaHei Light" panose="020B0502040204020203" pitchFamily="34" charset="-122"/>
              </a:rPr>
              <a:t>与正式扫描以</a:t>
            </a:r>
            <a:r>
              <a:rPr lang="zh-CN" altLang="en-US" b="1" dirty="0">
                <a:solidFill>
                  <a:schemeClr val="tx1">
                    <a:lumMod val="65000"/>
                    <a:lumOff val="35000"/>
                  </a:schemeClr>
                </a:solidFill>
                <a:latin typeface="Microsoft YaHei Light" panose="020B0502040204020203" pitchFamily="34" charset="-122"/>
                <a:ea typeface="Microsoft YaHei Light" panose="020B0502040204020203" pitchFamily="34" charset="-122"/>
              </a:rPr>
              <a:t>提升效率：</a:t>
            </a:r>
          </a:p>
          <a:p>
            <a:pPr marL="285750" indent="-285750" algn="just">
              <a:lnSpc>
                <a:spcPct val="150000"/>
              </a:lnSpc>
              <a:buFont typeface="Arial" panose="020B0604020202020204" pitchFamily="34" charset="0"/>
              <a:buChar char="•"/>
            </a:pP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rPr>
              <a:t>生成候选地址进行探索，持久化探索结果并进行</a:t>
            </a:r>
            <a:r>
              <a:rPr lang="zh-CN" altLang="en-US" dirty="0">
                <a:solidFill>
                  <a:srgbClr val="7030A0"/>
                </a:solidFill>
                <a:latin typeface="Microsoft YaHei Light" panose="020B0502040204020203" pitchFamily="34" charset="-122"/>
                <a:ea typeface="Microsoft YaHei Light" panose="020B0502040204020203" pitchFamily="34" charset="-122"/>
              </a:rPr>
              <a:t>增量学习</a:t>
            </a: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rPr>
              <a:t>，每天更新目标前缀及模式权重，利用概率数据结构保证探索地址空间不重叠</a:t>
            </a:r>
            <a:r>
              <a:rPr lang="zh-CN" altLang="en-US" b="1"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r>
              <a:rPr lang="en-US" altLang="zh-CN" b="1" dirty="0">
                <a:solidFill>
                  <a:srgbClr val="7030A0"/>
                </a:solidFill>
                <a:latin typeface="Microsoft YaHei Light" panose="020B0502040204020203" pitchFamily="34" charset="-122"/>
                <a:ea typeface="Microsoft YaHei Light" panose="020B0502040204020203" pitchFamily="34" charset="-122"/>
              </a:rPr>
              <a:t> </a:t>
            </a:r>
          </a:p>
          <a:p>
            <a:pPr marL="285750" indent="-285750" algn="just">
              <a:lnSpc>
                <a:spcPct val="150000"/>
              </a:lnSpc>
              <a:buFont typeface="Arial" panose="020B0604020202020204" pitchFamily="34" charset="0"/>
              <a:buChar char="•"/>
            </a:pP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rPr>
              <a:t>选择和收敛活跃地址至百万级别进行高频探测，单轮耗时较现有缩短 </a:t>
            </a:r>
            <a:r>
              <a:rPr lang="en-US" altLang="zh-CN" dirty="0">
                <a:solidFill>
                  <a:schemeClr val="tx1">
                    <a:lumMod val="65000"/>
                    <a:lumOff val="35000"/>
                  </a:schemeClr>
                </a:solidFill>
                <a:latin typeface="Microsoft YaHei Light" panose="020B0502040204020203" pitchFamily="34" charset="-122"/>
                <a:ea typeface="Microsoft YaHei Light" panose="020B0502040204020203" pitchFamily="34" charset="-122"/>
              </a:rPr>
              <a:t>10× </a:t>
            </a:r>
          </a:p>
        </p:txBody>
      </p:sp>
      <p:sp>
        <p:nvSpPr>
          <p:cNvPr id="9" name="矩形 8"/>
          <p:cNvSpPr/>
          <p:nvPr>
            <p:custDataLst>
              <p:tags r:id="rId3"/>
            </p:custDataLst>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custDataLst>
              <p:tags r:id="rId4"/>
            </p:custDataLst>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矩形 20"/>
          <p:cNvSpPr/>
          <p:nvPr>
            <p:custDataLst>
              <p:tags r:id="rId5"/>
            </p:custDataLst>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2" name="矩形 21"/>
          <p:cNvSpPr/>
          <p:nvPr>
            <p:custDataLst>
              <p:tags r:id="rId6"/>
            </p:custDataLst>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矩形 52"/>
          <p:cNvSpPr/>
          <p:nvPr>
            <p:custDataLst>
              <p:tags r:id="rId7"/>
            </p:custDataLst>
          </p:nvPr>
        </p:nvSpPr>
        <p:spPr>
          <a:xfrm>
            <a:off x="-286" y="3035099"/>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54" name="文本框 53"/>
          <p:cNvSpPr txBox="1"/>
          <p:nvPr>
            <p:custDataLst>
              <p:tags r:id="rId8"/>
            </p:custDataLst>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9"/>
            </p:custDataLst>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10"/>
            </p:custDataLst>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11"/>
            </p:custDataLst>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12"/>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13"/>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3" name="文本框 2"/>
          <p:cNvSpPr txBox="1"/>
          <p:nvPr/>
        </p:nvSpPr>
        <p:spPr>
          <a:xfrm>
            <a:off x="2892718" y="492189"/>
            <a:ext cx="5234012" cy="46037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研究内容二：实时网络探测</a:t>
            </a: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12</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1"/>
            </p:custDataLst>
          </p:nvPr>
        </p:nvSpPr>
        <p:spPr>
          <a:xfrm>
            <a:off x="2892602" y="1502885"/>
            <a:ext cx="1917917" cy="368300"/>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面临的挑战</a:t>
            </a:r>
          </a:p>
        </p:txBody>
      </p:sp>
      <p:sp>
        <p:nvSpPr>
          <p:cNvPr id="6" name="文本框 5"/>
          <p:cNvSpPr txBox="1"/>
          <p:nvPr>
            <p:custDataLst>
              <p:tags r:id="rId2"/>
            </p:custDataLst>
          </p:nvPr>
        </p:nvSpPr>
        <p:spPr>
          <a:xfrm>
            <a:off x="2892425" y="1974215"/>
            <a:ext cx="5774690" cy="1707199"/>
          </a:xfrm>
          <a:prstGeom prst="rect">
            <a:avLst/>
          </a:prstGeom>
          <a:noFill/>
        </p:spPr>
        <p:txBody>
          <a:bodyPr wrap="square" rtlCol="0">
            <a:spAutoFit/>
          </a:bodyPr>
          <a:lstStyle/>
          <a:p>
            <a:pPr algn="just">
              <a:lnSpc>
                <a:spcPct val="150000"/>
              </a:lnSpc>
            </a:pPr>
            <a:r>
              <a:rPr lang="zh-CN" altLang="en-US" sz="18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地址存活时间短：</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有研究发现，当前</a:t>
            </a:r>
            <a:r>
              <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GTA</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生成地址包含超过</a:t>
            </a:r>
            <a:r>
              <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40%ISP</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地址，且存活周期中位数低于</a:t>
            </a:r>
            <a:r>
              <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7</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天。缺乏考虑</a:t>
            </a: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rPr>
              <a:t>生命周期管理和长期可观测性，</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大量仅单次可达地址不足以支持持续的网络质量探测。</a:t>
            </a:r>
          </a:p>
        </p:txBody>
      </p:sp>
      <p:sp>
        <p:nvSpPr>
          <p:cNvPr id="9" name="矩形 8"/>
          <p:cNvSpPr/>
          <p:nvPr>
            <p:custDataLst>
              <p:tags r:id="rId3"/>
            </p:custDataLst>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custDataLst>
              <p:tags r:id="rId4"/>
            </p:custDataLst>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矩形 20"/>
          <p:cNvSpPr/>
          <p:nvPr>
            <p:custDataLst>
              <p:tags r:id="rId5"/>
            </p:custDataLst>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2" name="矩形 21"/>
          <p:cNvSpPr/>
          <p:nvPr>
            <p:custDataLst>
              <p:tags r:id="rId6"/>
            </p:custDataLst>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矩形 52"/>
          <p:cNvSpPr/>
          <p:nvPr>
            <p:custDataLst>
              <p:tags r:id="rId7"/>
            </p:custDataLst>
          </p:nvPr>
        </p:nvSpPr>
        <p:spPr>
          <a:xfrm>
            <a:off x="-286" y="3034464"/>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54" name="文本框 53"/>
          <p:cNvSpPr txBox="1"/>
          <p:nvPr>
            <p:custDataLst>
              <p:tags r:id="rId8"/>
            </p:custDataLst>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9"/>
            </p:custDataLst>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10"/>
            </p:custDataLst>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11"/>
            </p:custDataLst>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12"/>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13"/>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sp>
        <p:nvSpPr>
          <p:cNvPr id="4" name="文本框 3"/>
          <p:cNvSpPr txBox="1"/>
          <p:nvPr>
            <p:custDataLst>
              <p:tags r:id="rId14"/>
            </p:custDataLst>
          </p:nvPr>
        </p:nvSpPr>
        <p:spPr>
          <a:xfrm>
            <a:off x="2892425" y="3592086"/>
            <a:ext cx="9003030" cy="1291700"/>
          </a:xfrm>
          <a:prstGeom prst="rect">
            <a:avLst/>
          </a:prstGeom>
          <a:noFill/>
        </p:spPr>
        <p:txBody>
          <a:bodyPr wrap="square" rtlCol="0">
            <a:noAutofit/>
          </a:bodyPr>
          <a:lstStyle/>
          <a:p>
            <a:pPr algn="just">
              <a:lnSpc>
                <a:spcPct val="150000"/>
              </a:lnSpc>
            </a:pPr>
            <a:r>
              <a:rPr lang="zh-CN" altLang="en-US" sz="18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代表性缺失：</a:t>
            </a: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rPr>
              <a:t>既有研究的优化目标是“数量”，</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但是</a:t>
            </a:r>
            <a:r>
              <a:rPr lang="en-US" altLang="zh-CN" dirty="0">
                <a:solidFill>
                  <a:schemeClr val="tx1">
                    <a:lumMod val="65000"/>
                    <a:lumOff val="35000"/>
                  </a:schemeClr>
                </a:solidFill>
                <a:latin typeface="Microsoft YaHei Light" panose="020B0502040204020203" pitchFamily="34" charset="-122"/>
                <a:ea typeface="Microsoft YaHei Light" panose="020B0502040204020203" pitchFamily="34" charset="-122"/>
              </a:rPr>
              <a:t>hitlist</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通常聚集在某些</a:t>
            </a:r>
            <a:r>
              <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AS/Prefix</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，包含大量别名前缀，这些特定的活跃地址不能代表</a:t>
            </a:r>
            <a:r>
              <a:rPr lang="en-US" altLang="zh-CN" dirty="0">
                <a:solidFill>
                  <a:schemeClr val="tx1">
                    <a:lumMod val="65000"/>
                    <a:lumOff val="35000"/>
                  </a:schemeClr>
                </a:solidFill>
                <a:latin typeface="Microsoft YaHei Light" panose="020B0502040204020203" pitchFamily="34" charset="-122"/>
                <a:ea typeface="Microsoft YaHei Light" panose="020B0502040204020203" pitchFamily="34" charset="-122"/>
              </a:rPr>
              <a:t>IPv6</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互联网，无法反映真实的网络状况；同时，也没有考虑地址之间的可比较性。</a:t>
            </a:r>
          </a:p>
        </p:txBody>
      </p:sp>
      <p:pic>
        <p:nvPicPr>
          <p:cNvPr id="7" name="图片 6">
            <a:extLst>
              <a:ext uri="{FF2B5EF4-FFF2-40B4-BE49-F238E27FC236}">
                <a16:creationId xmlns:a16="http://schemas.microsoft.com/office/drawing/2014/main" id="{8CC41F71-C673-AE77-DF99-72FBCE8E8762}"/>
              </a:ext>
            </a:extLst>
          </p:cNvPr>
          <p:cNvPicPr>
            <a:picLocks noChangeAspect="1"/>
          </p:cNvPicPr>
          <p:nvPr/>
        </p:nvPicPr>
        <p:blipFill>
          <a:blip r:embed="rId18"/>
          <a:stretch>
            <a:fillRect/>
          </a:stretch>
        </p:blipFill>
        <p:spPr>
          <a:xfrm>
            <a:off x="7194018" y="5110066"/>
            <a:ext cx="4481708" cy="1433237"/>
          </a:xfrm>
          <a:prstGeom prst="rect">
            <a:avLst/>
          </a:prstGeom>
        </p:spPr>
      </p:pic>
      <p:pic>
        <p:nvPicPr>
          <p:cNvPr id="12" name="图片 11">
            <a:extLst>
              <a:ext uri="{FF2B5EF4-FFF2-40B4-BE49-F238E27FC236}">
                <a16:creationId xmlns:a16="http://schemas.microsoft.com/office/drawing/2014/main" id="{513667D8-B061-BBF9-DE3F-7AA76DAF6111}"/>
              </a:ext>
            </a:extLst>
          </p:cNvPr>
          <p:cNvPicPr>
            <a:picLocks noChangeAspect="1"/>
          </p:cNvPicPr>
          <p:nvPr/>
        </p:nvPicPr>
        <p:blipFill>
          <a:blip r:embed="rId19"/>
          <a:stretch>
            <a:fillRect/>
          </a:stretch>
        </p:blipFill>
        <p:spPr>
          <a:xfrm>
            <a:off x="9053324" y="1778941"/>
            <a:ext cx="3138676" cy="1971149"/>
          </a:xfrm>
          <a:prstGeom prst="rect">
            <a:avLst/>
          </a:prstGeom>
        </p:spPr>
      </p:pic>
      <p:pic>
        <p:nvPicPr>
          <p:cNvPr id="13" name="图片 12">
            <a:extLst>
              <a:ext uri="{FF2B5EF4-FFF2-40B4-BE49-F238E27FC236}">
                <a16:creationId xmlns:a16="http://schemas.microsoft.com/office/drawing/2014/main" id="{5A73BAE9-223B-9BB2-5B57-766600BAACE7}"/>
              </a:ext>
            </a:extLst>
          </p:cNvPr>
          <p:cNvPicPr>
            <a:picLocks noChangeAspect="1"/>
          </p:cNvPicPr>
          <p:nvPr/>
        </p:nvPicPr>
        <p:blipFill>
          <a:blip r:embed="rId20"/>
          <a:stretch>
            <a:fillRect/>
          </a:stretch>
        </p:blipFill>
        <p:spPr>
          <a:xfrm>
            <a:off x="8949421" y="-18290"/>
            <a:ext cx="3242579" cy="1961174"/>
          </a:xfrm>
          <a:prstGeom prst="rect">
            <a:avLst/>
          </a:prstGeom>
        </p:spPr>
      </p:pic>
      <p:pic>
        <p:nvPicPr>
          <p:cNvPr id="15" name="图片 14">
            <a:extLst>
              <a:ext uri="{FF2B5EF4-FFF2-40B4-BE49-F238E27FC236}">
                <a16:creationId xmlns:a16="http://schemas.microsoft.com/office/drawing/2014/main" id="{F9860C9E-B2EC-6F10-497F-86E265334968}"/>
              </a:ext>
            </a:extLst>
          </p:cNvPr>
          <p:cNvPicPr>
            <a:picLocks noChangeAspect="1"/>
          </p:cNvPicPr>
          <p:nvPr/>
        </p:nvPicPr>
        <p:blipFill>
          <a:blip r:embed="rId21"/>
          <a:stretch>
            <a:fillRect/>
          </a:stretch>
        </p:blipFill>
        <p:spPr>
          <a:xfrm>
            <a:off x="3123120" y="4882008"/>
            <a:ext cx="3714346" cy="19104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3" name="文本框 2"/>
          <p:cNvSpPr txBox="1"/>
          <p:nvPr/>
        </p:nvSpPr>
        <p:spPr>
          <a:xfrm>
            <a:off x="2892718" y="492189"/>
            <a:ext cx="5234012" cy="46037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研究内容二：实时网络质量探测</a:t>
            </a: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16</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1"/>
            </p:custDataLst>
          </p:nvPr>
        </p:nvSpPr>
        <p:spPr>
          <a:xfrm>
            <a:off x="2892602" y="1502885"/>
            <a:ext cx="1917917" cy="368300"/>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拟解决思路</a:t>
            </a:r>
          </a:p>
        </p:txBody>
      </p:sp>
      <p:sp>
        <p:nvSpPr>
          <p:cNvPr id="6" name="文本框 5"/>
          <p:cNvSpPr txBox="1"/>
          <p:nvPr>
            <p:custDataLst>
              <p:tags r:id="rId2"/>
            </p:custDataLst>
          </p:nvPr>
        </p:nvSpPr>
        <p:spPr>
          <a:xfrm>
            <a:off x="2892425" y="1871980"/>
            <a:ext cx="8711565" cy="4533870"/>
          </a:xfrm>
          <a:prstGeom prst="rect">
            <a:avLst/>
          </a:prstGeom>
          <a:noFill/>
        </p:spPr>
        <p:txBody>
          <a:bodyPr wrap="square" rtlCol="0">
            <a:spAutoFit/>
          </a:bodyPr>
          <a:lstStyle/>
          <a:p>
            <a:pPr algn="just">
              <a:lnSpc>
                <a:spcPct val="150000"/>
              </a:lnSpc>
              <a:buClrTx/>
              <a:buSzTx/>
              <a:buNone/>
            </a:pPr>
            <a:r>
              <a:rPr lang="zh-CN" altLang="en-US" b="1" dirty="0">
                <a:solidFill>
                  <a:schemeClr val="tx1">
                    <a:lumMod val="65000"/>
                    <a:lumOff val="35000"/>
                  </a:schemeClr>
                </a:solidFill>
                <a:latin typeface="Microsoft YaHei Light" panose="020B0502040204020203" pitchFamily="34" charset="-122"/>
                <a:ea typeface="Microsoft YaHei Light" panose="020B0502040204020203" pitchFamily="34" charset="-122"/>
              </a:rPr>
              <a:t>根据</a:t>
            </a:r>
            <a:r>
              <a:rPr lang="zh-CN" altLang="en-US" sz="18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实体</a:t>
            </a:r>
            <a:r>
              <a:rPr lang="en-US" altLang="zh-CN" sz="18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(AS/Prefix)</a:t>
            </a:r>
            <a:r>
              <a:rPr lang="zh-CN" altLang="en-US" sz="18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进行地址探索，保证实体内地址数</a:t>
            </a:r>
            <a:endParaRPr lang="en-US" altLang="zh-CN" sz="1800" b="1"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indent="-285750" algn="just">
              <a:lnSpc>
                <a:spcPct val="150000"/>
              </a:lnSpc>
              <a:buClrTx/>
              <a:buSzTx/>
              <a:buFont typeface="Arial" panose="020B0604020202090204" pitchFamily="34" charset="0"/>
              <a:buChar char="•"/>
            </a:pP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每个实体保持</a:t>
            </a:r>
            <a:r>
              <a:rPr lang="zh-CN" altLang="en-US" sz="1800" b="1" dirty="0">
                <a:solidFill>
                  <a:srgbClr val="7030A0"/>
                </a:solidFill>
                <a:latin typeface="Microsoft YaHei Light" panose="020B0502040204020203" pitchFamily="34" charset="-122"/>
                <a:ea typeface="Microsoft YaHei Light" panose="020B0502040204020203" pitchFamily="34" charset="-122"/>
              </a:rPr>
              <a:t>一定数量地址并动态补充</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，即使在单一地址生命周期结束的情况下，仍然有足够地址反映实体网络质量</a:t>
            </a:r>
          </a:p>
          <a:p>
            <a:pPr marL="285750" indent="-285750" algn="just">
              <a:lnSpc>
                <a:spcPct val="150000"/>
              </a:lnSpc>
              <a:buClrTx/>
              <a:buSzTx/>
              <a:buFont typeface="Arial" panose="020B0604020202090204" pitchFamily="34" charset="0"/>
              <a:buChar char="•"/>
            </a:pP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以实体纬度整合探测结果衡量网络质量</a:t>
            </a: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rPr>
              <a:t>，减小单一地址生存周期噪声</a:t>
            </a:r>
            <a:endPar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algn="just">
              <a:lnSpc>
                <a:spcPct val="150000"/>
              </a:lnSpc>
              <a:buClrTx/>
              <a:buSzTx/>
              <a:buNone/>
            </a:pPr>
            <a:endPar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algn="just">
              <a:lnSpc>
                <a:spcPct val="150000"/>
              </a:lnSpc>
              <a:buClrTx/>
              <a:buSzTx/>
              <a:buNone/>
            </a:pPr>
            <a:r>
              <a:rPr lang="zh-CN" altLang="en-US" b="1" dirty="0">
                <a:solidFill>
                  <a:schemeClr val="tx1">
                    <a:lumMod val="65000"/>
                    <a:lumOff val="35000"/>
                  </a:schemeClr>
                </a:solidFill>
                <a:latin typeface="Microsoft YaHei Light" panose="020B0502040204020203" pitchFamily="34" charset="-122"/>
                <a:ea typeface="Microsoft YaHei Light" panose="020B0502040204020203" pitchFamily="34" charset="-122"/>
              </a:rPr>
              <a:t>利用</a:t>
            </a:r>
            <a:r>
              <a:rPr lang="zh-CN" altLang="en-US" b="1" dirty="0">
                <a:solidFill>
                  <a:srgbClr val="7030A0"/>
                </a:solidFill>
                <a:latin typeface="Microsoft YaHei Light" panose="020B0502040204020203" pitchFamily="34" charset="-122"/>
                <a:ea typeface="Microsoft YaHei Light" panose="020B0502040204020203" pitchFamily="34" charset="-122"/>
              </a:rPr>
              <a:t>地址属性</a:t>
            </a:r>
            <a:r>
              <a:rPr lang="zh-CN" altLang="en-US" b="1" dirty="0">
                <a:solidFill>
                  <a:schemeClr val="tx1">
                    <a:lumMod val="65000"/>
                    <a:lumOff val="35000"/>
                  </a:schemeClr>
                </a:solidFill>
                <a:latin typeface="Microsoft YaHei Light" panose="020B0502040204020203" pitchFamily="34" charset="-122"/>
                <a:ea typeface="Microsoft YaHei Light" panose="020B0502040204020203" pitchFamily="34" charset="-122"/>
              </a:rPr>
              <a:t>进行代表性评价</a:t>
            </a:r>
            <a:r>
              <a:rPr lang="zh-CN" altLang="en-US" sz="18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p>
          <a:p>
            <a:pPr marL="285750" indent="-285750" algn="just">
              <a:lnSpc>
                <a:spcPct val="150000"/>
              </a:lnSpc>
              <a:buClrTx/>
              <a:buSzTx/>
              <a:buFont typeface="Arial" panose="020B0604020202090204" pitchFamily="34" charset="0"/>
              <a:buChar char="•"/>
            </a:pP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优先保证</a:t>
            </a:r>
            <a:r>
              <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Top</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 </a:t>
            </a:r>
            <a:r>
              <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ASN</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和</a:t>
            </a:r>
            <a:r>
              <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NetFlow</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重点网段覆盖，使探测集合更加贴近真实用户与真实流量分布，从而让探测结果能够代表大多数用户的实际网络体验。</a:t>
            </a:r>
            <a:endPar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indent="-285750" algn="just">
              <a:lnSpc>
                <a:spcPct val="150000"/>
              </a:lnSpc>
              <a:buFont typeface="Arial" panose="020B0604020202090204" pitchFamily="34" charset="0"/>
              <a:buChar char="•"/>
            </a:pP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通过对地址进行类别识别（例如不同设备类型），根据不同类别地址在稳定性等方面差异，调整指标计算权重，得到更加合理的网络指标。</a:t>
            </a:r>
            <a:endPar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algn="just">
              <a:lnSpc>
                <a:spcPct val="150000"/>
              </a:lnSpc>
            </a:pPr>
            <a:endPar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p:txBody>
      </p:sp>
      <p:sp>
        <p:nvSpPr>
          <p:cNvPr id="9" name="矩形 8"/>
          <p:cNvSpPr/>
          <p:nvPr>
            <p:custDataLst>
              <p:tags r:id="rId3"/>
            </p:custDataLst>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custDataLst>
              <p:tags r:id="rId4"/>
            </p:custDataLst>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矩形 20"/>
          <p:cNvSpPr/>
          <p:nvPr>
            <p:custDataLst>
              <p:tags r:id="rId5"/>
            </p:custDataLst>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2" name="矩形 21"/>
          <p:cNvSpPr/>
          <p:nvPr>
            <p:custDataLst>
              <p:tags r:id="rId6"/>
            </p:custDataLst>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矩形 52"/>
          <p:cNvSpPr/>
          <p:nvPr>
            <p:custDataLst>
              <p:tags r:id="rId7"/>
            </p:custDataLst>
          </p:nvPr>
        </p:nvSpPr>
        <p:spPr>
          <a:xfrm>
            <a:off x="-286" y="3035099"/>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54" name="文本框 53"/>
          <p:cNvSpPr txBox="1"/>
          <p:nvPr>
            <p:custDataLst>
              <p:tags r:id="rId8"/>
            </p:custDataLst>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9"/>
            </p:custDataLst>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10"/>
            </p:custDataLst>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11"/>
            </p:custDataLst>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12"/>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13"/>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3" name="文本框 2"/>
          <p:cNvSpPr txBox="1"/>
          <p:nvPr/>
        </p:nvSpPr>
        <p:spPr>
          <a:xfrm>
            <a:off x="2892718" y="492189"/>
            <a:ext cx="5234012" cy="46037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研究内容三：网络异常检测</a:t>
            </a: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12</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1"/>
            </p:custDataLst>
          </p:nvPr>
        </p:nvSpPr>
        <p:spPr>
          <a:xfrm>
            <a:off x="2892602" y="1502885"/>
            <a:ext cx="1917917" cy="368300"/>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面临的挑战</a:t>
            </a:r>
          </a:p>
        </p:txBody>
      </p:sp>
      <p:sp>
        <p:nvSpPr>
          <p:cNvPr id="6" name="文本框 5"/>
          <p:cNvSpPr txBox="1"/>
          <p:nvPr>
            <p:custDataLst>
              <p:tags r:id="rId2"/>
            </p:custDataLst>
          </p:nvPr>
        </p:nvSpPr>
        <p:spPr>
          <a:xfrm>
            <a:off x="2892425" y="1974215"/>
            <a:ext cx="9003030" cy="876202"/>
          </a:xfrm>
          <a:prstGeom prst="rect">
            <a:avLst/>
          </a:prstGeom>
          <a:noFill/>
        </p:spPr>
        <p:txBody>
          <a:bodyPr wrap="square" rtlCol="0">
            <a:spAutoFit/>
          </a:bodyPr>
          <a:lstStyle/>
          <a:p>
            <a:pPr algn="just">
              <a:lnSpc>
                <a:spcPct val="150000"/>
              </a:lnSpc>
            </a:pPr>
            <a:r>
              <a:rPr lang="zh-CN" altLang="en-US" sz="18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延迟基准问题：</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高丢包率容易被归类为网络问题，但突发对高延迟可能由于瞬时的网络拥塞，有必要过滤掉这些峰值来评估网络质量是否发生变化。</a:t>
            </a:r>
          </a:p>
        </p:txBody>
      </p:sp>
      <p:sp>
        <p:nvSpPr>
          <p:cNvPr id="9" name="矩形 8"/>
          <p:cNvSpPr/>
          <p:nvPr>
            <p:custDataLst>
              <p:tags r:id="rId3"/>
            </p:custDataLst>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custDataLst>
              <p:tags r:id="rId4"/>
            </p:custDataLst>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矩形 20"/>
          <p:cNvSpPr/>
          <p:nvPr>
            <p:custDataLst>
              <p:tags r:id="rId5"/>
            </p:custDataLst>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2" name="矩形 21"/>
          <p:cNvSpPr/>
          <p:nvPr>
            <p:custDataLst>
              <p:tags r:id="rId6"/>
            </p:custDataLst>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矩形 52"/>
          <p:cNvSpPr/>
          <p:nvPr>
            <p:custDataLst>
              <p:tags r:id="rId7"/>
            </p:custDataLst>
          </p:nvPr>
        </p:nvSpPr>
        <p:spPr>
          <a:xfrm>
            <a:off x="-286" y="3034464"/>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54" name="文本框 53"/>
          <p:cNvSpPr txBox="1"/>
          <p:nvPr>
            <p:custDataLst>
              <p:tags r:id="rId8"/>
            </p:custDataLst>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9"/>
            </p:custDataLst>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10"/>
            </p:custDataLst>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11"/>
            </p:custDataLst>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12"/>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13"/>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sp>
        <p:nvSpPr>
          <p:cNvPr id="4" name="文本框 3"/>
          <p:cNvSpPr txBox="1"/>
          <p:nvPr>
            <p:custDataLst>
              <p:tags r:id="rId14"/>
            </p:custDataLst>
          </p:nvPr>
        </p:nvSpPr>
        <p:spPr>
          <a:xfrm>
            <a:off x="2892425" y="2967096"/>
            <a:ext cx="9003030" cy="1291700"/>
          </a:xfrm>
          <a:prstGeom prst="rect">
            <a:avLst/>
          </a:prstGeom>
          <a:noFill/>
        </p:spPr>
        <p:txBody>
          <a:bodyPr wrap="square" rtlCol="0">
            <a:noAutofit/>
          </a:bodyPr>
          <a:lstStyle/>
          <a:p>
            <a:pPr algn="just">
              <a:lnSpc>
                <a:spcPct val="150000"/>
              </a:lnSpc>
              <a:buClrTx/>
              <a:buSzTx/>
              <a:buFontTx/>
            </a:pPr>
            <a:r>
              <a:rPr lang="zh-CN" altLang="en-US" sz="18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生命周期对探测结果的干扰：</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探测包没有得到回应可能源于网络设备故障，也可能地址生命周期到达，导致探测结果缺乏确定性结论，难以支持故障规避、路由调度等下游任务。</a:t>
            </a:r>
            <a:endPar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p:txBody>
      </p:sp>
      <p:sp>
        <p:nvSpPr>
          <p:cNvPr id="8" name="AutoShape 4">
            <a:extLst>
              <a:ext uri="{FF2B5EF4-FFF2-40B4-BE49-F238E27FC236}">
                <a16:creationId xmlns:a16="http://schemas.microsoft.com/office/drawing/2014/main" id="{92BAC82A-D576-5793-83B8-D120C556E82B}"/>
              </a:ext>
            </a:extLst>
          </p:cNvPr>
          <p:cNvSpPr>
            <a:spLocks noChangeAspect="1" noChangeArrowheads="1"/>
          </p:cNvSpPr>
          <p:nvPr/>
        </p:nvSpPr>
        <p:spPr bwMode="auto">
          <a:xfrm>
            <a:off x="5943600" y="3276600"/>
            <a:ext cx="3242578" cy="324257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6">
            <a:extLst>
              <a:ext uri="{FF2B5EF4-FFF2-40B4-BE49-F238E27FC236}">
                <a16:creationId xmlns:a16="http://schemas.microsoft.com/office/drawing/2014/main" id="{D05177DB-86C8-3AE9-FE10-4802FF60B50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6" name="图片 15">
            <a:extLst>
              <a:ext uri="{FF2B5EF4-FFF2-40B4-BE49-F238E27FC236}">
                <a16:creationId xmlns:a16="http://schemas.microsoft.com/office/drawing/2014/main" id="{F696302F-FCE9-C4B7-D5F1-331B4CA6C61E}"/>
              </a:ext>
            </a:extLst>
          </p:cNvPr>
          <p:cNvPicPr>
            <a:picLocks noChangeAspect="1"/>
          </p:cNvPicPr>
          <p:nvPr/>
        </p:nvPicPr>
        <p:blipFill>
          <a:blip r:embed="rId18"/>
          <a:stretch>
            <a:fillRect/>
          </a:stretch>
        </p:blipFill>
        <p:spPr>
          <a:xfrm>
            <a:off x="3638426" y="4258796"/>
            <a:ext cx="6842424" cy="1188000"/>
          </a:xfrm>
          <a:prstGeom prst="rect">
            <a:avLst/>
          </a:prstGeom>
        </p:spPr>
      </p:pic>
      <p:pic>
        <p:nvPicPr>
          <p:cNvPr id="17" name="图片 16">
            <a:extLst>
              <a:ext uri="{FF2B5EF4-FFF2-40B4-BE49-F238E27FC236}">
                <a16:creationId xmlns:a16="http://schemas.microsoft.com/office/drawing/2014/main" id="{E760E0B9-EC4B-5212-2A8A-B407F3F580BB}"/>
              </a:ext>
            </a:extLst>
          </p:cNvPr>
          <p:cNvPicPr>
            <a:picLocks noChangeAspect="1"/>
          </p:cNvPicPr>
          <p:nvPr/>
        </p:nvPicPr>
        <p:blipFill>
          <a:blip r:embed="rId19"/>
          <a:stretch>
            <a:fillRect/>
          </a:stretch>
        </p:blipFill>
        <p:spPr>
          <a:xfrm>
            <a:off x="3638426" y="5430143"/>
            <a:ext cx="6754631" cy="1188000"/>
          </a:xfrm>
          <a:prstGeom prst="rect">
            <a:avLst/>
          </a:prstGeom>
        </p:spPr>
      </p:pic>
    </p:spTree>
    <p:extLst>
      <p:ext uri="{BB962C8B-B14F-4D97-AF65-F5344CB8AC3E}">
        <p14:creationId xmlns:p14="http://schemas.microsoft.com/office/powerpoint/2010/main" val="3889597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3" name="文本框 2"/>
          <p:cNvSpPr txBox="1"/>
          <p:nvPr/>
        </p:nvSpPr>
        <p:spPr>
          <a:xfrm>
            <a:off x="2892718" y="492189"/>
            <a:ext cx="5234012" cy="46037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研究内容三：网络异常检测</a:t>
            </a: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16</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1"/>
            </p:custDataLst>
          </p:nvPr>
        </p:nvSpPr>
        <p:spPr>
          <a:xfrm>
            <a:off x="2892602" y="1502885"/>
            <a:ext cx="1917917" cy="368300"/>
          </a:xfrm>
          <a:prstGeom prst="rect">
            <a:avLst/>
          </a:prstGeom>
          <a:noFill/>
        </p:spPr>
        <p:txBody>
          <a:bodyPr wrap="square" rtlCol="0">
            <a:spAutoFit/>
          </a:bodyPr>
          <a:lstStyle/>
          <a:p>
            <a:r>
              <a:rPr lang="zh-CN" altLang="en-US" b="1" dirty="0">
                <a:solidFill>
                  <a:srgbClr val="5E068C"/>
                </a:solidFill>
                <a:latin typeface="微软雅黑" panose="020B0503020204020204" pitchFamily="34" charset="-122"/>
                <a:ea typeface="微软雅黑" panose="020B0503020204020204" pitchFamily="34" charset="-122"/>
              </a:rPr>
              <a:t>拟解决思路</a:t>
            </a:r>
          </a:p>
        </p:txBody>
      </p:sp>
      <p:sp>
        <p:nvSpPr>
          <p:cNvPr id="6" name="文本框 5"/>
          <p:cNvSpPr txBox="1"/>
          <p:nvPr>
            <p:custDataLst>
              <p:tags r:id="rId2"/>
            </p:custDataLst>
          </p:nvPr>
        </p:nvSpPr>
        <p:spPr>
          <a:xfrm>
            <a:off x="2892425" y="1871980"/>
            <a:ext cx="8711565" cy="4949304"/>
          </a:xfrm>
          <a:prstGeom prst="rect">
            <a:avLst/>
          </a:prstGeom>
          <a:noFill/>
        </p:spPr>
        <p:txBody>
          <a:bodyPr wrap="square" rtlCol="0">
            <a:spAutoFit/>
          </a:bodyPr>
          <a:lstStyle/>
          <a:p>
            <a:pPr algn="just">
              <a:lnSpc>
                <a:spcPct val="150000"/>
              </a:lnSpc>
              <a:buClrTx/>
              <a:buSzTx/>
              <a:buNone/>
            </a:pPr>
            <a:r>
              <a:rPr lang="zh-CN" altLang="en-US" sz="18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利用</a:t>
            </a:r>
            <a:r>
              <a:rPr lang="zh-CN" altLang="en-US" sz="1800" b="1" dirty="0">
                <a:solidFill>
                  <a:srgbClr val="7030A0"/>
                </a:solidFill>
                <a:latin typeface="Microsoft YaHei Light" panose="020B0502040204020203" pitchFamily="34" charset="-122"/>
                <a:ea typeface="Microsoft YaHei Light" panose="020B0502040204020203" pitchFamily="34" charset="-122"/>
              </a:rPr>
              <a:t>序列分析技术</a:t>
            </a:r>
            <a:r>
              <a:rPr lang="zh-CN" altLang="en-US" sz="18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进行短期和长期延迟异常检测</a:t>
            </a:r>
            <a:endParaRPr lang="en-US" altLang="zh-CN" sz="1800" b="1"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indent="-285750" algn="just">
              <a:lnSpc>
                <a:spcPct val="150000"/>
              </a:lnSpc>
              <a:buClrTx/>
              <a:buSzTx/>
              <a:buFont typeface="Arial" panose="020B0604020202020204" pitchFamily="34" charset="0"/>
              <a:buChar char="•"/>
            </a:pP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短期检测：基于</a:t>
            </a:r>
            <a:r>
              <a:rPr lang="zh-CN" altLang="en-US" sz="1800" b="1" dirty="0">
                <a:solidFill>
                  <a:srgbClr val="7030A0"/>
                </a:solidFill>
                <a:latin typeface="Microsoft YaHei Light" panose="020B0502040204020203" pitchFamily="34" charset="-122"/>
                <a:ea typeface="Microsoft YaHei Light" panose="020B0502040204020203" pitchFamily="34" charset="-122"/>
              </a:rPr>
              <a:t>局部异常因子</a:t>
            </a:r>
            <a:r>
              <a:rPr lang="en-US" altLang="zh-CN" sz="1800" b="1" dirty="0">
                <a:solidFill>
                  <a:srgbClr val="7030A0"/>
                </a:solidFill>
                <a:latin typeface="Microsoft YaHei Light" panose="020B0502040204020203" pitchFamily="34" charset="-122"/>
                <a:ea typeface="Microsoft YaHei Light" panose="020B0502040204020203" pitchFamily="34" charset="-122"/>
              </a:rPr>
              <a:t>(LOF)</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对时间窗口</a:t>
            </a:r>
            <a:r>
              <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(5min)</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内延迟分布进行异常检测</a:t>
            </a:r>
            <a:endPar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indent="-285750" algn="just">
              <a:lnSpc>
                <a:spcPct val="150000"/>
              </a:lnSpc>
              <a:buClrTx/>
              <a:buSzTx/>
              <a:buFont typeface="Arial" panose="020B0604020202020204" pitchFamily="34" charset="0"/>
              <a:buChar char="•"/>
            </a:pP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长期检测：采取</a:t>
            </a:r>
            <a:r>
              <a:rPr lang="zh-CN" altLang="en-US" sz="1800" b="1" dirty="0">
                <a:solidFill>
                  <a:srgbClr val="7030A0"/>
                </a:solidFill>
                <a:latin typeface="Microsoft YaHei Light" panose="020B0502040204020203" pitchFamily="34" charset="-122"/>
                <a:ea typeface="Microsoft YaHei Light" panose="020B0502040204020203" pitchFamily="34" charset="-122"/>
              </a:rPr>
              <a:t>统计检验</a:t>
            </a:r>
            <a:r>
              <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(Z test)</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来检测延迟异常</a:t>
            </a: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rPr>
              <a:t>对</a:t>
            </a:r>
            <a:r>
              <a:rPr lang="en-US" altLang="zh-CN" dirty="0">
                <a:solidFill>
                  <a:schemeClr val="tx1">
                    <a:lumMod val="65000"/>
                    <a:lumOff val="35000"/>
                  </a:schemeClr>
                </a:solidFill>
                <a:latin typeface="Microsoft YaHei Light" panose="020B0502040204020203" pitchFamily="34" charset="-122"/>
                <a:ea typeface="Microsoft YaHei Light" panose="020B0502040204020203" pitchFamily="34" charset="-122"/>
              </a:rPr>
              <a:t>30min</a:t>
            </a: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rPr>
              <a:t>聚合结果，根据是否偏离对数正态分布判定异常</a:t>
            </a:r>
            <a:endPar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algn="just">
              <a:lnSpc>
                <a:spcPct val="150000"/>
              </a:lnSpc>
              <a:buClrTx/>
              <a:buSzTx/>
            </a:pPr>
            <a:endPar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algn="just">
              <a:lnSpc>
                <a:spcPct val="150000"/>
              </a:lnSpc>
              <a:buClrTx/>
              <a:buSzTx/>
              <a:buNone/>
            </a:pPr>
            <a:r>
              <a:rPr lang="zh-CN" altLang="en-US" b="1" dirty="0">
                <a:solidFill>
                  <a:schemeClr val="tx1">
                    <a:lumMod val="65000"/>
                    <a:lumOff val="35000"/>
                  </a:schemeClr>
                </a:solidFill>
                <a:latin typeface="Microsoft YaHei Light" panose="020B0502040204020203" pitchFamily="34" charset="-122"/>
                <a:ea typeface="Microsoft YaHei Light" panose="020B0502040204020203" pitchFamily="34" charset="-122"/>
              </a:rPr>
              <a:t>利用多方法集成推断网络故障</a:t>
            </a:r>
            <a:r>
              <a:rPr lang="zh-CN" altLang="en-US" sz="18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a:t>
            </a:r>
          </a:p>
          <a:p>
            <a:pPr marL="285750" indent="-285750" algn="just">
              <a:lnSpc>
                <a:spcPct val="150000"/>
              </a:lnSpc>
              <a:buClrTx/>
              <a:buSzTx/>
              <a:buFont typeface="Arial" panose="020B0604020202090204" pitchFamily="34" charset="0"/>
              <a:buChar char="•"/>
            </a:pP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rPr>
              <a:t>利用</a:t>
            </a:r>
            <a:r>
              <a:rPr lang="zh-CN" altLang="en-US" sz="1800" b="1" dirty="0">
                <a:solidFill>
                  <a:srgbClr val="7030A0"/>
                </a:solidFill>
                <a:latin typeface="Microsoft YaHei Light" panose="020B0502040204020203" pitchFamily="34" charset="-122"/>
                <a:ea typeface="Microsoft YaHei Light" panose="020B0502040204020203" pitchFamily="34" charset="-122"/>
              </a:rPr>
              <a:t>贝叶斯网络</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建模实体</a:t>
            </a:r>
            <a:r>
              <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(AS/Prefix)</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、生命周期变化和网络故障等因果依赖关系，推断网络故障概率</a:t>
            </a:r>
            <a:endPar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indent="-285750" algn="just">
              <a:lnSpc>
                <a:spcPct val="150000"/>
              </a:lnSpc>
              <a:buFont typeface="Arial" panose="020B0604020202090204" pitchFamily="34" charset="0"/>
              <a:buChar char="•"/>
            </a:pP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通过对地址角色进行分析，例如核心交换机、服务器、客户端等，借助</a:t>
            </a:r>
            <a:r>
              <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MTR</a:t>
            </a:r>
            <a:r>
              <a:rPr lang="zh-CN" altLang="en-US" sz="1800" dirty="0">
                <a:solidFill>
                  <a:schemeClr val="tx1">
                    <a:lumMod val="65000"/>
                    <a:lumOff val="35000"/>
                  </a:schemeClr>
                </a:solidFill>
                <a:latin typeface="Microsoft YaHei Light" panose="020B0502040204020203" pitchFamily="34" charset="-122"/>
                <a:ea typeface="Microsoft YaHei Light" panose="020B0502040204020203" pitchFamily="34" charset="-122"/>
              </a:rPr>
              <a:t>判断故障影响范围</a:t>
            </a:r>
            <a:endParaRPr lang="en-US" altLang="zh-CN" sz="18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marL="285750" indent="-285750" algn="just">
              <a:lnSpc>
                <a:spcPct val="150000"/>
              </a:lnSpc>
              <a:buClrTx/>
              <a:buSzTx/>
              <a:buFont typeface="Arial" panose="020B0604020202090204" pitchFamily="34" charset="0"/>
              <a:buChar char="•"/>
            </a:pPr>
            <a:r>
              <a:rPr lang="zh-CN" altLang="en-US" dirty="0">
                <a:solidFill>
                  <a:schemeClr val="tx1">
                    <a:lumMod val="65000"/>
                    <a:lumOff val="35000"/>
                  </a:schemeClr>
                </a:solidFill>
                <a:latin typeface="Microsoft YaHei Light" panose="020B0502040204020203" pitchFamily="34" charset="-122"/>
                <a:ea typeface="Microsoft YaHei Light" panose="020B0502040204020203" pitchFamily="34" charset="-122"/>
              </a:rPr>
              <a:t>利用别名主机响应所有地址但转发路径可能不同，辅助定位异常源自网络还是主机</a:t>
            </a:r>
            <a:endPar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a:p>
            <a:pPr algn="just">
              <a:lnSpc>
                <a:spcPct val="150000"/>
              </a:lnSpc>
            </a:pPr>
            <a:endParaRPr lang="zh-CN" altLang="en-US" sz="1400" dirty="0">
              <a:solidFill>
                <a:schemeClr val="tx1">
                  <a:lumMod val="65000"/>
                  <a:lumOff val="35000"/>
                </a:schemeClr>
              </a:solidFill>
              <a:latin typeface="Microsoft YaHei Light" panose="020B0502040204020203" pitchFamily="34" charset="-122"/>
              <a:ea typeface="Microsoft YaHei Light" panose="020B0502040204020203" pitchFamily="34" charset="-122"/>
            </a:endParaRPr>
          </a:p>
        </p:txBody>
      </p:sp>
      <p:sp>
        <p:nvSpPr>
          <p:cNvPr id="9" name="矩形 8"/>
          <p:cNvSpPr/>
          <p:nvPr>
            <p:custDataLst>
              <p:tags r:id="rId3"/>
            </p:custDataLst>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custDataLst>
              <p:tags r:id="rId4"/>
            </p:custDataLst>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矩形 20"/>
          <p:cNvSpPr/>
          <p:nvPr>
            <p:custDataLst>
              <p:tags r:id="rId5"/>
            </p:custDataLst>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2" name="矩形 21"/>
          <p:cNvSpPr/>
          <p:nvPr>
            <p:custDataLst>
              <p:tags r:id="rId6"/>
            </p:custDataLst>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矩形 52"/>
          <p:cNvSpPr/>
          <p:nvPr>
            <p:custDataLst>
              <p:tags r:id="rId7"/>
            </p:custDataLst>
          </p:nvPr>
        </p:nvSpPr>
        <p:spPr>
          <a:xfrm>
            <a:off x="-286" y="3035099"/>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54" name="文本框 53"/>
          <p:cNvSpPr txBox="1"/>
          <p:nvPr>
            <p:custDataLst>
              <p:tags r:id="rId8"/>
            </p:custDataLst>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9"/>
            </p:custDataLst>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10"/>
            </p:custDataLst>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11"/>
            </p:custDataLst>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12"/>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13"/>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spTree>
    <p:extLst>
      <p:ext uri="{BB962C8B-B14F-4D97-AF65-F5344CB8AC3E}">
        <p14:creationId xmlns:p14="http://schemas.microsoft.com/office/powerpoint/2010/main" val="4117319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16" name="文本框 15"/>
          <p:cNvSpPr txBox="1"/>
          <p:nvPr/>
        </p:nvSpPr>
        <p:spPr>
          <a:xfrm>
            <a:off x="230518" y="3828746"/>
            <a:ext cx="2529161" cy="307777"/>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结论和未来方向</a:t>
            </a:r>
          </a:p>
        </p:txBody>
      </p:sp>
      <p:sp>
        <p:nvSpPr>
          <p:cNvPr id="3" name="文本框 2"/>
          <p:cNvSpPr txBox="1"/>
          <p:nvPr/>
        </p:nvSpPr>
        <p:spPr>
          <a:xfrm>
            <a:off x="2892717" y="492189"/>
            <a:ext cx="6456027" cy="46037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预期成果</a:t>
            </a: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18</a:t>
            </a:r>
            <a:endParaRPr lang="zh-CN" altLang="en-US" sz="1400" dirty="0">
              <a:solidFill>
                <a:srgbClr val="5E068C"/>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a:off x="2909059" y="1498604"/>
            <a:ext cx="8246110" cy="1142365"/>
            <a:chOff x="2904102" y="1498604"/>
            <a:chExt cx="8246110" cy="1142365"/>
          </a:xfrm>
        </p:grpSpPr>
        <p:sp>
          <p:nvSpPr>
            <p:cNvPr id="27" name="文本框 26"/>
            <p:cNvSpPr txBox="1"/>
            <p:nvPr>
              <p:custDataLst>
                <p:tags r:id="rId14"/>
              </p:custDataLst>
            </p:nvPr>
          </p:nvSpPr>
          <p:spPr>
            <a:xfrm>
              <a:off x="2904102" y="1498604"/>
              <a:ext cx="2855595" cy="39878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000" b="1" dirty="0">
                  <a:solidFill>
                    <a:srgbClr val="5E068C"/>
                  </a:solidFill>
                  <a:latin typeface="微软雅黑" panose="020B0503020204020204" pitchFamily="34" charset="-122"/>
                  <a:ea typeface="微软雅黑" panose="020B0503020204020204" pitchFamily="34" charset="-122"/>
                </a:rPr>
                <a:t>发表</a:t>
              </a:r>
              <a:r>
                <a:rPr lang="en-US" altLang="zh-CN" sz="2000" b="1" dirty="0">
                  <a:solidFill>
                    <a:srgbClr val="5E068C"/>
                  </a:solidFill>
                  <a:latin typeface="微软雅黑" panose="020B0503020204020204" pitchFamily="34" charset="-122"/>
                  <a:ea typeface="微软雅黑" panose="020B0503020204020204" pitchFamily="34" charset="-122"/>
                </a:rPr>
                <a:t>1</a:t>
              </a:r>
              <a:r>
                <a:rPr lang="zh-CN" altLang="en-US" sz="2000" b="1" dirty="0">
                  <a:solidFill>
                    <a:srgbClr val="5E068C"/>
                  </a:solidFill>
                  <a:latin typeface="微软雅黑" panose="020B0503020204020204" pitchFamily="34" charset="-122"/>
                  <a:ea typeface="微软雅黑" panose="020B0503020204020204" pitchFamily="34" charset="-122"/>
                </a:rPr>
                <a:t>篇相关论文</a:t>
              </a:r>
            </a:p>
          </p:txBody>
        </p:sp>
        <p:sp>
          <p:nvSpPr>
            <p:cNvPr id="28" name="文本框 27"/>
            <p:cNvSpPr txBox="1"/>
            <p:nvPr>
              <p:custDataLst>
                <p:tags r:id="rId15"/>
              </p:custDataLst>
            </p:nvPr>
          </p:nvSpPr>
          <p:spPr>
            <a:xfrm>
              <a:off x="2904102" y="1877064"/>
              <a:ext cx="8246110" cy="763905"/>
            </a:xfrm>
            <a:prstGeom prst="rect">
              <a:avLst/>
            </a:prstGeom>
            <a:noFill/>
          </p:spPr>
          <p:txBody>
            <a:bodyPr wrap="square" rtlCol="0">
              <a:noAutofit/>
            </a:bodyPr>
            <a:lstStyle/>
            <a:p>
              <a:pPr marL="285750" indent="-285750" algn="just">
                <a:lnSpc>
                  <a:spcPct val="150000"/>
                </a:lnSpc>
                <a:buFont typeface="Arial" panose="020B0604020202090204" pitchFamily="34" charset="0"/>
                <a:buChar char="•"/>
              </a:pPr>
              <a:r>
                <a:rPr lang="zh-CN" altLang="en-US" sz="16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目前正在做研究内容二 实时网络质量探测的实验验证工作</a:t>
              </a:r>
            </a:p>
            <a:p>
              <a:pPr marL="285750" indent="-285750" algn="just">
                <a:lnSpc>
                  <a:spcPct val="150000"/>
                </a:lnSpc>
                <a:buFont typeface="Arial" panose="020B0604020202090204" pitchFamily="34" charset="0"/>
                <a:buChar char="•"/>
              </a:pPr>
              <a:r>
                <a:rPr lang="zh-CN" altLang="en-US" sz="16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计划完成研究内容二 实时网络质量的研究工作，并将研究成果投稿到会议</a:t>
              </a:r>
            </a:p>
          </p:txBody>
        </p:sp>
      </p:grpSp>
      <p:grpSp>
        <p:nvGrpSpPr>
          <p:cNvPr id="29" name="组合 28"/>
          <p:cNvGrpSpPr/>
          <p:nvPr/>
        </p:nvGrpSpPr>
        <p:grpSpPr>
          <a:xfrm>
            <a:off x="2892549" y="3597697"/>
            <a:ext cx="8262762" cy="1126413"/>
            <a:chOff x="2892616" y="2695362"/>
            <a:chExt cx="8262762" cy="1126413"/>
          </a:xfrm>
        </p:grpSpPr>
        <p:sp>
          <p:nvSpPr>
            <p:cNvPr id="35" name="文本框 34"/>
            <p:cNvSpPr txBox="1"/>
            <p:nvPr>
              <p:custDataLst>
                <p:tags r:id="rId12"/>
              </p:custDataLst>
            </p:nvPr>
          </p:nvSpPr>
          <p:spPr>
            <a:xfrm>
              <a:off x="2892616" y="2695362"/>
              <a:ext cx="7376160" cy="40011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000" b="1" dirty="0">
                  <a:solidFill>
                    <a:srgbClr val="5E068C"/>
                  </a:solidFill>
                  <a:latin typeface="微软雅黑" panose="020B0503020204020204" pitchFamily="34" charset="-122"/>
                  <a:ea typeface="微软雅黑" panose="020B0503020204020204" pitchFamily="34" charset="-122"/>
                </a:rPr>
                <a:t>实现互联网</a:t>
              </a:r>
              <a:r>
                <a:rPr lang="en-US" altLang="zh-CN" sz="2000" b="1" dirty="0">
                  <a:solidFill>
                    <a:srgbClr val="5E068C"/>
                  </a:solidFill>
                  <a:latin typeface="微软雅黑" panose="020B0503020204020204" pitchFamily="34" charset="-122"/>
                  <a:ea typeface="微软雅黑" panose="020B0503020204020204" pitchFamily="34" charset="-122"/>
                </a:rPr>
                <a:t>IPv6</a:t>
              </a:r>
              <a:r>
                <a:rPr lang="zh-CN" altLang="en-US" sz="2000" b="1" dirty="0">
                  <a:solidFill>
                    <a:srgbClr val="5E068C"/>
                  </a:solidFill>
                  <a:latin typeface="微软雅黑" panose="020B0503020204020204" pitchFamily="34" charset="-122"/>
                  <a:ea typeface="微软雅黑" panose="020B0503020204020204" pitchFamily="34" charset="-122"/>
                </a:rPr>
                <a:t>实时质量探测系统，并申请相关专利</a:t>
              </a:r>
            </a:p>
          </p:txBody>
        </p:sp>
        <p:sp>
          <p:nvSpPr>
            <p:cNvPr id="36" name="文本框 35"/>
            <p:cNvSpPr txBox="1"/>
            <p:nvPr>
              <p:custDataLst>
                <p:tags r:id="rId13"/>
              </p:custDataLst>
            </p:nvPr>
          </p:nvSpPr>
          <p:spPr>
            <a:xfrm>
              <a:off x="2909126" y="3402045"/>
              <a:ext cx="8246252" cy="419730"/>
            </a:xfrm>
            <a:prstGeom prst="rect">
              <a:avLst/>
            </a:prstGeom>
            <a:noFill/>
          </p:spPr>
          <p:txBody>
            <a:bodyPr wrap="square" rtlCol="0">
              <a:spAutoFit/>
            </a:bodyPr>
            <a:lstStyle/>
            <a:p>
              <a:pPr marL="285750" indent="-285750" algn="just">
                <a:lnSpc>
                  <a:spcPct val="150000"/>
                </a:lnSpc>
                <a:buClrTx/>
                <a:buSzTx/>
                <a:buFont typeface="Arial" panose="020B0604020202090204" pitchFamily="34" charset="0"/>
                <a:buChar char="•"/>
              </a:pPr>
              <a:r>
                <a:rPr lang="zh-CN" altLang="en-US" sz="1600" b="1" dirty="0">
                  <a:solidFill>
                    <a:schemeClr val="tx1">
                      <a:lumMod val="65000"/>
                      <a:lumOff val="35000"/>
                    </a:schemeClr>
                  </a:solidFill>
                  <a:latin typeface="Microsoft YaHei Light" panose="020B0502040204020203" pitchFamily="34" charset="-122"/>
                  <a:ea typeface="Microsoft YaHei Light" panose="020B0502040204020203" pitchFamily="34" charset="-122"/>
                </a:rPr>
                <a:t>实现集成目标地址生成、实时互联网探测、网络异常分析的系统，并申请相关专利</a:t>
              </a:r>
            </a:p>
          </p:txBody>
        </p:sp>
      </p:grpSp>
      <p:sp>
        <p:nvSpPr>
          <p:cNvPr id="34" name="矩形 33"/>
          <p:cNvSpPr/>
          <p:nvPr>
            <p:custDataLst>
              <p:tags r:id="rId1"/>
            </p:custDataLst>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40"/>
          <p:cNvSpPr/>
          <p:nvPr>
            <p:custDataLst>
              <p:tags r:id="rId2"/>
            </p:custDataLst>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2" name="矩形 41"/>
          <p:cNvSpPr/>
          <p:nvPr>
            <p:custDataLst>
              <p:tags r:id="rId3"/>
            </p:custDataLst>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3" name="矩形 42"/>
          <p:cNvSpPr/>
          <p:nvPr>
            <p:custDataLst>
              <p:tags r:id="rId4"/>
            </p:custDataLst>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矩形 52"/>
          <p:cNvSpPr/>
          <p:nvPr>
            <p:custDataLst>
              <p:tags r:id="rId5"/>
            </p:custDataLst>
          </p:nvPr>
        </p:nvSpPr>
        <p:spPr>
          <a:xfrm>
            <a:off x="-3461" y="3686609"/>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54" name="文本框 53"/>
          <p:cNvSpPr txBox="1"/>
          <p:nvPr>
            <p:custDataLst>
              <p:tags r:id="rId6"/>
            </p:custDataLst>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7"/>
            </p:custDataLst>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8"/>
            </p:custDataLst>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9"/>
            </p:custDataLst>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10"/>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11"/>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片包含 游戏机, 画, 房间&#10;&#10;描述已自动生成"/>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11150354" y="109251"/>
            <a:ext cx="908696" cy="903249"/>
          </a:xfrm>
          <a:prstGeom prst="rect">
            <a:avLst/>
          </a:prstGeom>
        </p:spPr>
      </p:pic>
      <p:sp>
        <p:nvSpPr>
          <p:cNvPr id="3" name="文本框 2"/>
          <p:cNvSpPr txBox="1"/>
          <p:nvPr/>
        </p:nvSpPr>
        <p:spPr>
          <a:xfrm>
            <a:off x="2892717" y="492189"/>
            <a:ext cx="6456027" cy="46037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进度安排</a:t>
            </a:r>
          </a:p>
        </p:txBody>
      </p:sp>
      <p:cxnSp>
        <p:nvCxnSpPr>
          <p:cNvPr id="24" name="直接连接符 23"/>
          <p:cNvCxnSpPr/>
          <p:nvPr/>
        </p:nvCxnSpPr>
        <p:spPr>
          <a:xfrm>
            <a:off x="2996983" y="1062990"/>
            <a:ext cx="866078" cy="0"/>
          </a:xfrm>
          <a:prstGeom prst="line">
            <a:avLst/>
          </a:prstGeom>
          <a:ln w="57150">
            <a:solidFill>
              <a:srgbClr val="BC107E"/>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19</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3863340" y="1751330"/>
            <a:ext cx="4379595" cy="398780"/>
          </a:xfrm>
          <a:prstGeom prst="rect">
            <a:avLst/>
          </a:prstGeom>
          <a:noFill/>
        </p:spPr>
        <p:txBody>
          <a:bodyPr wrap="square" rtlCol="0">
            <a:spAutoFit/>
          </a:bodyPr>
          <a:lstStyle/>
          <a:p>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2025</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年</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12</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月</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完成文献调研工作</a:t>
            </a:r>
          </a:p>
        </p:txBody>
      </p:sp>
      <p:cxnSp>
        <p:nvCxnSpPr>
          <p:cNvPr id="80" name="直接连接符 79"/>
          <p:cNvCxnSpPr/>
          <p:nvPr/>
        </p:nvCxnSpPr>
        <p:spPr>
          <a:xfrm>
            <a:off x="3464560" y="1228220"/>
            <a:ext cx="0" cy="5318125"/>
          </a:xfrm>
          <a:prstGeom prst="line">
            <a:avLst/>
          </a:prstGeom>
          <a:ln w="15875">
            <a:solidFill>
              <a:srgbClr val="5E068C"/>
            </a:solidFill>
          </a:ln>
        </p:spPr>
        <p:style>
          <a:lnRef idx="1">
            <a:schemeClr val="accent1"/>
          </a:lnRef>
          <a:fillRef idx="0">
            <a:schemeClr val="accent1"/>
          </a:fillRef>
          <a:effectRef idx="0">
            <a:schemeClr val="accent1"/>
          </a:effectRef>
          <a:fontRef idx="minor">
            <a:schemeClr val="tx1"/>
          </a:fontRef>
        </p:style>
      </p:cxnSp>
      <p:sp>
        <p:nvSpPr>
          <p:cNvPr id="91" name="椭圆 90"/>
          <p:cNvSpPr/>
          <p:nvPr/>
        </p:nvSpPr>
        <p:spPr>
          <a:xfrm>
            <a:off x="3356722" y="1792874"/>
            <a:ext cx="237985" cy="237985"/>
          </a:xfrm>
          <a:prstGeom prst="ellipse">
            <a:avLst/>
          </a:prstGeom>
          <a:solidFill>
            <a:srgbClr val="5E068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a:off x="3409419" y="1845692"/>
            <a:ext cx="132591" cy="132591"/>
          </a:xfrm>
          <a:prstGeom prst="ellipse">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custDataLst>
              <p:tags r:id="rId1"/>
            </p:custDataLst>
          </p:nvPr>
        </p:nvSpPr>
        <p:spPr>
          <a:xfrm>
            <a:off x="3352912" y="2471054"/>
            <a:ext cx="237985" cy="237985"/>
          </a:xfrm>
          <a:prstGeom prst="ellipse">
            <a:avLst/>
          </a:prstGeom>
          <a:solidFill>
            <a:srgbClr val="5E068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custDataLst>
              <p:tags r:id="rId2"/>
            </p:custDataLst>
          </p:nvPr>
        </p:nvSpPr>
        <p:spPr>
          <a:xfrm>
            <a:off x="3405609" y="2523872"/>
            <a:ext cx="132591" cy="132591"/>
          </a:xfrm>
          <a:prstGeom prst="ellipse">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custDataLst>
              <p:tags r:id="rId3"/>
            </p:custDataLst>
          </p:nvPr>
        </p:nvSpPr>
        <p:spPr>
          <a:xfrm>
            <a:off x="3356722" y="3559344"/>
            <a:ext cx="237985" cy="237985"/>
          </a:xfrm>
          <a:prstGeom prst="ellipse">
            <a:avLst/>
          </a:prstGeom>
          <a:solidFill>
            <a:srgbClr val="5E068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custDataLst>
              <p:tags r:id="rId4"/>
            </p:custDataLst>
          </p:nvPr>
        </p:nvSpPr>
        <p:spPr>
          <a:xfrm>
            <a:off x="3409419" y="3612161"/>
            <a:ext cx="132591" cy="132591"/>
          </a:xfrm>
          <a:prstGeom prst="ellipse">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custDataLst>
              <p:tags r:id="rId5"/>
            </p:custDataLst>
          </p:nvPr>
        </p:nvSpPr>
        <p:spPr>
          <a:xfrm>
            <a:off x="3352912" y="4269542"/>
            <a:ext cx="237985" cy="237985"/>
          </a:xfrm>
          <a:prstGeom prst="ellipse">
            <a:avLst/>
          </a:prstGeom>
          <a:solidFill>
            <a:srgbClr val="5E068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custDataLst>
              <p:tags r:id="rId6"/>
            </p:custDataLst>
          </p:nvPr>
        </p:nvSpPr>
        <p:spPr>
          <a:xfrm>
            <a:off x="3405609" y="4322362"/>
            <a:ext cx="132591" cy="132591"/>
          </a:xfrm>
          <a:prstGeom prst="ellipse">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custDataLst>
              <p:tags r:id="rId7"/>
            </p:custDataLst>
          </p:nvPr>
        </p:nvSpPr>
        <p:spPr>
          <a:xfrm>
            <a:off x="3352912" y="5678514"/>
            <a:ext cx="237985" cy="237985"/>
          </a:xfrm>
          <a:prstGeom prst="ellipse">
            <a:avLst/>
          </a:prstGeom>
          <a:solidFill>
            <a:srgbClr val="5E068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custDataLst>
              <p:tags r:id="rId8"/>
            </p:custDataLst>
          </p:nvPr>
        </p:nvSpPr>
        <p:spPr>
          <a:xfrm>
            <a:off x="3405609" y="5731332"/>
            <a:ext cx="132591" cy="132591"/>
          </a:xfrm>
          <a:prstGeom prst="ellipse">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custDataLst>
              <p:tags r:id="rId9"/>
            </p:custDataLst>
          </p:nvPr>
        </p:nvSpPr>
        <p:spPr>
          <a:xfrm>
            <a:off x="3863340" y="2392045"/>
            <a:ext cx="7466330" cy="707886"/>
          </a:xfrm>
          <a:prstGeom prst="rect">
            <a:avLst/>
          </a:prstGeom>
          <a:noFill/>
        </p:spPr>
        <p:txBody>
          <a:bodyPr wrap="square" rtlCol="0">
            <a:spAutoFit/>
          </a:bodyPr>
          <a:lstStyle/>
          <a:p>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2026</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年</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04</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月</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完成研究内容二</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实时网络质量探测 的实验和投稿工作</a:t>
            </a:r>
          </a:p>
        </p:txBody>
      </p:sp>
      <p:sp>
        <p:nvSpPr>
          <p:cNvPr id="26" name="文本框 25"/>
          <p:cNvSpPr txBox="1"/>
          <p:nvPr>
            <p:custDataLst>
              <p:tags r:id="rId10"/>
            </p:custDataLst>
          </p:nvPr>
        </p:nvSpPr>
        <p:spPr>
          <a:xfrm>
            <a:off x="3863340" y="3446045"/>
            <a:ext cx="8195945" cy="400110"/>
          </a:xfrm>
          <a:prstGeom prst="rect">
            <a:avLst/>
          </a:prstGeom>
          <a:noFill/>
        </p:spPr>
        <p:txBody>
          <a:bodyPr wrap="square" rtlCol="0">
            <a:spAutoFit/>
          </a:bodyPr>
          <a:lstStyle/>
          <a:p>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2026</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年</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0</a:t>
            </a:r>
            <a:r>
              <a:rPr lang="en-US" altLang="zh-CN" sz="2000" b="1" dirty="0">
                <a:latin typeface="微软雅黑" panose="020B0503020204020204" pitchFamily="34" charset="-122"/>
                <a:ea typeface="微软雅黑" panose="020B0503020204020204" pitchFamily="34" charset="-122"/>
                <a:cs typeface="Alibaba PuHuiTi M" panose="00020600040101010101" pitchFamily="18" charset="-122"/>
              </a:rPr>
              <a:t>5</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月</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工作内容三</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000" b="1" dirty="0">
                <a:latin typeface="微软雅黑" panose="020B0503020204020204" pitchFamily="34" charset="-122"/>
                <a:ea typeface="微软雅黑" panose="020B0503020204020204" pitchFamily="34" charset="-122"/>
                <a:cs typeface="Alibaba PuHuiTi M" panose="00020600040101010101" pitchFamily="18" charset="-122"/>
              </a:rPr>
              <a:t>互联网探测与异常检测</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系统上线，</a:t>
            </a:r>
            <a:r>
              <a:rPr lang="zh-CN" altLang="en-US" sz="2000" b="1" dirty="0">
                <a:latin typeface="微软雅黑" panose="020B0503020204020204" pitchFamily="34" charset="-122"/>
                <a:ea typeface="微软雅黑" panose="020B0503020204020204" pitchFamily="34" charset="-122"/>
                <a:cs typeface="Alibaba PuHuiTi M" panose="00020600040101010101" pitchFamily="18" charset="-122"/>
                <a:sym typeface="+mn-ea"/>
              </a:rPr>
              <a:t>撰写专利</a:t>
            </a:r>
            <a:endPar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endParaRPr>
          </a:p>
        </p:txBody>
      </p:sp>
      <p:sp>
        <p:nvSpPr>
          <p:cNvPr id="27" name="文本框 26"/>
          <p:cNvSpPr txBox="1"/>
          <p:nvPr>
            <p:custDataLst>
              <p:tags r:id="rId11"/>
            </p:custDataLst>
          </p:nvPr>
        </p:nvSpPr>
        <p:spPr>
          <a:xfrm>
            <a:off x="3863340" y="4909125"/>
            <a:ext cx="6922135" cy="398780"/>
          </a:xfrm>
          <a:prstGeom prst="rect">
            <a:avLst/>
          </a:prstGeom>
          <a:noFill/>
        </p:spPr>
        <p:txBody>
          <a:bodyPr wrap="square" rtlCol="0">
            <a:spAutoFit/>
          </a:bodyPr>
          <a:lstStyle/>
          <a:p>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2027</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年</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04</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月</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完成硕士论文撰写完成、送审、预答辩</a:t>
            </a:r>
          </a:p>
        </p:txBody>
      </p:sp>
      <p:sp>
        <p:nvSpPr>
          <p:cNvPr id="29" name="文本框 28"/>
          <p:cNvSpPr txBox="1"/>
          <p:nvPr>
            <p:custDataLst>
              <p:tags r:id="rId12"/>
            </p:custDataLst>
          </p:nvPr>
        </p:nvSpPr>
        <p:spPr>
          <a:xfrm>
            <a:off x="3895725" y="5587440"/>
            <a:ext cx="5865495" cy="398780"/>
          </a:xfrm>
          <a:prstGeom prst="rect">
            <a:avLst/>
          </a:prstGeom>
          <a:noFill/>
        </p:spPr>
        <p:txBody>
          <a:bodyPr wrap="square" rtlCol="0">
            <a:spAutoFit/>
          </a:bodyPr>
          <a:lstStyle/>
          <a:p>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2027</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年</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05</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月</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硕士论文答辩</a:t>
            </a:r>
          </a:p>
        </p:txBody>
      </p:sp>
      <p:sp>
        <p:nvSpPr>
          <p:cNvPr id="31" name="文本框 30"/>
          <p:cNvSpPr txBox="1"/>
          <p:nvPr>
            <p:custDataLst>
              <p:tags r:id="rId13"/>
            </p:custDataLst>
          </p:nvPr>
        </p:nvSpPr>
        <p:spPr>
          <a:xfrm>
            <a:off x="3863340" y="4170848"/>
            <a:ext cx="7466965" cy="398780"/>
          </a:xfrm>
          <a:prstGeom prst="rect">
            <a:avLst/>
          </a:prstGeom>
          <a:noFill/>
        </p:spPr>
        <p:txBody>
          <a:bodyPr wrap="square" rtlCol="0">
            <a:spAutoFit/>
          </a:bodyPr>
          <a:lstStyle/>
          <a:p>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2026</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年</a:t>
            </a:r>
            <a:r>
              <a:rPr lang="en-US" altLang="zh-CN" sz="2000" b="1" dirty="0">
                <a:latin typeface="微软雅黑" panose="020B0503020204020204" pitchFamily="34" charset="-122"/>
                <a:ea typeface="微软雅黑" panose="020B0503020204020204" pitchFamily="34" charset="-122"/>
                <a:cs typeface="Alibaba PuHuiTi M" panose="00020600040101010101" pitchFamily="18" charset="-122"/>
              </a:rPr>
              <a:t>1</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2</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月</a:t>
            </a:r>
            <a:r>
              <a:rPr lang="en-US" altLang="zh-CN"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   </a:t>
            </a:r>
            <a:r>
              <a:rPr lang="zh-CN" altLang="en-US" sz="2000" b="1" dirty="0">
                <a:solidFill>
                  <a:schemeClr val="tx1"/>
                </a:solidFill>
                <a:latin typeface="微软雅黑" panose="020B0503020204020204" pitchFamily="34" charset="-122"/>
                <a:ea typeface="微软雅黑" panose="020B0503020204020204" pitchFamily="34" charset="-122"/>
                <a:cs typeface="Alibaba PuHuiTi M" panose="00020600040101010101" pitchFamily="18" charset="-122"/>
              </a:rPr>
              <a:t>将研究成果应用到项目并结题</a:t>
            </a:r>
          </a:p>
        </p:txBody>
      </p:sp>
      <p:sp>
        <p:nvSpPr>
          <p:cNvPr id="33" name="椭圆 32"/>
          <p:cNvSpPr/>
          <p:nvPr>
            <p:custDataLst>
              <p:tags r:id="rId14"/>
            </p:custDataLst>
          </p:nvPr>
        </p:nvSpPr>
        <p:spPr>
          <a:xfrm>
            <a:off x="3356722" y="4949399"/>
            <a:ext cx="237985" cy="237985"/>
          </a:xfrm>
          <a:prstGeom prst="ellipse">
            <a:avLst/>
          </a:prstGeom>
          <a:solidFill>
            <a:srgbClr val="5E068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custDataLst>
              <p:tags r:id="rId15"/>
            </p:custDataLst>
          </p:nvPr>
        </p:nvSpPr>
        <p:spPr>
          <a:xfrm>
            <a:off x="3409419" y="5002217"/>
            <a:ext cx="132591" cy="132591"/>
          </a:xfrm>
          <a:prstGeom prst="ellipse">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custDataLst>
              <p:tags r:id="rId16"/>
            </p:custDataLst>
          </p:nvPr>
        </p:nvSpPr>
        <p:spPr>
          <a:xfrm>
            <a:off x="-1" y="1"/>
            <a:ext cx="2355759"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35"/>
          <p:cNvSpPr/>
          <p:nvPr>
            <p:custDataLst>
              <p:tags r:id="rId17"/>
            </p:custDataLst>
          </p:nvPr>
        </p:nvSpPr>
        <p:spPr>
          <a:xfrm>
            <a:off x="215668" y="381342"/>
            <a:ext cx="67607" cy="179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7" name="矩形 36"/>
          <p:cNvSpPr/>
          <p:nvPr>
            <p:custDataLst>
              <p:tags r:id="rId18"/>
            </p:custDataLst>
          </p:nvPr>
        </p:nvSpPr>
        <p:spPr>
          <a:xfrm>
            <a:off x="330745" y="264479"/>
            <a:ext cx="67607" cy="2963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0" name="矩形 39"/>
          <p:cNvSpPr/>
          <p:nvPr>
            <p:custDataLst>
              <p:tags r:id="rId19"/>
            </p:custDataLst>
          </p:nvPr>
        </p:nvSpPr>
        <p:spPr>
          <a:xfrm>
            <a:off x="447278" y="152400"/>
            <a:ext cx="66100" cy="408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矩形 52"/>
          <p:cNvSpPr/>
          <p:nvPr>
            <p:custDataLst>
              <p:tags r:id="rId20"/>
            </p:custDataLst>
          </p:nvPr>
        </p:nvSpPr>
        <p:spPr>
          <a:xfrm>
            <a:off x="-3461" y="4340024"/>
            <a:ext cx="2407994" cy="589951"/>
          </a:xfrm>
          <a:prstGeom prst="rect">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54" name="文本框 53"/>
          <p:cNvSpPr txBox="1"/>
          <p:nvPr>
            <p:custDataLst>
              <p:tags r:id="rId21"/>
            </p:custDataLst>
          </p:nvPr>
        </p:nvSpPr>
        <p:spPr>
          <a:xfrm>
            <a:off x="230518" y="2524349"/>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相关研究工作</a:t>
            </a:r>
          </a:p>
        </p:txBody>
      </p:sp>
      <p:sp>
        <p:nvSpPr>
          <p:cNvPr id="60" name="文本框 59"/>
          <p:cNvSpPr txBox="1"/>
          <p:nvPr>
            <p:custDataLst>
              <p:tags r:id="rId22"/>
            </p:custDataLst>
          </p:nvPr>
        </p:nvSpPr>
        <p:spPr>
          <a:xfrm>
            <a:off x="230518" y="3176547"/>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研究内容</a:t>
            </a:r>
          </a:p>
        </p:txBody>
      </p:sp>
      <p:sp>
        <p:nvSpPr>
          <p:cNvPr id="62" name="文本框 61"/>
          <p:cNvSpPr txBox="1"/>
          <p:nvPr>
            <p:custDataLst>
              <p:tags r:id="rId23"/>
            </p:custDataLst>
          </p:nvPr>
        </p:nvSpPr>
        <p:spPr>
          <a:xfrm>
            <a:off x="230518" y="382874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预期成果</a:t>
            </a:r>
          </a:p>
        </p:txBody>
      </p:sp>
      <p:sp>
        <p:nvSpPr>
          <p:cNvPr id="63" name="文本框 62"/>
          <p:cNvSpPr txBox="1"/>
          <p:nvPr>
            <p:custDataLst>
              <p:tags r:id="rId24"/>
            </p:custDataLst>
          </p:nvPr>
        </p:nvSpPr>
        <p:spPr>
          <a:xfrm>
            <a:off x="230518" y="1872151"/>
            <a:ext cx="1802005"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选题背景与意义</a:t>
            </a:r>
          </a:p>
        </p:txBody>
      </p:sp>
      <p:sp>
        <p:nvSpPr>
          <p:cNvPr id="64" name="文本框 63"/>
          <p:cNvSpPr txBox="1"/>
          <p:nvPr>
            <p:custDataLst>
              <p:tags r:id="rId25"/>
            </p:custDataLst>
          </p:nvPr>
        </p:nvSpPr>
        <p:spPr>
          <a:xfrm>
            <a:off x="215913" y="448025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进度安排</a:t>
            </a:r>
          </a:p>
        </p:txBody>
      </p:sp>
      <p:sp>
        <p:nvSpPr>
          <p:cNvPr id="65" name="文本框 64"/>
          <p:cNvSpPr txBox="1"/>
          <p:nvPr>
            <p:custDataLst>
              <p:tags r:id="rId26"/>
            </p:custDataLst>
          </p:nvPr>
        </p:nvSpPr>
        <p:spPr>
          <a:xfrm>
            <a:off x="215913" y="5131766"/>
            <a:ext cx="2529161" cy="30670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b="1" dirty="0">
                <a:solidFill>
                  <a:schemeClr val="bg1"/>
                </a:solidFill>
                <a:latin typeface="微软雅黑" panose="020B0503020204020204" pitchFamily="34" charset="-122"/>
                <a:ea typeface="微软雅黑" panose="020B0503020204020204" pitchFamily="34" charset="-122"/>
                <a:cs typeface="Alibaba PuHuiTi R" panose="00020600040101010101" pitchFamily="18" charset="-122"/>
              </a:rPr>
              <a:t>参考文献</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2598234" y="-719253"/>
            <a:ext cx="479502" cy="479502"/>
          </a:xfrm>
          <a:prstGeom prst="ellipse">
            <a:avLst/>
          </a:prstGeom>
          <a:solidFill>
            <a:srgbClr val="FF9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3464312" y="-886521"/>
            <a:ext cx="479502" cy="479502"/>
          </a:xfrm>
          <a:prstGeom prst="ellipse">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4330390" y="-1225188"/>
            <a:ext cx="479502" cy="479502"/>
          </a:xfrm>
          <a:prstGeom prst="ellipse">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5196468" y="-719253"/>
            <a:ext cx="479502" cy="479502"/>
          </a:xfrm>
          <a:prstGeom prst="ellipse">
            <a:avLst/>
          </a:prstGeom>
          <a:solidFill>
            <a:srgbClr val="7B2B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a:stretch>
            <a:fillRect/>
          </a:stretch>
        </p:blipFill>
        <p:spPr>
          <a:xfrm>
            <a:off x="-1457325" y="-1181100"/>
            <a:ext cx="1457325" cy="1181100"/>
          </a:xfrm>
          <a:prstGeom prst="rect">
            <a:avLst/>
          </a:prstGeom>
        </p:spPr>
      </p:pic>
      <p:pic>
        <p:nvPicPr>
          <p:cNvPr id="9" name="图片 8"/>
          <p:cNvPicPr>
            <a:picLocks noChangeAspect="1"/>
          </p:cNvPicPr>
          <p:nvPr/>
        </p:nvPicPr>
        <p:blipFill>
          <a:blip r:embed="rId3"/>
          <a:stretch>
            <a:fillRect/>
          </a:stretch>
        </p:blipFill>
        <p:spPr>
          <a:xfrm>
            <a:off x="-1457325" y="207575"/>
            <a:ext cx="1123950" cy="733425"/>
          </a:xfrm>
          <a:prstGeom prst="rect">
            <a:avLst/>
          </a:prstGeom>
        </p:spPr>
      </p:pic>
      <p:pic>
        <p:nvPicPr>
          <p:cNvPr id="10" name="图片 9"/>
          <p:cNvPicPr>
            <a:picLocks noChangeAspect="1"/>
          </p:cNvPicPr>
          <p:nvPr/>
        </p:nvPicPr>
        <p:blipFill>
          <a:blip r:embed="rId4"/>
          <a:stretch>
            <a:fillRect/>
          </a:stretch>
        </p:blipFill>
        <p:spPr>
          <a:xfrm>
            <a:off x="177722" y="-646190"/>
            <a:ext cx="1733550" cy="333375"/>
          </a:xfrm>
          <a:prstGeom prst="rect">
            <a:avLst/>
          </a:prstGeom>
          <a:solidFill>
            <a:srgbClr val="FF9600"/>
          </a:solidFill>
        </p:spPr>
      </p:pic>
      <p:sp>
        <p:nvSpPr>
          <p:cNvPr id="11" name="矩形 10"/>
          <p:cNvSpPr/>
          <p:nvPr/>
        </p:nvSpPr>
        <p:spPr>
          <a:xfrm>
            <a:off x="-1" y="1"/>
            <a:ext cx="3184265"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文本框 22"/>
          <p:cNvSpPr txBox="1"/>
          <p:nvPr/>
        </p:nvSpPr>
        <p:spPr>
          <a:xfrm>
            <a:off x="563151" y="2493844"/>
            <a:ext cx="2088884" cy="646331"/>
          </a:xfrm>
          <a:prstGeom prst="rect">
            <a:avLst/>
          </a:prstGeom>
          <a:noFill/>
        </p:spPr>
        <p:txBody>
          <a:bodyPr wrap="square"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参考文献</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533894" y="3256193"/>
            <a:ext cx="2274896" cy="46166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REFERENCES</a:t>
            </a:r>
          </a:p>
        </p:txBody>
      </p:sp>
      <p:sp>
        <p:nvSpPr>
          <p:cNvPr id="38" name="文本框 37"/>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20</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3370580" y="194945"/>
            <a:ext cx="8821420" cy="170815"/>
          </a:xfrm>
          <a:prstGeom prst="rect">
            <a:avLst/>
          </a:prstGeom>
          <a:noFill/>
          <a:ln w="9525">
            <a:noFill/>
          </a:ln>
        </p:spPr>
        <p:txBody>
          <a:bodyPr>
            <a:noAutofit/>
          </a:bodyPr>
          <a:lstStyle/>
          <a:p>
            <a:pPr marL="0" indent="0" algn="l"/>
            <a:r>
              <a:rPr lang="en-US" sz="1200" b="0" dirty="0">
                <a:latin typeface="Times New Roman Regular" panose="02020603050405020304" charset="0"/>
                <a:cs typeface="宋体" charset="0"/>
              </a:rPr>
              <a:t>[1] </a:t>
            </a:r>
            <a:r>
              <a:rPr lang="en-US" sz="1200" b="0" dirty="0" err="1">
                <a:latin typeface="Times New Roman Regular" panose="02020603050405020304" charset="0"/>
                <a:cs typeface="宋体" charset="0"/>
              </a:rPr>
              <a:t>Haibo</a:t>
            </a:r>
            <a:r>
              <a:rPr lang="en-US" sz="1200" b="0" dirty="0">
                <a:latin typeface="Times New Roman Regular" panose="02020603050405020304" charset="0"/>
                <a:cs typeface="宋体" charset="0"/>
              </a:rPr>
              <a:t> Mi, </a:t>
            </a:r>
            <a:r>
              <a:rPr lang="en-US" sz="1200" b="0" dirty="0" err="1">
                <a:latin typeface="Times New Roman Regular" panose="02020603050405020304" charset="0"/>
                <a:cs typeface="宋体" charset="0"/>
              </a:rPr>
              <a:t>Huaimin</a:t>
            </a:r>
            <a:r>
              <a:rPr lang="en-US" sz="1200" b="0" dirty="0">
                <a:latin typeface="Times New Roman Regular" panose="02020603050405020304" charset="0"/>
                <a:cs typeface="宋体" charset="0"/>
              </a:rPr>
              <a:t> Wang, </a:t>
            </a:r>
            <a:r>
              <a:rPr lang="en-US" sz="1200" b="0" dirty="0" err="1">
                <a:latin typeface="Times New Roman Regular" panose="02020603050405020304" charset="0"/>
                <a:cs typeface="宋体" charset="0"/>
              </a:rPr>
              <a:t>Yangfan</a:t>
            </a:r>
            <a:r>
              <a:rPr lang="en-US" sz="1200" b="0" dirty="0">
                <a:latin typeface="Times New Roman Regular" panose="02020603050405020304" charset="0"/>
                <a:cs typeface="宋体" charset="0"/>
              </a:rPr>
              <a:t> Zhou, Michael Rung-</a:t>
            </a:r>
            <a:r>
              <a:rPr lang="en-US" sz="1200" b="0" dirty="0" err="1">
                <a:latin typeface="Times New Roman Regular" panose="02020603050405020304" charset="0"/>
                <a:cs typeface="宋体" charset="0"/>
              </a:rPr>
              <a:t>Tsong</a:t>
            </a:r>
            <a:r>
              <a:rPr lang="en-US" sz="1200" b="0" dirty="0">
                <a:latin typeface="Times New Roman Regular" panose="02020603050405020304" charset="0"/>
                <a:cs typeface="宋体" charset="0"/>
              </a:rPr>
              <a:t> </a:t>
            </a:r>
            <a:r>
              <a:rPr lang="en-US" sz="1200" b="0" dirty="0" err="1">
                <a:latin typeface="Times New Roman Regular" panose="02020603050405020304" charset="0"/>
                <a:cs typeface="宋体" charset="0"/>
              </a:rPr>
              <a:t>Lyu</a:t>
            </a:r>
            <a:r>
              <a:rPr lang="en-US" sz="1200" b="0" dirty="0">
                <a:latin typeface="Times New Roman Regular" panose="02020603050405020304" charset="0"/>
                <a:cs typeface="宋体" charset="0"/>
              </a:rPr>
              <a:t>, and Hua Cai. 2013. Toward fine-grained, unsupervised, scalable performance diagnosis for production cloud computing systems. IEEE Transactions on Parallel and Distributed Systems 24, 6 (2013), 1245–1255.</a:t>
            </a:r>
          </a:p>
          <a:p>
            <a:pPr marL="0" indent="0" algn="l"/>
            <a:r>
              <a:rPr lang="en-US" sz="1200" b="0" dirty="0">
                <a:latin typeface="Times New Roman Regular" panose="02020603050405020304" charset="0"/>
                <a:cs typeface="宋体" charset="0"/>
              </a:rPr>
              <a:t>[2] </a:t>
            </a:r>
            <a:r>
              <a:rPr lang="en-US" sz="1200" b="0" dirty="0" err="1">
                <a:latin typeface="Times New Roman Regular" panose="02020603050405020304" charset="0"/>
                <a:cs typeface="宋体" charset="0"/>
              </a:rPr>
              <a:t>Shilin</a:t>
            </a:r>
            <a:r>
              <a:rPr lang="en-US" sz="1200" b="0" dirty="0">
                <a:latin typeface="Times New Roman Regular" panose="02020603050405020304" charset="0"/>
                <a:cs typeface="宋体" charset="0"/>
              </a:rPr>
              <a:t> He, </a:t>
            </a:r>
            <a:r>
              <a:rPr lang="en-US" sz="1200" b="0" dirty="0" err="1">
                <a:latin typeface="Times New Roman Regular" panose="02020603050405020304" charset="0"/>
                <a:cs typeface="宋体" charset="0"/>
              </a:rPr>
              <a:t>Pinjia</a:t>
            </a:r>
            <a:r>
              <a:rPr lang="en-US" sz="1200" b="0" dirty="0">
                <a:latin typeface="Times New Roman Regular" panose="02020603050405020304" charset="0"/>
                <a:cs typeface="宋体" charset="0"/>
              </a:rPr>
              <a:t> He, </a:t>
            </a:r>
            <a:r>
              <a:rPr lang="en-US" sz="1200" b="0" dirty="0" err="1">
                <a:latin typeface="Times New Roman Regular" panose="02020603050405020304" charset="0"/>
                <a:cs typeface="宋体" charset="0"/>
              </a:rPr>
              <a:t>Zhuangbin</a:t>
            </a:r>
            <a:r>
              <a:rPr lang="en-US" sz="1200" b="0" dirty="0">
                <a:latin typeface="Times New Roman Regular" panose="02020603050405020304" charset="0"/>
                <a:cs typeface="宋体" charset="0"/>
              </a:rPr>
              <a:t> Chen, </a:t>
            </a:r>
            <a:r>
              <a:rPr lang="en-US" sz="1200" b="0" dirty="0" err="1">
                <a:latin typeface="Times New Roman Regular" panose="02020603050405020304" charset="0"/>
                <a:cs typeface="宋体" charset="0"/>
              </a:rPr>
              <a:t>Tianyi</a:t>
            </a:r>
            <a:r>
              <a:rPr lang="en-US" sz="1200" b="0" dirty="0">
                <a:latin typeface="Times New Roman Regular" panose="02020603050405020304" charset="0"/>
                <a:cs typeface="宋体" charset="0"/>
              </a:rPr>
              <a:t> Yang, </a:t>
            </a:r>
            <a:r>
              <a:rPr lang="en-US" sz="1200" b="0" dirty="0" err="1">
                <a:latin typeface="Times New Roman Regular" panose="02020603050405020304" charset="0"/>
                <a:cs typeface="宋体" charset="0"/>
              </a:rPr>
              <a:t>Yuxin</a:t>
            </a:r>
            <a:r>
              <a:rPr lang="en-US" sz="1200" b="0" dirty="0">
                <a:latin typeface="Times New Roman Regular" panose="02020603050405020304" charset="0"/>
                <a:cs typeface="宋体" charset="0"/>
              </a:rPr>
              <a:t> </a:t>
            </a:r>
            <a:r>
              <a:rPr lang="en-US" sz="1200" b="0" dirty="0" err="1">
                <a:latin typeface="Times New Roman Regular" panose="02020603050405020304" charset="0"/>
                <a:cs typeface="宋体" charset="0"/>
              </a:rPr>
              <a:t>Su</a:t>
            </a:r>
            <a:r>
              <a:rPr lang="en-US" sz="1200" b="0" dirty="0">
                <a:latin typeface="Times New Roman Regular" panose="02020603050405020304" charset="0"/>
                <a:cs typeface="宋体" charset="0"/>
              </a:rPr>
              <a:t>, and Michael R </a:t>
            </a:r>
            <a:r>
              <a:rPr lang="en-US" sz="1200" b="0" dirty="0" err="1">
                <a:latin typeface="Times New Roman Regular" panose="02020603050405020304" charset="0"/>
                <a:cs typeface="宋体" charset="0"/>
              </a:rPr>
              <a:t>Lyu</a:t>
            </a:r>
            <a:r>
              <a:rPr lang="en-US" sz="1200" b="0" dirty="0">
                <a:latin typeface="Times New Roman Regular" panose="02020603050405020304" charset="0"/>
                <a:cs typeface="宋体" charset="0"/>
              </a:rPr>
              <a:t>. 2020. A Survey on Automated Log Analysis for Reliability Engineering. </a:t>
            </a:r>
            <a:r>
              <a:rPr lang="en-US" sz="1200" b="0" dirty="0" err="1">
                <a:latin typeface="Times New Roman Regular" panose="02020603050405020304" charset="0"/>
                <a:cs typeface="宋体" charset="0"/>
              </a:rPr>
              <a:t>arXiv</a:t>
            </a:r>
            <a:r>
              <a:rPr lang="en-US" sz="1200" b="0" dirty="0">
                <a:latin typeface="Times New Roman Regular" panose="02020603050405020304" charset="0"/>
                <a:cs typeface="宋体" charset="0"/>
              </a:rPr>
              <a:t> preprint arXiv:2009.07237 (2020).</a:t>
            </a:r>
          </a:p>
          <a:p>
            <a:pPr marL="0" indent="0" algn="l"/>
            <a:r>
              <a:rPr lang="en-US" sz="1200" b="0" dirty="0">
                <a:latin typeface="Times New Roman Regular" panose="02020603050405020304" charset="0"/>
                <a:cs typeface="宋体" charset="0"/>
              </a:rPr>
              <a:t>[3] Zhang, T., </a:t>
            </a:r>
            <a:r>
              <a:rPr lang="en-US" sz="1200" b="0" dirty="0" err="1">
                <a:latin typeface="Times New Roman Regular" panose="02020603050405020304" charset="0"/>
                <a:cs typeface="宋体" charset="0"/>
              </a:rPr>
              <a:t>Qiu</a:t>
            </a:r>
            <a:r>
              <a:rPr lang="en-US" sz="1200" b="0" dirty="0">
                <a:latin typeface="Times New Roman Regular" panose="02020603050405020304" charset="0"/>
                <a:cs typeface="宋体" charset="0"/>
              </a:rPr>
              <a:t>, H., Castellano, G., Rifai, M., Chen, C. S., &amp; </a:t>
            </a:r>
            <a:r>
              <a:rPr lang="en-US" sz="1200" b="0" dirty="0" err="1">
                <a:latin typeface="Times New Roman Regular" panose="02020603050405020304" charset="0"/>
                <a:cs typeface="宋体" charset="0"/>
              </a:rPr>
              <a:t>Pianese</a:t>
            </a:r>
            <a:r>
              <a:rPr lang="en-US" sz="1200" b="0" dirty="0">
                <a:latin typeface="Times New Roman Regular" panose="02020603050405020304" charset="0"/>
                <a:cs typeface="宋体" charset="0"/>
              </a:rPr>
              <a:t>, F. (2023). System Log Parsing: A Survey. IEEE Transactions on Knowledge and Data Engineering. </a:t>
            </a:r>
          </a:p>
          <a:p>
            <a:pPr marL="0" indent="0" algn="l"/>
            <a:r>
              <a:rPr lang="en-US" sz="1200" b="0" dirty="0">
                <a:latin typeface="Times New Roman Regular" panose="02020603050405020304" charset="0"/>
                <a:cs typeface="宋体" charset="0"/>
              </a:rPr>
              <a:t>[4] Zhang S, Meng W, Bu J, et al. Syslog processing for switch failure diagnosis and prediction in datacenter networks[C]//2017 IEEE/ACM 25th International Symposium on Quality of Service (</a:t>
            </a:r>
            <a:r>
              <a:rPr lang="en-US" sz="1200" b="0" dirty="0" err="1">
                <a:latin typeface="Times New Roman Regular" panose="02020603050405020304" charset="0"/>
                <a:cs typeface="宋体" charset="0"/>
              </a:rPr>
              <a:t>IWQoS</a:t>
            </a:r>
            <a:r>
              <a:rPr lang="en-US" sz="1200" b="0" dirty="0">
                <a:latin typeface="Times New Roman Regular" panose="02020603050405020304" charset="0"/>
                <a:cs typeface="宋体" charset="0"/>
              </a:rPr>
              <a:t>). IEEE, 2017: 1-10.</a:t>
            </a:r>
          </a:p>
          <a:p>
            <a:pPr marL="0" indent="0" algn="l"/>
            <a:r>
              <a:rPr lang="en-US" sz="1200" b="0" dirty="0">
                <a:latin typeface="Times New Roman Regular" panose="02020603050405020304" charset="0"/>
                <a:cs typeface="宋体" charset="0"/>
              </a:rPr>
              <a:t>[5] He P, Zhu J, Zheng Z, et al. Drain: An online log parsing approach with fixed depth tree[C]//2017 IEEE international conference on web services (ICWS). IEEE, 2017: 33-40.</a:t>
            </a:r>
          </a:p>
          <a:p>
            <a:pPr marL="0" indent="0" algn="l"/>
            <a:r>
              <a:rPr lang="en-US" sz="1200" b="0" dirty="0">
                <a:latin typeface="Times New Roman Regular" panose="02020603050405020304" charset="0"/>
                <a:cs typeface="宋体" charset="0"/>
              </a:rPr>
              <a:t>[6] Deep learning for anomaly detection in log data: A survey</a:t>
            </a:r>
          </a:p>
          <a:p>
            <a:pPr marL="0" indent="0" algn="l"/>
            <a:r>
              <a:rPr lang="en-US" sz="1200" b="0" dirty="0">
                <a:latin typeface="Times New Roman Regular" panose="02020603050405020304" charset="0"/>
                <a:cs typeface="宋体" charset="0"/>
              </a:rPr>
              <a:t>[7] T. Kimura, A. Watanabe, T. </a:t>
            </a:r>
            <a:r>
              <a:rPr lang="en-US" sz="1200" b="0" dirty="0" err="1">
                <a:latin typeface="Times New Roman Regular" panose="02020603050405020304" charset="0"/>
                <a:cs typeface="宋体" charset="0"/>
              </a:rPr>
              <a:t>Toyono</a:t>
            </a:r>
            <a:r>
              <a:rPr lang="en-US" sz="1200" b="0" dirty="0">
                <a:latin typeface="Times New Roman Regular" panose="02020603050405020304" charset="0"/>
                <a:cs typeface="宋体" charset="0"/>
              </a:rPr>
              <a:t>, and K. Ishibashi, “Proactive failure detection learning generation patterns of large-scale network logs,” IEICE Transactions on Communications, 2018.</a:t>
            </a:r>
          </a:p>
          <a:p>
            <a:pPr marL="0" indent="0" algn="l"/>
            <a:r>
              <a:rPr lang="en-US" sz="1200" b="0" dirty="0">
                <a:latin typeface="Times New Roman Regular" panose="02020603050405020304" charset="0"/>
                <a:cs typeface="宋体" charset="0"/>
              </a:rPr>
              <a:t>[8] S. Guo, Z. Liu, W. Chen, and T. Li, “Event extraction from streaming system logs,” in International Conference on Information Science and Applications. Springer, 2018, pp. 465–474.</a:t>
            </a:r>
          </a:p>
          <a:p>
            <a:pPr marL="0" indent="0" algn="l"/>
            <a:r>
              <a:rPr lang="en-US" sz="1200" b="0" dirty="0">
                <a:latin typeface="Times New Roman Regular" panose="02020603050405020304" charset="0"/>
                <a:cs typeface="宋体" charset="0"/>
              </a:rPr>
              <a:t>[9] Chen R, Zhang S, Li D, et al. </a:t>
            </a:r>
            <a:r>
              <a:rPr lang="en-US" sz="1200" b="0" dirty="0" err="1">
                <a:latin typeface="Times New Roman Regular" panose="02020603050405020304" charset="0"/>
                <a:cs typeface="宋体" charset="0"/>
              </a:rPr>
              <a:t>Logtransfer</a:t>
            </a:r>
            <a:r>
              <a:rPr lang="en-US" sz="1200" b="0" dirty="0">
                <a:latin typeface="Times New Roman Regular" panose="02020603050405020304" charset="0"/>
                <a:cs typeface="宋体" charset="0"/>
              </a:rPr>
              <a:t>: Cross-system log anomaly detection for software systems with transfer learning[C]//2020 IEEE 31st International Symposium on Software Reliability Engineering (ISSRE). IEEE, 2020: 37-47.</a:t>
            </a:r>
          </a:p>
          <a:p>
            <a:pPr marL="0" indent="0" algn="l"/>
            <a:r>
              <a:rPr lang="en-US" sz="1200" b="0" dirty="0">
                <a:latin typeface="Times New Roman Regular" panose="02020603050405020304" charset="0"/>
                <a:cs typeface="宋体" charset="0"/>
              </a:rPr>
              <a:t>[10] Yu, S., Wu, Y., Li, Z., He, P., Chen, N. and Liu, C., 2023, November. Log Parsing with Generalization Ability under New Log Types. In Proceedings of the 31st ACM Joint European Software Engineering Conference and Symposium on the Foundations of Software Engineering (pp. 425-437).</a:t>
            </a:r>
          </a:p>
          <a:p>
            <a:pPr marL="0" indent="0" algn="l"/>
            <a:r>
              <a:rPr lang="en-US" sz="1200" b="0" dirty="0">
                <a:latin typeface="Times New Roman Regular" panose="02020603050405020304" charset="0"/>
                <a:cs typeface="宋体" charset="0"/>
              </a:rPr>
              <a:t>[11] Xu J, Yang R, </a:t>
            </a:r>
            <a:r>
              <a:rPr lang="en-US" sz="1200" b="0" dirty="0" err="1">
                <a:latin typeface="Times New Roman Regular" panose="02020603050405020304" charset="0"/>
                <a:cs typeface="宋体" charset="0"/>
              </a:rPr>
              <a:t>Huo</a:t>
            </a:r>
            <a:r>
              <a:rPr lang="en-US" sz="1200" b="0" dirty="0">
                <a:latin typeface="Times New Roman Regular" panose="02020603050405020304" charset="0"/>
                <a:cs typeface="宋体" charset="0"/>
              </a:rPr>
              <a:t> Y, et al. Prompting for Automatic Log Template Extraction[J]. </a:t>
            </a:r>
            <a:r>
              <a:rPr lang="en-US" sz="1200" b="0" dirty="0" err="1">
                <a:latin typeface="Times New Roman Regular" panose="02020603050405020304" charset="0"/>
                <a:cs typeface="宋体" charset="0"/>
              </a:rPr>
              <a:t>arXiv</a:t>
            </a:r>
            <a:r>
              <a:rPr lang="en-US" sz="1200" b="0" dirty="0">
                <a:latin typeface="Times New Roman Regular" panose="02020603050405020304" charset="0"/>
                <a:cs typeface="宋体" charset="0"/>
              </a:rPr>
              <a:t> preprint arXiv:2307.09950, 2023. </a:t>
            </a:r>
          </a:p>
          <a:p>
            <a:pPr marL="0" indent="0" algn="l"/>
            <a:r>
              <a:rPr lang="en-US" sz="1200" b="0" dirty="0">
                <a:latin typeface="Times New Roman Regular" panose="02020603050405020304" charset="0"/>
                <a:cs typeface="宋体" charset="0"/>
              </a:rPr>
              <a:t>[12] Jiang Z, Liu J, Chen Z, et al. </a:t>
            </a:r>
            <a:r>
              <a:rPr lang="en-US" sz="1200" b="0" dirty="0" err="1">
                <a:latin typeface="Times New Roman Regular" panose="02020603050405020304" charset="0"/>
                <a:cs typeface="宋体" charset="0"/>
              </a:rPr>
              <a:t>LLMParser</a:t>
            </a:r>
            <a:r>
              <a:rPr lang="en-US" sz="1200" b="0" dirty="0">
                <a:latin typeface="Times New Roman Regular" panose="02020603050405020304" charset="0"/>
                <a:cs typeface="宋体" charset="0"/>
              </a:rPr>
              <a:t>: A LLM-based Log Parsing Framework[J]. </a:t>
            </a:r>
            <a:r>
              <a:rPr lang="en-US" sz="1200" b="0" dirty="0" err="1">
                <a:latin typeface="Times New Roman Regular" panose="02020603050405020304" charset="0"/>
                <a:cs typeface="宋体" charset="0"/>
              </a:rPr>
              <a:t>arXiv</a:t>
            </a:r>
            <a:r>
              <a:rPr lang="en-US" sz="1200" b="0" dirty="0">
                <a:latin typeface="Times New Roman Regular" panose="02020603050405020304" charset="0"/>
                <a:cs typeface="宋体" charset="0"/>
              </a:rPr>
              <a:t> preprint arXiv:2310.01796, 2023.</a:t>
            </a:r>
          </a:p>
          <a:p>
            <a:pPr marL="0" indent="0" algn="l"/>
            <a:r>
              <a:rPr lang="en-US" sz="1200" b="0" dirty="0">
                <a:latin typeface="Times New Roman Regular" panose="02020603050405020304" charset="0"/>
                <a:cs typeface="宋体" charset="0"/>
              </a:rPr>
              <a:t>[13] Zhang T, Huang X, Zhao W, et al. </a:t>
            </a:r>
            <a:r>
              <a:rPr lang="en-US" sz="1200" b="0" dirty="0" err="1">
                <a:latin typeface="Times New Roman Regular" panose="02020603050405020304" charset="0"/>
                <a:cs typeface="宋体" charset="0"/>
              </a:rPr>
              <a:t>LogPrompt</a:t>
            </a:r>
            <a:r>
              <a:rPr lang="en-US" sz="1200" b="0" dirty="0">
                <a:latin typeface="Times New Roman Regular" panose="02020603050405020304" charset="0"/>
                <a:cs typeface="宋体" charset="0"/>
              </a:rPr>
              <a:t>: A Log-based Anomaly Detection Framework Using Prompts[C]//2023 International Joint Conference on Neural Networks (IJCNN). IEEE, 2023: 1-8.</a:t>
            </a:r>
          </a:p>
          <a:p>
            <a:pPr marL="0" indent="0" algn="l"/>
            <a:r>
              <a:rPr lang="en-US" sz="1200" b="0" dirty="0">
                <a:latin typeface="Times New Roman Regular" panose="02020603050405020304" charset="0"/>
                <a:cs typeface="宋体" charset="0"/>
              </a:rPr>
              <a:t>[14] Liu Y, Tao S, Meng W, et al. </a:t>
            </a:r>
            <a:r>
              <a:rPr lang="en-US" sz="1200" b="0" dirty="0" err="1">
                <a:latin typeface="Times New Roman Regular" panose="02020603050405020304" charset="0"/>
                <a:cs typeface="宋体" charset="0"/>
              </a:rPr>
              <a:t>LogPrompt</a:t>
            </a:r>
            <a:r>
              <a:rPr lang="en-US" sz="1200" b="0" dirty="0">
                <a:latin typeface="Times New Roman Regular" panose="02020603050405020304" charset="0"/>
                <a:cs typeface="宋体" charset="0"/>
              </a:rPr>
              <a:t>: Prompt Engineering Towards Zero-Shot and Interpretable Log Analysis[J]. </a:t>
            </a:r>
            <a:r>
              <a:rPr lang="en-US" sz="1200" b="0" dirty="0" err="1">
                <a:latin typeface="Times New Roman Regular" panose="02020603050405020304" charset="0"/>
                <a:cs typeface="宋体" charset="0"/>
              </a:rPr>
              <a:t>arXiv</a:t>
            </a:r>
            <a:r>
              <a:rPr lang="en-US" sz="1200" b="0" dirty="0">
                <a:latin typeface="Times New Roman Regular" panose="02020603050405020304" charset="0"/>
                <a:cs typeface="宋体" charset="0"/>
              </a:rPr>
              <a:t> preprint arXiv:2308.07610, 2023.</a:t>
            </a:r>
          </a:p>
          <a:p>
            <a:pPr marL="0" indent="0" algn="l"/>
            <a:r>
              <a:rPr lang="en-US" sz="1200" b="0" dirty="0">
                <a:latin typeface="Times New Roman Regular" panose="02020603050405020304" charset="0"/>
                <a:cs typeface="宋体" charset="0"/>
              </a:rPr>
              <a:t>[15] Wei Xu, Ling Huang, Armando Fox, David Patterson, and Michael Jordan. 2009. Largescale system problem detection by mining console logs. In Proceedings of SOSP, Vol. 9. </a:t>
            </a:r>
            <a:r>
              <a:rPr lang="en-US" sz="1200" b="0" dirty="0" err="1">
                <a:latin typeface="Times New Roman Regular" panose="02020603050405020304" charset="0"/>
                <a:cs typeface="宋体" charset="0"/>
              </a:rPr>
              <a:t>Citeseer</a:t>
            </a:r>
            <a:r>
              <a:rPr lang="en-US" sz="1200" b="0" dirty="0">
                <a:latin typeface="Times New Roman Regular" panose="02020603050405020304" charset="0"/>
                <a:cs typeface="宋体" charset="0"/>
              </a:rPr>
              <a:t>, 1–17.</a:t>
            </a:r>
          </a:p>
          <a:p>
            <a:pPr marL="0" indent="0" algn="l"/>
            <a:r>
              <a:rPr lang="en-US" sz="1200" b="0" dirty="0">
                <a:latin typeface="Times New Roman Regular" panose="02020603050405020304" charset="0"/>
                <a:cs typeface="宋体" charset="0"/>
              </a:rPr>
              <a:t>[16] </a:t>
            </a:r>
            <a:r>
              <a:rPr lang="en-US" sz="1200" b="0" dirty="0" err="1">
                <a:latin typeface="Times New Roman Regular" panose="02020603050405020304" charset="0"/>
                <a:cs typeface="宋体" charset="0"/>
              </a:rPr>
              <a:t>Qingwei</a:t>
            </a:r>
            <a:r>
              <a:rPr lang="en-US" sz="1200" b="0" dirty="0">
                <a:latin typeface="Times New Roman Regular" panose="02020603050405020304" charset="0"/>
                <a:cs typeface="宋体" charset="0"/>
              </a:rPr>
              <a:t> Lin, </a:t>
            </a:r>
            <a:r>
              <a:rPr lang="en-US" sz="1200" b="0" dirty="0" err="1">
                <a:latin typeface="Times New Roman Regular" panose="02020603050405020304" charset="0"/>
                <a:cs typeface="宋体" charset="0"/>
              </a:rPr>
              <a:t>Hongyu</a:t>
            </a:r>
            <a:r>
              <a:rPr lang="en-US" sz="1200" b="0" dirty="0">
                <a:latin typeface="Times New Roman Regular" panose="02020603050405020304" charset="0"/>
                <a:cs typeface="宋体" charset="0"/>
              </a:rPr>
              <a:t> Zhang, Jian-</a:t>
            </a:r>
            <a:r>
              <a:rPr lang="en-US" sz="1200" b="0" dirty="0" err="1">
                <a:latin typeface="Times New Roman Regular" panose="02020603050405020304" charset="0"/>
                <a:cs typeface="宋体" charset="0"/>
              </a:rPr>
              <a:t>Guang</a:t>
            </a:r>
            <a:r>
              <a:rPr lang="en-US" sz="1200" b="0" dirty="0">
                <a:latin typeface="Times New Roman Regular" panose="02020603050405020304" charset="0"/>
                <a:cs typeface="宋体" charset="0"/>
              </a:rPr>
              <a:t> Lou, Yu Zhang, and </a:t>
            </a:r>
            <a:r>
              <a:rPr lang="en-US" sz="1200" b="0" dirty="0" err="1">
                <a:latin typeface="Times New Roman Regular" panose="02020603050405020304" charset="0"/>
                <a:cs typeface="宋体" charset="0"/>
              </a:rPr>
              <a:t>Xuewei</a:t>
            </a:r>
            <a:r>
              <a:rPr lang="en-US" sz="1200" b="0" dirty="0">
                <a:latin typeface="Times New Roman Regular" panose="02020603050405020304" charset="0"/>
                <a:cs typeface="宋体" charset="0"/>
              </a:rPr>
              <a:t> Chen. 2016. Log clustering based problem identification for online service systems. In Proceedings of the 38th International Conference on Software Engineering Companion. 102–111.</a:t>
            </a:r>
          </a:p>
          <a:p>
            <a:pPr marL="0" indent="0" algn="l"/>
            <a:r>
              <a:rPr lang="en-US" sz="1200" b="0" dirty="0">
                <a:latin typeface="Times New Roman Regular" panose="02020603050405020304" charset="0"/>
                <a:cs typeface="宋体" charset="0"/>
              </a:rPr>
              <a:t>[17] Jian-</a:t>
            </a:r>
            <a:r>
              <a:rPr lang="en-US" sz="1200" b="0" dirty="0" err="1">
                <a:latin typeface="Times New Roman Regular" panose="02020603050405020304" charset="0"/>
                <a:cs typeface="宋体" charset="0"/>
              </a:rPr>
              <a:t>Guang</a:t>
            </a:r>
            <a:r>
              <a:rPr lang="en-US" sz="1200" b="0" dirty="0">
                <a:latin typeface="Times New Roman Regular" panose="02020603050405020304" charset="0"/>
                <a:cs typeface="宋体" charset="0"/>
              </a:rPr>
              <a:t> Lou, </a:t>
            </a:r>
            <a:r>
              <a:rPr lang="en-US" sz="1200" b="0" dirty="0" err="1">
                <a:latin typeface="Times New Roman Regular" panose="02020603050405020304" charset="0"/>
                <a:cs typeface="宋体" charset="0"/>
              </a:rPr>
              <a:t>Qiang</a:t>
            </a:r>
            <a:r>
              <a:rPr lang="en-US" sz="1200" b="0" dirty="0">
                <a:latin typeface="Times New Roman Regular" panose="02020603050405020304" charset="0"/>
                <a:cs typeface="宋体" charset="0"/>
              </a:rPr>
              <a:t> Fu, </a:t>
            </a:r>
            <a:r>
              <a:rPr lang="en-US" sz="1200" b="0" dirty="0" err="1">
                <a:latin typeface="Times New Roman Regular" panose="02020603050405020304" charset="0"/>
                <a:cs typeface="宋体" charset="0"/>
              </a:rPr>
              <a:t>Shengqi</a:t>
            </a:r>
            <a:r>
              <a:rPr lang="en-US" sz="1200" b="0" dirty="0">
                <a:latin typeface="Times New Roman Regular" panose="02020603050405020304" charset="0"/>
                <a:cs typeface="宋体" charset="0"/>
              </a:rPr>
              <a:t> Yang, Ye Xu, and Jiang Li. 2010. Mining Invariants from Console Logs for System Problem Detection.. In USENIX annual technical conference. 1–14.</a:t>
            </a:r>
            <a:endParaRPr lang="en-US" altLang="en-US" sz="1200" b="0" dirty="0">
              <a:latin typeface="Times New Roman Regular" panose="02020603050405020304" charset="0"/>
              <a:cs typeface="宋体"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2598234" y="-719253"/>
            <a:ext cx="479502" cy="479502"/>
          </a:xfrm>
          <a:prstGeom prst="ellipse">
            <a:avLst/>
          </a:prstGeom>
          <a:solidFill>
            <a:srgbClr val="FF9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3464312" y="-886521"/>
            <a:ext cx="479502" cy="479502"/>
          </a:xfrm>
          <a:prstGeom prst="ellipse">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4330390" y="-1225188"/>
            <a:ext cx="479502" cy="479502"/>
          </a:xfrm>
          <a:prstGeom prst="ellipse">
            <a:avLst/>
          </a:prstGeom>
          <a:solidFill>
            <a:srgbClr val="BC1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5196468" y="-719253"/>
            <a:ext cx="479502" cy="479502"/>
          </a:xfrm>
          <a:prstGeom prst="ellipse">
            <a:avLst/>
          </a:prstGeom>
          <a:solidFill>
            <a:srgbClr val="7B2B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3"/>
          <a:stretch>
            <a:fillRect/>
          </a:stretch>
        </p:blipFill>
        <p:spPr>
          <a:xfrm>
            <a:off x="-1457325" y="-1181100"/>
            <a:ext cx="1457325" cy="1181100"/>
          </a:xfrm>
          <a:prstGeom prst="rect">
            <a:avLst/>
          </a:prstGeom>
        </p:spPr>
      </p:pic>
      <p:pic>
        <p:nvPicPr>
          <p:cNvPr id="9" name="图片 8"/>
          <p:cNvPicPr>
            <a:picLocks noChangeAspect="1"/>
          </p:cNvPicPr>
          <p:nvPr/>
        </p:nvPicPr>
        <p:blipFill>
          <a:blip r:embed="rId4"/>
          <a:stretch>
            <a:fillRect/>
          </a:stretch>
        </p:blipFill>
        <p:spPr>
          <a:xfrm>
            <a:off x="-1457325" y="207575"/>
            <a:ext cx="1123950" cy="733425"/>
          </a:xfrm>
          <a:prstGeom prst="rect">
            <a:avLst/>
          </a:prstGeom>
        </p:spPr>
      </p:pic>
      <p:pic>
        <p:nvPicPr>
          <p:cNvPr id="10" name="图片 9"/>
          <p:cNvPicPr>
            <a:picLocks noChangeAspect="1"/>
          </p:cNvPicPr>
          <p:nvPr/>
        </p:nvPicPr>
        <p:blipFill>
          <a:blip r:embed="rId5"/>
          <a:stretch>
            <a:fillRect/>
          </a:stretch>
        </p:blipFill>
        <p:spPr>
          <a:xfrm>
            <a:off x="177722" y="-646190"/>
            <a:ext cx="1733550" cy="333375"/>
          </a:xfrm>
          <a:prstGeom prst="rect">
            <a:avLst/>
          </a:prstGeom>
          <a:solidFill>
            <a:srgbClr val="FF9600"/>
          </a:solidFill>
        </p:spPr>
      </p:pic>
      <p:sp>
        <p:nvSpPr>
          <p:cNvPr id="11" name="矩形 10"/>
          <p:cNvSpPr/>
          <p:nvPr/>
        </p:nvSpPr>
        <p:spPr>
          <a:xfrm>
            <a:off x="-1" y="1"/>
            <a:ext cx="3184265" cy="6858000"/>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文本框 22"/>
          <p:cNvSpPr txBox="1"/>
          <p:nvPr/>
        </p:nvSpPr>
        <p:spPr>
          <a:xfrm>
            <a:off x="563151" y="2493844"/>
            <a:ext cx="2088884" cy="646331"/>
          </a:xfrm>
          <a:prstGeom prst="rect">
            <a:avLst/>
          </a:prstGeom>
          <a:noFill/>
        </p:spPr>
        <p:txBody>
          <a:bodyPr wrap="square"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参考文献</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533894" y="3256193"/>
            <a:ext cx="2274896" cy="46166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REFERENCES</a:t>
            </a:r>
          </a:p>
        </p:txBody>
      </p:sp>
      <p:sp>
        <p:nvSpPr>
          <p:cNvPr id="38" name="文本框 37"/>
          <p:cNvSpPr txBox="1"/>
          <p:nvPr/>
        </p:nvSpPr>
        <p:spPr>
          <a:xfrm>
            <a:off x="11675726" y="6410195"/>
            <a:ext cx="623795" cy="306705"/>
          </a:xfrm>
          <a:prstGeom prst="rect">
            <a:avLst/>
          </a:prstGeom>
          <a:noFill/>
        </p:spPr>
        <p:txBody>
          <a:bodyPr wrap="square" rtlCol="0">
            <a:spAutoFit/>
          </a:bodyPr>
          <a:lstStyle/>
          <a:p>
            <a:r>
              <a:rPr lang="en-US" altLang="zh-CN" sz="1400" dirty="0">
                <a:solidFill>
                  <a:srgbClr val="5E068C"/>
                </a:solidFill>
                <a:latin typeface="微软雅黑" panose="020B0503020204020204" pitchFamily="34" charset="-122"/>
                <a:ea typeface="微软雅黑" panose="020B0503020204020204" pitchFamily="34" charset="-122"/>
              </a:rPr>
              <a:t>21</a:t>
            </a:r>
            <a:endParaRPr lang="zh-CN" altLang="en-US" sz="1400" dirty="0">
              <a:solidFill>
                <a:srgbClr val="5E068C"/>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65500" y="537845"/>
            <a:ext cx="8442325" cy="5815965"/>
          </a:xfrm>
          <a:prstGeom prst="rect">
            <a:avLst/>
          </a:prstGeom>
          <a:noFill/>
        </p:spPr>
        <p:txBody>
          <a:bodyPr wrap="square" rtlCol="0" anchor="t">
            <a:spAutoFit/>
          </a:bodyPr>
          <a:lstStyle/>
          <a:p>
            <a:pPr marL="0" indent="0" algn="l"/>
            <a:r>
              <a:rPr lang="en-US" sz="1200">
                <a:latin typeface="Times New Roman Regular" panose="02020603050405020304" charset="0"/>
                <a:cs typeface="宋体" charset="0"/>
                <a:sym typeface="+mn-ea"/>
              </a:rPr>
              <a:t>[18] Wang Z, Liu Z, Zhang Y, et al. RCAgent: Cloud Root Cause Analysis by Autonomous Agents with Tool-Augmented Large Language Models[J]. arXiv preprint arXiv:2310.16340, 2023.</a:t>
            </a:r>
          </a:p>
          <a:p>
            <a:pPr marL="0" indent="0" algn="l"/>
            <a:r>
              <a:rPr lang="en-US" sz="1200">
                <a:latin typeface="Times New Roman Regular" panose="02020603050405020304" charset="0"/>
                <a:cs typeface="宋体" charset="0"/>
                <a:sym typeface="+mn-ea"/>
              </a:rPr>
              <a:t>[19] Yinfang C, Huaibing X, Minghua M, Yu K, Xin G, Liu S, Yunjie C, Xuedong G, Hao F, Ming W, Jun Z, Supriyo G, Xuchao Z, Chaoyun Z, Qingwei L, Saravan R, Dongmei Zhang, Tianyin X[C].Automatic Root Cause Analysis via Large Language Models for Cloud Incidents.arXiv:2305.15778v4</a:t>
            </a:r>
          </a:p>
          <a:p>
            <a:pPr marL="0" indent="0" algn="l"/>
            <a:r>
              <a:rPr lang="en-US" sz="1200">
                <a:latin typeface="Times New Roman Regular" panose="02020603050405020304" charset="0"/>
                <a:cs typeface="宋体" charset="0"/>
                <a:sym typeface="+mn-ea"/>
              </a:rPr>
              <a:t>[20] Ding H, Zhai J, Nan Y, et al. {AIRTAG}: Towards Automated Attack Investigation by Unsupervised Learning with Log Texts[C]//32nd USENIX Security Symposium (USENIX Security 23). 2023: 373-390.</a:t>
            </a:r>
          </a:p>
          <a:p>
            <a:pPr marL="0" indent="0" algn="l"/>
            <a:r>
              <a:rPr lang="en-US" sz="1200">
                <a:latin typeface="Times New Roman Regular" panose="02020603050405020304" charset="0"/>
                <a:cs typeface="宋体" charset="0"/>
                <a:sym typeface="+mn-ea"/>
              </a:rPr>
              <a:t>[21] Alsaheel A, Nan Y, Ma S, et al. {ATLAS}: A sequence-based learning approach for attack investigation[C]//30th USENIX security symposium (USENIX security 21). 2021: 3005-3022.</a:t>
            </a:r>
          </a:p>
          <a:p>
            <a:pPr marL="0" indent="0" algn="l"/>
            <a:r>
              <a:rPr lang="en-US" sz="1200">
                <a:latin typeface="Times New Roman Regular" panose="02020603050405020304" charset="0"/>
                <a:cs typeface="宋体" charset="0"/>
                <a:sym typeface="+mn-ea"/>
              </a:rPr>
              <a:t>[22] Le V H, Zhang H. Log-based anomaly detection with deep learning: How far are we?[C]//Proceedings of the 44th international conference on software engineering. 2022: 1356-1367.</a:t>
            </a:r>
          </a:p>
          <a:p>
            <a:pPr marL="0" indent="0" algn="l"/>
            <a:r>
              <a:rPr lang="en-US" sz="1200">
                <a:latin typeface="Times New Roman Regular" panose="02020603050405020304" charset="0"/>
                <a:cs typeface="宋体" charset="0"/>
                <a:sym typeface="+mn-ea"/>
              </a:rPr>
              <a:t>[23] Shima K. Length matters: Clustering system log messages using length of words[J]. arXiv preprint arXiv:1611.03213, 2016.</a:t>
            </a:r>
          </a:p>
          <a:p>
            <a:pPr marL="0" indent="0" algn="l"/>
            <a:r>
              <a:rPr lang="en-US" sz="1200">
                <a:latin typeface="Times New Roman Regular" panose="02020603050405020304" charset="0"/>
                <a:cs typeface="宋体" charset="0"/>
                <a:sym typeface="+mn-ea"/>
              </a:rPr>
              <a:t>[24] Le V H, Zhang H. Log Parsing with Prompt-based Few-shot Learning[J]. arXiv preprint arXiv:2302.07435, 2023.</a:t>
            </a:r>
          </a:p>
          <a:p>
            <a:pPr marL="0" indent="0" algn="l"/>
            <a:r>
              <a:rPr lang="en-US" sz="1200">
                <a:latin typeface="Times New Roman Regular" panose="02020603050405020304" charset="0"/>
                <a:cs typeface="宋体" charset="0"/>
                <a:sym typeface="+mn-ea"/>
              </a:rPr>
              <a:t>[25] Huo Y, Su Y, Lee C, et al. Semparser: A semantic parser for log analytics[C]//2023 IEEE/ACM 45th International Conference on Software Engineering (ICSE). IEEE, 2023: 881-893.</a:t>
            </a:r>
          </a:p>
          <a:p>
            <a:pPr marL="0" indent="0" algn="l"/>
            <a:r>
              <a:rPr lang="en-US" sz="1200">
                <a:latin typeface="Times New Roman Regular" panose="02020603050405020304" charset="0"/>
                <a:cs typeface="宋体" charset="0"/>
                <a:sym typeface="+mn-ea"/>
              </a:rPr>
              <a:t>[26] Liu J, Huang J, Huo Y, et al. Scalable and Adaptive Log-based Anomaly Detection with Expert in the Loop[J]. arXiv preprint arXiv:2306.05032, 2023.</a:t>
            </a:r>
          </a:p>
          <a:p>
            <a:pPr marL="0" indent="0" algn="l"/>
            <a:r>
              <a:rPr lang="en-US" sz="1200">
                <a:latin typeface="Times New Roman Regular" panose="02020603050405020304" charset="0"/>
                <a:cs typeface="宋体" charset="0"/>
                <a:sym typeface="+mn-ea"/>
              </a:rPr>
              <a:t>[27] Zhang X, Xu Y, Lin Q, et al. Robust log-based anomaly detection on unstable log data[C]//Proceedings of the 2019 27th ACM Joint Meeting on European Software Engineering Conference and Symposium on the Foundations of Software Engineering. 2019: 807-817.</a:t>
            </a:r>
          </a:p>
          <a:p>
            <a:pPr marL="0" indent="0" algn="l"/>
            <a:r>
              <a:rPr lang="en-US" sz="1200">
                <a:latin typeface="Times New Roman Regular" panose="02020603050405020304" charset="0"/>
                <a:cs typeface="宋体" charset="0"/>
                <a:sym typeface="+mn-ea"/>
              </a:rPr>
              <a:t>[28] Du M, Li F, Zheng G, et al. Deeplog: Anomaly detection and diagnosis from system logs through deep learning[C]//Proceedings of the 2017 ACM SIGSAC conference on computer and communications security. 2017: 1285-1298.</a:t>
            </a:r>
          </a:p>
          <a:p>
            <a:pPr marL="0" indent="0" algn="l"/>
            <a:r>
              <a:rPr lang="en-US" sz="1200">
                <a:latin typeface="Times New Roman Regular" panose="02020603050405020304" charset="0"/>
                <a:cs typeface="宋体" charset="0"/>
                <a:sym typeface="+mn-ea"/>
              </a:rPr>
              <a:t>[29] Wang X, Song J, Zhang X, et al. LogOnline: A Semi-Supervised Log-Based Anomaly Detector Aided with Online Learning Mechanism[C]//2023 38th IEEE/ACM International Conference on Automated Software Engineering (ASE). IEEE, 2023: 141-152.</a:t>
            </a:r>
          </a:p>
          <a:p>
            <a:pPr marL="0" indent="0" algn="l"/>
            <a:r>
              <a:rPr lang="en-US" sz="1200">
                <a:latin typeface="Times New Roman Regular" panose="02020603050405020304" charset="0"/>
                <a:cs typeface="宋体" charset="0"/>
                <a:sym typeface="+mn-ea"/>
              </a:rPr>
              <a:t>[30] Siyang Lu, Xiang Wei, Yandong Li, and Liqiang Wang. 2018. Detecting anomaly in big data system logs using convolutional neural network. In 2018 IEEE 16th Intl Conf on Dependable, Autonomic and Secure Computing, 16th Intl Conf on Pervasive Intelligence and Computing, 4th Intl Conf on Big Data Intelligence and Computing and Cyber Science and Technology Congress (DASC/PiCom/DataCom/CyberSciTech). IEEE, 151–158.</a:t>
            </a:r>
          </a:p>
          <a:p>
            <a:pPr marL="0" indent="0" algn="l"/>
            <a:r>
              <a:rPr lang="en-US" sz="1200">
                <a:latin typeface="Times New Roman Regular" panose="02020603050405020304" charset="0"/>
                <a:cs typeface="宋体" charset="0"/>
                <a:sym typeface="+mn-ea"/>
              </a:rPr>
              <a:t>[37]Duan C, Jia T, Li Y, et al. AcLog: An Approach to Detecting Anomalies from System Logs with Active Learning[C]//2023 IEEE International Conference on Web Services (ICWS). IEEE, 2023: 436-443.</a:t>
            </a:r>
          </a:p>
          <a:p>
            <a:endParaRPr lang="en-US" altLang="en-US" sz="1200">
              <a:latin typeface="Times New Roman Regular" panose="02020603050405020304" charset="0"/>
              <a:cs typeface="宋体"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descr="图片包含 户外, 建筑, 路, 钟表&#10;&#10;描述已自动生成"/>
          <p:cNvPicPr>
            <a:picLocks noChangeAspect="1"/>
          </p:cNvPicPr>
          <p:nvPr/>
        </p:nvPicPr>
        <p:blipFill rotWithShape="1">
          <a:blip r:embed="rId3">
            <a:extLst>
              <a:ext uri="{28A0092B-C50C-407E-A947-70E740481C1C}">
                <a14:useLocalDpi xmlns:a14="http://schemas.microsoft.com/office/drawing/2010/main" val="0"/>
              </a:ext>
            </a:extLst>
          </a:blip>
          <a:srcRect t="26238" b="34183"/>
          <a:stretch>
            <a:fillRect/>
          </a:stretch>
        </p:blipFill>
        <p:spPr>
          <a:xfrm>
            <a:off x="0" y="1453109"/>
            <a:ext cx="12192000" cy="3218647"/>
          </a:xfrm>
          <a:prstGeom prst="rect">
            <a:avLst/>
          </a:prstGeom>
        </p:spPr>
      </p:pic>
      <p:sp>
        <p:nvSpPr>
          <p:cNvPr id="15" name="矩形 14"/>
          <p:cNvSpPr/>
          <p:nvPr/>
        </p:nvSpPr>
        <p:spPr>
          <a:xfrm>
            <a:off x="0" y="1453109"/>
            <a:ext cx="12192000" cy="3218647"/>
          </a:xfrm>
          <a:prstGeom prst="rect">
            <a:avLst/>
          </a:prstGeom>
          <a:solidFill>
            <a:srgbClr val="5E068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p:cNvSpPr txBox="1"/>
          <p:nvPr/>
        </p:nvSpPr>
        <p:spPr>
          <a:xfrm>
            <a:off x="943793" y="2496149"/>
            <a:ext cx="10304414" cy="988347"/>
          </a:xfrm>
          <a:prstGeom prst="rect">
            <a:avLst/>
          </a:prstGeom>
          <a:noFill/>
        </p:spPr>
        <p:txBody>
          <a:bodyPr wrap="square" rtlCol="0">
            <a:spAutoFit/>
          </a:bodyPr>
          <a:lstStyle/>
          <a:p>
            <a:pPr algn="ctr">
              <a:lnSpc>
                <a:spcPct val="150000"/>
              </a:lnSpc>
            </a:pPr>
            <a:r>
              <a:rPr lang="zh-CN" altLang="en-US" sz="4400" b="1" dirty="0">
                <a:solidFill>
                  <a:schemeClr val="bg1"/>
                </a:solidFill>
                <a:latin typeface="微软雅黑" panose="020B0503020204020204" pitchFamily="34" charset="-122"/>
                <a:ea typeface="微软雅黑" panose="020B0503020204020204" pitchFamily="34" charset="-122"/>
              </a:rPr>
              <a:t>感谢您的聆听！请各位老师批评指正！</a:t>
            </a:r>
          </a:p>
        </p:txBody>
      </p:sp>
      <p:sp>
        <p:nvSpPr>
          <p:cNvPr id="23" name="矩形 22"/>
          <p:cNvSpPr/>
          <p:nvPr/>
        </p:nvSpPr>
        <p:spPr>
          <a:xfrm>
            <a:off x="5788781" y="4031081"/>
            <a:ext cx="614438"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pic>
        <p:nvPicPr>
          <p:cNvPr id="26" name="图片 25" descr="图片包含 游戏机, 画, 房间&#10;&#10;描述已自动生成"/>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bright="91000"/>
                    </a14:imgEffect>
                  </a14:imgLayer>
                </a14:imgProps>
              </a:ext>
              <a:ext uri="{28A0092B-C50C-407E-A947-70E740481C1C}">
                <a14:useLocalDpi xmlns:a14="http://schemas.microsoft.com/office/drawing/2010/main" val="0"/>
              </a:ext>
            </a:extLst>
          </a:blip>
          <a:stretch>
            <a:fillRect/>
          </a:stretch>
        </p:blipFill>
        <p:spPr>
          <a:xfrm>
            <a:off x="14117764" y="1719113"/>
            <a:ext cx="908696" cy="903249"/>
          </a:xfrm>
          <a:prstGeom prst="rect">
            <a:avLst/>
          </a:prstGeom>
        </p:spPr>
      </p:pic>
      <p:sp>
        <p:nvSpPr>
          <p:cNvPr id="27" name="矩形 26"/>
          <p:cNvSpPr/>
          <p:nvPr/>
        </p:nvSpPr>
        <p:spPr>
          <a:xfrm>
            <a:off x="0" y="4671756"/>
            <a:ext cx="12192000" cy="88069"/>
          </a:xfrm>
          <a:prstGeom prst="rect">
            <a:avLst/>
          </a:prstGeom>
          <a:solidFill>
            <a:srgbClr val="FF96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9" name="文本框 28"/>
          <p:cNvSpPr txBox="1"/>
          <p:nvPr/>
        </p:nvSpPr>
        <p:spPr>
          <a:xfrm>
            <a:off x="2432050" y="5342255"/>
            <a:ext cx="7856855" cy="369332"/>
          </a:xfrm>
          <a:prstGeom prst="rect">
            <a:avLst/>
          </a:prstGeom>
          <a:noFill/>
        </p:spPr>
        <p:txBody>
          <a:bodyPr wrap="square" rtlCol="0">
            <a:spAutoFit/>
          </a:bodyPr>
          <a:lstStyle/>
          <a:p>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答辩人：郑盛东   </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指导老师：张千里    </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答辩日期：</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2025</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年</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12</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月</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23</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日</a:t>
            </a:r>
          </a:p>
        </p:txBody>
      </p:sp>
      <p:sp>
        <p:nvSpPr>
          <p:cNvPr id="2" name="椭圆 1"/>
          <p:cNvSpPr/>
          <p:nvPr/>
        </p:nvSpPr>
        <p:spPr>
          <a:xfrm>
            <a:off x="5196468" y="291235"/>
            <a:ext cx="1609958" cy="160995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pic>
        <p:nvPicPr>
          <p:cNvPr id="14" name="图片 13" descr="图片包含 游戏机, 画, 房间&#10;&#10;描述已自动生成"/>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21886" y="459274"/>
            <a:ext cx="1377135" cy="13688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3" name="图片 32" descr="图片包含 户外, 建筑, 钟表, 前&#10;&#10;描述已自动生成"/>
          <p:cNvPicPr>
            <a:picLocks noChangeAspect="1"/>
          </p:cNvPicPr>
          <p:nvPr/>
        </p:nvPicPr>
        <p:blipFill rotWithShape="1">
          <a:blip r:embed="rId3">
            <a:extLst>
              <a:ext uri="{28A0092B-C50C-407E-A947-70E740481C1C}">
                <a14:useLocalDpi xmlns:a14="http://schemas.microsoft.com/office/drawing/2010/main" val="0"/>
              </a:ext>
            </a:extLst>
          </a:blip>
          <a:srcRect t="13604" b="18576"/>
          <a:stretch>
            <a:fillRect/>
          </a:stretch>
        </p:blipFill>
        <p:spPr>
          <a:xfrm>
            <a:off x="-10376" y="0"/>
            <a:ext cx="12182104" cy="6858000"/>
          </a:xfrm>
          <a:prstGeom prst="rect">
            <a:avLst/>
          </a:prstGeom>
          <a:ln>
            <a:noFill/>
          </a:ln>
        </p:spPr>
      </p:pic>
      <p:sp>
        <p:nvSpPr>
          <p:cNvPr id="34" name="矩形 33"/>
          <p:cNvSpPr/>
          <p:nvPr/>
        </p:nvSpPr>
        <p:spPr>
          <a:xfrm>
            <a:off x="-10376" y="0"/>
            <a:ext cx="12202376" cy="6858000"/>
          </a:xfrm>
          <a:prstGeom prst="rect">
            <a:avLst/>
          </a:prstGeom>
          <a:gradFill flip="none" rotWithShape="1">
            <a:gsLst>
              <a:gs pos="52000">
                <a:srgbClr val="FFFFFF">
                  <a:alpha val="95000"/>
                </a:srgbClr>
              </a:gs>
              <a:gs pos="0">
                <a:schemeClr val="bg1">
                  <a:alpha val="70000"/>
                </a:schemeClr>
              </a:gs>
              <a:gs pos="100000">
                <a:schemeClr val="bg1">
                  <a:alpha val="95000"/>
                </a:schemeClr>
              </a:gs>
            </a:gsLst>
            <a:lin ang="10800000" scaled="1"/>
            <a:tileRect/>
          </a:gra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18" name="文本框 17"/>
          <p:cNvSpPr txBox="1"/>
          <p:nvPr/>
        </p:nvSpPr>
        <p:spPr>
          <a:xfrm>
            <a:off x="1301750" y="1952625"/>
            <a:ext cx="8611684" cy="2004010"/>
          </a:xfrm>
          <a:prstGeom prst="rect">
            <a:avLst/>
          </a:prstGeom>
          <a:noFill/>
        </p:spPr>
        <p:txBody>
          <a:bodyPr wrap="square" rtlCol="0">
            <a:spAutoFit/>
          </a:bodyPr>
          <a:lstStyle/>
          <a:p>
            <a:pPr>
              <a:lnSpc>
                <a:spcPct val="150000"/>
              </a:lnSpc>
            </a:pPr>
            <a:r>
              <a:rPr lang="zh-CN" altLang="en-US" sz="4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实时网络质量探测与异常检测研究</a:t>
            </a:r>
            <a:endParaRPr lang="zh-CN" altLang="en-US" sz="44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endParaRPr lang="zh-CN" altLang="en-US" sz="4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1313139" y="3008094"/>
            <a:ext cx="5499558" cy="737235"/>
          </a:xfrm>
          <a:prstGeom prst="rect">
            <a:avLst/>
          </a:prstGeom>
          <a:noFill/>
        </p:spPr>
        <p:txBody>
          <a:bodyPr wrap="square" rtlCol="0">
            <a:spAutoFit/>
          </a:bodyPr>
          <a:lstStyle/>
          <a:p>
            <a:pPr>
              <a:lnSpc>
                <a:spcPct val="150000"/>
              </a:lnSpc>
            </a:pPr>
            <a:r>
              <a:rPr lang="zh-CN" altLang="en-US" sz="2800" b="1" dirty="0">
                <a:solidFill>
                  <a:srgbClr val="5E068C"/>
                </a:solidFill>
                <a:latin typeface="微软雅黑" panose="020B0503020204020204" pitchFamily="34" charset="-122"/>
                <a:ea typeface="微软雅黑" panose="020B0503020204020204" pitchFamily="34" charset="-122"/>
                <a:sym typeface="+mn-ea"/>
              </a:rPr>
              <a:t>硕士论文开题报告</a:t>
            </a:r>
            <a:endParaRPr lang="zh-CN" altLang="en-US" sz="2800" b="1" dirty="0">
              <a:solidFill>
                <a:srgbClr val="5E068C"/>
              </a:solidFill>
              <a:latin typeface="微软雅黑" panose="020B0503020204020204" pitchFamily="34" charset="-122"/>
              <a:ea typeface="微软雅黑" panose="020B0503020204020204" pitchFamily="34" charset="-122"/>
            </a:endParaRPr>
          </a:p>
        </p:txBody>
      </p:sp>
      <p:sp>
        <p:nvSpPr>
          <p:cNvPr id="23" name="矩形 22"/>
          <p:cNvSpPr/>
          <p:nvPr/>
        </p:nvSpPr>
        <p:spPr>
          <a:xfrm>
            <a:off x="1429072" y="3898190"/>
            <a:ext cx="1112334" cy="880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pic>
        <p:nvPicPr>
          <p:cNvPr id="25" name="图片 24" descr="图片包含 游戏机, 画&#10;&#10;描述已自动生成"/>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6655" y="558275"/>
            <a:ext cx="5426935" cy="1226959"/>
          </a:xfrm>
          <a:prstGeom prst="rect">
            <a:avLst/>
          </a:prstGeom>
        </p:spPr>
      </p:pic>
      <p:sp>
        <p:nvSpPr>
          <p:cNvPr id="2" name="矩形 1"/>
          <p:cNvSpPr/>
          <p:nvPr/>
        </p:nvSpPr>
        <p:spPr>
          <a:xfrm>
            <a:off x="888833" y="2158192"/>
            <a:ext cx="169333" cy="1588463"/>
          </a:xfrm>
          <a:prstGeom prst="rect">
            <a:avLst/>
          </a:prstGeom>
          <a:solidFill>
            <a:srgbClr val="5E068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4" name="文本框 23"/>
          <p:cNvSpPr txBox="1"/>
          <p:nvPr/>
        </p:nvSpPr>
        <p:spPr>
          <a:xfrm>
            <a:off x="1301564" y="4345426"/>
            <a:ext cx="7443820" cy="1337945"/>
          </a:xfrm>
          <a:prstGeom prst="rect">
            <a:avLst/>
          </a:prstGeom>
          <a:noFill/>
        </p:spPr>
        <p:txBody>
          <a:bodyPr wrap="square" rtlCol="0">
            <a:spAutoFit/>
          </a:bodyPr>
          <a:lstStyle/>
          <a:p>
            <a:pPr>
              <a:lnSpc>
                <a:spcPct val="15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答辩人：郑盛东</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指导老师：张千里</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答辩日期：</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2025.12.23</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E068C"/>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E068C"/>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清华大学毕业答辩学术PPT模板</Template>
  <TotalTime>6669</TotalTime>
  <Words>5883</Words>
  <Application>Microsoft Macintosh PowerPoint</Application>
  <PresentationFormat>宽屏</PresentationFormat>
  <Paragraphs>464</Paragraphs>
  <Slides>20</Slides>
  <Notes>17</Notes>
  <HiddenSlides>1</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20</vt:i4>
      </vt:variant>
    </vt:vector>
  </HeadingPairs>
  <TitlesOfParts>
    <vt:vector size="35" baseType="lpstr">
      <vt:lpstr>等线</vt:lpstr>
      <vt:lpstr>等线 Light</vt:lpstr>
      <vt:lpstr>微软雅黑</vt:lpstr>
      <vt:lpstr>Alibaba PuHuiTi M</vt:lpstr>
      <vt:lpstr>Kaiti SC Regular</vt:lpstr>
      <vt:lpstr>Microsoft YaHei Light</vt:lpstr>
      <vt:lpstr>PingFang SC</vt:lpstr>
      <vt:lpstr>Times New Roman Bold</vt:lpstr>
      <vt:lpstr>Times New Roman Regular</vt:lpstr>
      <vt:lpstr>Arial</vt:lpstr>
      <vt:lpstr>Calibri</vt:lpstr>
      <vt:lpstr>Times New Roman</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duaiduai</dc:creator>
  <cp:lastModifiedBy>dongdong</cp:lastModifiedBy>
  <cp:revision>184</cp:revision>
  <dcterms:created xsi:type="dcterms:W3CDTF">2023-12-25T03:33:28Z</dcterms:created>
  <dcterms:modified xsi:type="dcterms:W3CDTF">2025-12-18T09:19:52Z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90610EE527238749E1B27A6527E0B04A_43</vt:lpwstr>
  </property>
  <property fmtid="{D5CDD505-2E9C-101B-9397-08002B2CF9AE}" pid="3" name="KSOProductBuildVer">
    <vt:lpwstr>2052-6.4.0.8550</vt:lpwstr>
  </property>
</Properties>
</file>