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4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5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6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7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8.xml" ContentType="application/vnd.openxmlformats-officedocument.presentationml.notesSlid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9.xml" ContentType="application/vnd.openxmlformats-officedocument.presentationml.notesSlide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notesSlides/notesSlide10.xml" ContentType="application/vnd.openxmlformats-officedocument.presentationml.notesSlide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notesSlides/notesSlide11.xml" ContentType="application/vnd.openxmlformats-officedocument.presentationml.notesSlide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notesSlides/notesSlide12.xml" ContentType="application/vnd.openxmlformats-officedocument.presentationml.notesSlide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notesSlides/notesSlide13.xml" ContentType="application/vnd.openxmlformats-officedocument.presentationml.notesSlide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notesSlides/notesSlide14.xml" ContentType="application/vnd.openxmlformats-officedocument.presentationml.notesSlide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notesSlides/notesSlide15.xml" ContentType="application/vnd.openxmlformats-officedocument.presentationml.notesSlide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notesSlides/notesSlide16.xml" ContentType="application/vnd.openxmlformats-officedocument.presentationml.notesSlide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notesSlides/notesSlide17.xml" ContentType="application/vnd.openxmlformats-officedocument.presentationml.notesSlide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6"/>
  </p:notesMasterIdLst>
  <p:handoutMasterIdLst>
    <p:handoutMasterId r:id="rId27"/>
  </p:handoutMasterIdLst>
  <p:sldIdLst>
    <p:sldId id="274" r:id="rId3"/>
    <p:sldId id="257" r:id="rId4"/>
    <p:sldId id="260" r:id="rId5"/>
    <p:sldId id="327" r:id="rId6"/>
    <p:sldId id="321" r:id="rId7"/>
    <p:sldId id="261" r:id="rId8"/>
    <p:sldId id="259" r:id="rId9"/>
    <p:sldId id="306" r:id="rId10"/>
    <p:sldId id="328" r:id="rId11"/>
    <p:sldId id="296" r:id="rId12"/>
    <p:sldId id="295" r:id="rId13"/>
    <p:sldId id="294" r:id="rId14"/>
    <p:sldId id="299" r:id="rId15"/>
    <p:sldId id="329" r:id="rId16"/>
    <p:sldId id="300" r:id="rId17"/>
    <p:sldId id="325" r:id="rId18"/>
    <p:sldId id="326" r:id="rId19"/>
    <p:sldId id="263" r:id="rId20"/>
    <p:sldId id="298" r:id="rId21"/>
    <p:sldId id="305" r:id="rId22"/>
    <p:sldId id="270" r:id="rId23"/>
    <p:sldId id="276" r:id="rId24"/>
    <p:sldId id="273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63" userDrawn="1">
          <p15:clr>
            <a:srgbClr val="A4A3A4"/>
          </p15:clr>
        </p15:guide>
        <p15:guide id="3" orient="horz" pos="669" userDrawn="1">
          <p15:clr>
            <a:srgbClr val="A4A3A4"/>
          </p15:clr>
        </p15:guide>
        <p15:guide id="4" pos="932" userDrawn="1">
          <p15:clr>
            <a:srgbClr val="A4A3A4"/>
          </p15:clr>
        </p15:guide>
        <p15:guide id="5" pos="7596" userDrawn="1">
          <p15:clr>
            <a:srgbClr val="A4A3A4"/>
          </p15:clr>
        </p15:guide>
        <p15:guide id="6" pos="4067" userDrawn="1">
          <p15:clr>
            <a:srgbClr val="A4A3A4"/>
          </p15:clr>
        </p15:guide>
        <p15:guide id="7" orient="horz" pos="1089" userDrawn="1">
          <p15:clr>
            <a:srgbClr val="A4A3A4"/>
          </p15:clr>
        </p15:guide>
        <p15:guide id="8" pos="5496" userDrawn="1">
          <p15:clr>
            <a:srgbClr val="A4A3A4"/>
          </p15:clr>
        </p15:guide>
        <p15:guide id="9" pos="1958" userDrawn="1">
          <p15:clr>
            <a:srgbClr val="A4A3A4"/>
          </p15:clr>
        </p15:guide>
        <p15:guide id="10" orient="horz" pos="2194" userDrawn="1">
          <p15:clr>
            <a:srgbClr val="A4A3A4"/>
          </p15:clr>
        </p15:guide>
        <p15:guide id="12" orient="horz" pos="3329" userDrawn="1">
          <p15:clr>
            <a:srgbClr val="A4A3A4"/>
          </p15:clr>
        </p15:guide>
        <p15:guide id="13" pos="3617" userDrawn="1">
          <p15:clr>
            <a:srgbClr val="A4A3A4"/>
          </p15:clr>
        </p15:guide>
        <p15:guide id="14" orient="horz" pos="37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DEDE"/>
    <a:srgbClr val="00C0C4"/>
    <a:srgbClr val="6C25A9"/>
    <a:srgbClr val="7A3285"/>
    <a:srgbClr val="BC107E"/>
    <a:srgbClr val="5E068C"/>
    <a:srgbClr val="FF9600"/>
    <a:srgbClr val="7B2B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915" autoAdjust="0"/>
    <p:restoredTop sz="81769"/>
  </p:normalViewPr>
  <p:slideViewPr>
    <p:cSldViewPr snapToGrid="0" showGuides="1">
      <p:cViewPr>
        <p:scale>
          <a:sx n="96" d="100"/>
          <a:sy n="96" d="100"/>
        </p:scale>
        <p:origin x="-1752" y="328"/>
      </p:cViewPr>
      <p:guideLst>
        <p:guide pos="3863"/>
        <p:guide orient="horz" pos="669"/>
        <p:guide pos="932"/>
        <p:guide pos="7596"/>
        <p:guide pos="4067"/>
        <p:guide orient="horz" pos="1089"/>
        <p:guide pos="5496"/>
        <p:guide pos="1958"/>
        <p:guide orient="horz" pos="2194"/>
        <p:guide orient="horz" pos="3329"/>
        <p:guide pos="3617"/>
        <p:guide orient="horz" pos="37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599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 latinLnBrk="1"/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定义质量评估，代表性地址探测是否代表网络质量。</a:t>
            </a:r>
            <a:r>
              <a:rPr lang="zh-CN" altLang="en-US" b="1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网络性能监控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，重点看故障、目标生成，探测地址集合。</a:t>
            </a:r>
            <a:endParaRPr lang="en-US" altLang="zh-CN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r>
              <a:rPr lang="en-US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App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没有做快速的协议切换。</a:t>
            </a:r>
            <a:endParaRPr lang="en-US" altLang="zh-CN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endParaRPr lang="en-US" altLang="zh-CN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考虑用户来自什么地方，什么比例，选择目标进行探测。（某些目标和全集）</a:t>
            </a:r>
            <a:endParaRPr lang="en-US" altLang="zh-CN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endParaRPr lang="en-US" altLang="zh-CN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探测用户</a:t>
            </a:r>
            <a:endParaRPr lang="en-US" altLang="zh-CN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endParaRPr lang="en-US" altLang="zh-CN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图放合适的位置</a:t>
            </a:r>
            <a:endParaRPr lang="en-US" altLang="zh-CN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endParaRPr lang="en-US" altLang="zh-CN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互联网已成为当今世界最重要的基础设施，深刻影响着生产生活的各个方面。通过主动或被动测量，能够感知网络中的设备与服务状态，进而绘制网络资产分布和掌握网络安全态势，为运维保障与业务决策提供数据支撑。</a:t>
            </a:r>
            <a:endParaRPr lang="en-US" altLang="zh-CN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endParaRPr lang="zh-CN" altLang="en-US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对云厂商而言，实时的全球测量更是一项关键基础能力：一方面，用户与业务分布在不同国家、运营商与 </a:t>
            </a: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ASN</a:t>
            </a:r>
            <a:r>
              <a:rPr lang="zh-CN" altLang="e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，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需要持续、客观地跟踪公有云服务的 </a:t>
            </a: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SLA 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与兑现情况；另一方面，</a:t>
            </a: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BGP 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路由变化、跨域链路拥塞或局部故障可能在分钟级影响大规模用户体验。借助主动探测，能够及时发现网络性能劣化与异常，快速定位，并为流量调度、路径选择与容灾切换提供实时依据。</a:t>
            </a:r>
            <a:endParaRPr lang="en-US" altLang="zh-CN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endParaRPr lang="zh-CN" altLang="en-US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在 </a:t>
            </a: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IPv4 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场景下，互联网探测可以通过遍历地址空间获取活跃地址集合，对这些地址进行实时探测即可实现对网络质量的持续感知与分析。随着移动互联网与物联网的发展推动 </a:t>
            </a: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IPv6 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加速部署，巨大的地址空间是的探测方法需要进一步考虑长期持续性、地址代表性与结果可运维</a:t>
            </a:r>
            <a:endParaRPr lang="en-US" altLang="zh-CN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endParaRPr lang="en-US" altLang="zh-CN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endParaRPr lang="en-US" altLang="zh-CN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互联网探测的价值与作用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云厂商的全球实时测量需求</a:t>
            </a:r>
          </a:p>
          <a:p>
            <a:pPr algn="l" latinLnBrk="1"/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IPv6 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时代的可持续探测挑战</a:t>
            </a:r>
            <a:br>
              <a:rPr lang="en-US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</a:br>
            <a:br>
              <a:rPr lang="en-US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</a:b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第一段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主动或被动测量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设备与服务状态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网络资产分布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网络安全态势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运维保障与业务决策</a:t>
            </a:r>
          </a:p>
          <a:p>
            <a:pPr algn="l" latinLnBrk="1"/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第二段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实时的全球测量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SLA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BGP 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路由变化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跨域链路拥塞或局部故障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流量调度、路径选择与容灾切换（或加粗其中任意两个）</a:t>
            </a:r>
          </a:p>
          <a:p>
            <a:pPr algn="l" latinLnBrk="1"/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第三段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IPv4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遍历地址空间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活跃地址集合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IPv6 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加速部署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巨大的地址空间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长期持续性、地址代表性、结果可运维（可合并为一处加粗）</a:t>
            </a:r>
          </a:p>
          <a:p>
            <a:pPr algn="l">
              <a:buFont typeface="+mj-lt"/>
              <a:buAutoNum type="arabicPeriod"/>
            </a:pPr>
            <a:endParaRPr lang="zh-CN" altLang="en-US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endParaRPr lang="zh-CN" altLang="en-US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 latinLnBrk="1"/>
            <a:endParaRPr lang="zh-CN" altLang="en-US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29872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整体流程图：日志搜集、存储、日志解析、异常检测、报告【重点】</a:t>
            </a:r>
          </a:p>
          <a:p>
            <a:endParaRPr lang="zh-CN" altLang="en-US" dirty="0"/>
          </a:p>
          <a:p>
            <a:r>
              <a:rPr lang="zh-CN" altLang="en-US" dirty="0"/>
              <a:t>logstash最主要的功能是从input获取数据，通过filter处理，再输出到指定的地方。</a:t>
            </a:r>
          </a:p>
          <a:p>
            <a:r>
              <a:rPr lang="zh-CN" altLang="en-US" dirty="0"/>
              <a:t>一般我们收集日志都是在后台运行，建议使用nohup、screen或者supervisor这样的方式启动。</a:t>
            </a:r>
          </a:p>
          <a:p>
            <a:r>
              <a:rPr lang="zh-CN" altLang="en-US" dirty="0"/>
              <a:t>log-agent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整体流程图：日志搜集、存储、日志解析、异常检测、报告【重点】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IPv6</a:t>
            </a:r>
            <a:r>
              <a:rPr lang="zh-CN" altLang="en-US" dirty="0"/>
              <a:t>目标地址生成</a:t>
            </a:r>
            <a:endParaRPr lang="en-US" altLang="zh-CN" dirty="0"/>
          </a:p>
          <a:p>
            <a:r>
              <a:rPr lang="zh-CN" altLang="en-US" dirty="0"/>
              <a:t>实时网络质量探测</a:t>
            </a:r>
            <a:endParaRPr lang="en-US" altLang="zh-CN" dirty="0"/>
          </a:p>
          <a:p>
            <a:r>
              <a:rPr lang="zh-CN" altLang="en-US" dirty="0"/>
              <a:t>网络异常检测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IPv6</a:t>
            </a:r>
            <a:r>
              <a:rPr lang="zh-CN" altLang="en-US" dirty="0"/>
              <a:t>目标地址生成</a:t>
            </a:r>
            <a:endParaRPr kumimoji="0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目的：学习已有的</a:t>
            </a:r>
            <a:r>
              <a:rPr kumimoji="1" lang="en-US" altLang="zh-CN" dirty="0"/>
              <a:t>IPv6</a:t>
            </a:r>
            <a:r>
              <a:rPr kumimoji="1" lang="zh-CN" altLang="en-US" dirty="0"/>
              <a:t>地址特征，预测出可能活跃的目标地址进行可达性探测，提供上层服务</a:t>
            </a:r>
            <a:endParaRPr kumimoji="1" lang="en-US" altLang="zh-CN" dirty="0"/>
          </a:p>
          <a:p>
            <a:r>
              <a:rPr kumimoji="1" lang="zh-CN" altLang="en-US" dirty="0"/>
              <a:t>基于统计的方法</a:t>
            </a:r>
            <a:endParaRPr kumimoji="1" lang="en-US" altLang="zh-CN" dirty="0"/>
          </a:p>
          <a:p>
            <a:endParaRPr kumimoji="1" lang="en-US" altLang="zh-CN" dirty="0"/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1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算法类型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1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工作机制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1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代表工作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DNS </a:t>
            </a:r>
            <a:r>
              <a:rPr lang="zh-CN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解析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just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</a:t>
            </a: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DNS</a:t>
            </a:r>
            <a:r>
              <a:rPr lang="zh-CN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解析的</a:t>
            </a: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AAAA</a:t>
            </a:r>
            <a:r>
              <a:rPr lang="zh-CN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记录中获取活跃</a:t>
            </a: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IPv6</a:t>
            </a:r>
            <a:r>
              <a:rPr lang="zh-CN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地址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just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[Something from Nothing]-</a:t>
            </a:r>
            <a:r>
              <a:rPr lang="en-US" altLang="zh-CN" sz="1800" b="0" i="0" u="none" strike="noStrike" kern="1200" baseline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Fiebig</a:t>
            </a: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T. PAM 2017.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indent="0" algn="just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[In </a:t>
            </a:r>
            <a:r>
              <a:rPr lang="en-US" altLang="zh-CN" sz="1800" b="0" i="0" u="none" strike="noStrike" kern="1200" baseline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rdns</a:t>
            </a: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we trust]-</a:t>
            </a:r>
            <a:r>
              <a:rPr lang="en-US" altLang="zh-CN" sz="1800" b="0" i="0" u="none" strike="noStrike" kern="1200" baseline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Fiebig</a:t>
            </a: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T. PAM 2018.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indent="0" algn="just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[Enumerating IPv6 Address]-</a:t>
            </a:r>
            <a:r>
              <a:rPr lang="en-US" altLang="zh-CN" sz="1800" b="0" i="0" u="none" strike="noStrike" kern="1200" baseline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Borgolte</a:t>
            </a: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K. S&amp;P 2018.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众包平台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just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众包平台获取自愿者访问信息，并从流量中提取活跃</a:t>
            </a: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IPv6</a:t>
            </a:r>
            <a:r>
              <a:rPr lang="zh-CN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地址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just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[MTURK]-</a:t>
            </a:r>
            <a:r>
              <a:rPr lang="en-US" altLang="zh-CN" sz="1800" b="0" i="0" u="none" strike="noStrike" kern="1200" baseline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Foremski</a:t>
            </a: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P, </a:t>
            </a:r>
            <a:r>
              <a:rPr lang="en-US" altLang="zh-CN" sz="1800" b="0" i="0" u="none" strike="noStrike" kern="1200" baseline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Plonka</a:t>
            </a: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D. SIGCOMM 2015.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just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[IPv6 hitlist]-Gasser O, </a:t>
            </a:r>
            <a:r>
              <a:rPr lang="en-US" altLang="zh-CN" sz="1800" b="0" i="0" u="none" strike="noStrike" kern="1200" baseline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Scheitle</a:t>
            </a: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Q. IMC 2018.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公开数据下载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just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共公开的数据网站获取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just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[IPv6 hitlist]-Gasser O, </a:t>
            </a:r>
            <a:r>
              <a:rPr lang="en-US" altLang="zh-CN" sz="1800" b="0" i="0" u="none" strike="noStrike" kern="1200" baseline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Scheitle</a:t>
            </a: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Q. IMC 2018.</a:t>
            </a:r>
          </a:p>
          <a:p>
            <a:pPr marL="0" marR="0" indent="0" algn="just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endParaRPr lang="en-US" altLang="zh-CN" sz="1800" b="0" i="0" u="none" strike="noStrike" kern="1200" baseline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indent="0" algn="just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endParaRPr lang="en-US" altLang="zh-CN" sz="1800" b="0" i="0" u="none" strike="noStrike" kern="1200" baseline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1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算法类型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1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工作机制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1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代表工作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CDN</a:t>
            </a:r>
            <a:r>
              <a:rPr lang="zh-CN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日志获取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just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启用了</a:t>
            </a:r>
            <a:r>
              <a:rPr lang="en-GB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IPv6</a:t>
            </a:r>
            <a:r>
              <a:rPr lang="zh-CN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的内容分发网络服务器作为关键节点，并从这些服务器的请求日志中提取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just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en-US" altLang="zh-CN" sz="1800" b="0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PMingLiU" panose="02020500000000000000" pitchFamily="18" charset="-120"/>
              </a:rPr>
              <a:t>Temporal and Spatial Classification of Active IPv6 Addresses</a:t>
            </a: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</a:t>
            </a:r>
            <a:r>
              <a:rPr lang="en-GB" altLang="zh-CN" sz="1800" b="0" i="0" u="none" strike="noStrike" kern="1200" baseline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lonka</a:t>
            </a:r>
            <a:r>
              <a:rPr lang="en-GB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D, Berger A.IMC,2015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IXP</a:t>
            </a:r>
            <a:r>
              <a:rPr lang="zh-CN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提取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just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互联网交换节点</a:t>
            </a:r>
            <a:r>
              <a:rPr lang="en-US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IXP</a:t>
            </a:r>
            <a:r>
              <a:rPr lang="zh-CN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中提取网络流量。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just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[Scanning the IPv6 Internet:]-Gasser O. et al. TMA 2016.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NTP</a:t>
            </a:r>
            <a:r>
              <a:rPr lang="zh-CN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服务器获取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just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NTP</a:t>
            </a:r>
            <a:r>
              <a:rPr lang="zh-CN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服务器作为网络关键节点，从用户的请求记录日志中提取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just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[IPv6 Hitlists at Scale]-Erik Rye and Dave Levin. SIGCOMM ,2023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HTTP</a:t>
            </a:r>
            <a:r>
              <a:rPr lang="zh-CN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请求获取</a:t>
            </a:r>
            <a:r>
              <a:rPr lang="en-US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 		 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just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从</a:t>
            </a:r>
            <a:r>
              <a:rPr lang="en-US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HTTP</a:t>
            </a:r>
            <a:r>
              <a:rPr lang="zh-CN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请求获取客户端的</a:t>
            </a:r>
            <a:r>
              <a:rPr lang="en-US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IPv6</a:t>
            </a:r>
            <a:r>
              <a:rPr lang="zh-CN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地址 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just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[Towards a user-level]- Li F. et </a:t>
            </a:r>
            <a:r>
              <a:rPr lang="en-US" altLang="zh-CN" sz="1800" b="0" i="0" u="none" strike="noStrike" kern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al.s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just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4965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基于深度学习的方法</a:t>
            </a:r>
            <a:endParaRPr kumimoji="1" lang="en-US" altLang="zh-CN" dirty="0"/>
          </a:p>
          <a:p>
            <a:endParaRPr kumimoji="1" lang="en-US" altLang="zh-CN" dirty="0"/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effectLst/>
              </a:rPr>
              <a:t>基于密度的方法</a:t>
            </a:r>
            <a:r>
              <a:rPr lang="en-US" altLang="zh-CN" dirty="0">
                <a:effectLst/>
              </a:rPr>
              <a:t>[13]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[15]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[20]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[34]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[35]</a:t>
            </a:r>
            <a:r>
              <a:rPr lang="zh-CN" altLang="en-US" dirty="0">
                <a:effectLst/>
              </a:rPr>
              <a:t>通过分析种子地址的密度分布来创建目标地址。基于模式的</a:t>
            </a:r>
            <a:r>
              <a:rPr lang="en-US" altLang="zh-CN" dirty="0">
                <a:effectLst/>
              </a:rPr>
              <a:t>[13]</a:t>
            </a:r>
            <a:r>
              <a:rPr lang="zh-CN" altLang="en-US" dirty="0">
                <a:effectLst/>
              </a:rPr>
              <a:t>递归检测密集区域，而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Gen[15]</a:t>
            </a:r>
            <a:r>
              <a:rPr lang="zh-CN" altLang="en-US" dirty="0">
                <a:effectLst/>
              </a:rPr>
              <a:t>通过自下而上聚类提高命中率。最近的进展，如</a:t>
            </a:r>
            <a:r>
              <a:rPr lang="en" altLang="zh-CN" dirty="0">
                <a:effectLst/>
              </a:rPr>
              <a:t>DET[20]</a:t>
            </a:r>
            <a:r>
              <a:rPr lang="zh-CN" altLang="en" dirty="0">
                <a:effectLst/>
              </a:rPr>
              <a:t>，</a:t>
            </a:r>
            <a:r>
              <a:rPr lang="zh-CN" altLang="en-US" dirty="0">
                <a:effectLst/>
              </a:rPr>
              <a:t>通过引入最小熵分裂来优化搜索空间，实现了更高的命中率，而</a:t>
            </a:r>
            <a:r>
              <a:rPr lang="en" altLang="zh-CN" dirty="0" err="1">
                <a:effectLst/>
              </a:rPr>
              <a:t>AddrMiner</a:t>
            </a:r>
            <a:r>
              <a:rPr lang="en" altLang="zh-CN" dirty="0">
                <a:effectLst/>
              </a:rPr>
              <a:t>-S[23]</a:t>
            </a:r>
            <a:r>
              <a:rPr lang="zh-CN" altLang="en" dirty="0">
                <a:effectLst/>
              </a:rPr>
              <a:t>，</a:t>
            </a:r>
            <a:r>
              <a:rPr lang="en" altLang="zh-CN" dirty="0">
                <a:effectLst/>
              </a:rPr>
              <a:t>[24]</a:t>
            </a:r>
            <a:r>
              <a:rPr lang="zh-CN" altLang="en-US" dirty="0">
                <a:effectLst/>
              </a:rPr>
              <a:t>通过强化学习反馈进一步增强了这一过程。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effectLst/>
              </a:rPr>
              <a:t>基于结构的方法</a:t>
            </a:r>
            <a:r>
              <a:rPr lang="en-US" altLang="zh-CN" dirty="0">
                <a:effectLst/>
              </a:rPr>
              <a:t>[14]</a:t>
            </a:r>
            <a:r>
              <a:rPr lang="zh-CN" altLang="en-US" dirty="0">
                <a:effectLst/>
              </a:rPr>
              <a:t>关注种子地址的内部关系。熵</a:t>
            </a:r>
            <a:r>
              <a:rPr lang="en-US" altLang="zh-CN" dirty="0">
                <a:effectLst/>
              </a:rPr>
              <a:t>/</a:t>
            </a:r>
            <a:r>
              <a:rPr lang="en" altLang="zh-CN" dirty="0">
                <a:effectLst/>
              </a:rPr>
              <a:t>IP[14]</a:t>
            </a:r>
            <a:r>
              <a:rPr lang="zh-CN" altLang="en-US" dirty="0">
                <a:effectLst/>
              </a:rPr>
              <a:t>模型使用熵度量来处理变异性，以揭示网络中的潜在结构模式。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effectLst/>
              </a:rPr>
              <a:t>基于层次结构的方法</a:t>
            </a:r>
            <a:r>
              <a:rPr lang="en-US" altLang="zh-CN" dirty="0">
                <a:effectLst/>
              </a:rPr>
              <a:t>[16]-[18]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[21]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[22]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[33]</a:t>
            </a:r>
            <a:r>
              <a:rPr lang="zh-CN" altLang="en-US" dirty="0">
                <a:effectLst/>
              </a:rPr>
              <a:t>将种子地址划分为子网，并构造层次树来指导地址生成。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Tree[16]</a:t>
            </a:r>
            <a:r>
              <a:rPr lang="zh-CN" altLang="en-US" dirty="0">
                <a:effectLst/>
              </a:rPr>
              <a:t>采用自顶向下聚类构建树，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Hit[17]</a:t>
            </a:r>
            <a:r>
              <a:rPr lang="zh-CN" altLang="en-US" dirty="0">
                <a:effectLst/>
              </a:rPr>
              <a:t>采用强化学习优化生成策略。最近的工作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Scan[18]</a:t>
            </a:r>
            <a:r>
              <a:rPr lang="zh-CN" altLang="en-US" dirty="0">
                <a:effectLst/>
              </a:rPr>
              <a:t>通过在树节点中编码区域标识符来加快探测速度。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Graph[21]</a:t>
            </a:r>
            <a:r>
              <a:rPr lang="zh-CN" altLang="en-US" dirty="0">
                <a:effectLst/>
              </a:rPr>
              <a:t>和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Forest[22]</a:t>
            </a:r>
            <a:r>
              <a:rPr lang="zh-CN" altLang="en-US" dirty="0">
                <a:effectLst/>
              </a:rPr>
              <a:t>处理异常值以提高准确性和稳定性，而最近的工作</a:t>
            </a:r>
            <a:r>
              <a:rPr lang="en-US" altLang="zh-CN" dirty="0">
                <a:effectLst/>
              </a:rPr>
              <a:t>6</a:t>
            </a:r>
            <a:r>
              <a:rPr lang="en" altLang="zh-CN" dirty="0" err="1">
                <a:effectLst/>
              </a:rPr>
              <a:t>Loda</a:t>
            </a:r>
            <a:r>
              <a:rPr lang="en" altLang="zh-CN" dirty="0">
                <a:effectLst/>
              </a:rPr>
              <a:t>[33]</a:t>
            </a:r>
            <a:r>
              <a:rPr lang="zh-CN" altLang="en-US" dirty="0">
                <a:effectLst/>
              </a:rPr>
              <a:t>进一步优化了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Forest</a:t>
            </a:r>
            <a:r>
              <a:rPr lang="zh-CN" altLang="en" dirty="0">
                <a:effectLst/>
              </a:rPr>
              <a:t>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effectLst/>
              </a:rPr>
              <a:t>机器学习方法：这些方法旨在对种子地址的分布进行建模，并使用它来生成目标地址。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GAN[29]</a:t>
            </a:r>
            <a:r>
              <a:rPr lang="zh-CN" altLang="en-US" dirty="0">
                <a:effectLst/>
              </a:rPr>
              <a:t>利用熵聚类进行细粒度分类，将生成对抗网络（</a:t>
            </a:r>
            <a:r>
              <a:rPr lang="en" altLang="zh-CN" dirty="0">
                <a:effectLst/>
              </a:rPr>
              <a:t>GAN</a:t>
            </a:r>
            <a:r>
              <a:rPr lang="zh-CN" altLang="en" dirty="0">
                <a:effectLst/>
              </a:rPr>
              <a:t>）</a:t>
            </a:r>
            <a:r>
              <a:rPr lang="en" altLang="zh-CN" dirty="0">
                <a:effectLst/>
              </a:rPr>
              <a:t>[36]</a:t>
            </a:r>
            <a:r>
              <a:rPr lang="zh-CN" altLang="en-US" dirty="0">
                <a:effectLst/>
              </a:rPr>
              <a:t>与强化学习相结合进行训练。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Sense[9]</a:t>
            </a:r>
            <a:r>
              <a:rPr lang="zh-CN" altLang="en-US" dirty="0">
                <a:effectLst/>
              </a:rPr>
              <a:t>使用</a:t>
            </a:r>
            <a:r>
              <a:rPr lang="en" altLang="zh-CN" dirty="0">
                <a:effectLst/>
              </a:rPr>
              <a:t>LSTM[37]</a:t>
            </a:r>
            <a:r>
              <a:rPr lang="zh-CN" altLang="en-US" dirty="0">
                <a:effectLst/>
              </a:rPr>
              <a:t>学习地址的</a:t>
            </a:r>
            <a:r>
              <a:rPr lang="en-US" altLang="zh-CN" dirty="0">
                <a:effectLst/>
              </a:rPr>
              <a:t>/64</a:t>
            </a:r>
            <a:r>
              <a:rPr lang="zh-CN" altLang="en-US" dirty="0">
                <a:effectLst/>
              </a:rPr>
              <a:t>前缀。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Vision[26]</a:t>
            </a:r>
            <a:r>
              <a:rPr lang="zh-CN" altLang="en-US" dirty="0">
                <a:effectLst/>
              </a:rPr>
              <a:t>采用图像编码来学习地址之间的关联特征。</a:t>
            </a:r>
          </a:p>
          <a:p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统计方法支持大规模探测，而机器学习方法允许对地址配置模式进行细粒度探索。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dirty="0" err="1"/>
              <a:t>AddrMiner</a:t>
            </a:r>
            <a:r>
              <a:rPr lang="en" altLang="zh-CN" dirty="0"/>
              <a:t>-N</a:t>
            </a:r>
            <a:r>
              <a:rPr lang="zh-CN" altLang="en-US" dirty="0"/>
              <a:t>利用图形社区聚类算法提取模式，然后使用基于</a:t>
            </a:r>
            <a:r>
              <a:rPr lang="en" altLang="zh-CN" dirty="0"/>
              <a:t>WHOIS</a:t>
            </a:r>
            <a:r>
              <a:rPr lang="zh-CN" altLang="en-US" dirty="0"/>
              <a:t>信息（如组织和国家）的种子前缀匹配每个无种子前缀，以识别高度相关的迁移模式。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719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基于深度学习的方法</a:t>
            </a:r>
            <a:endParaRPr kumimoji="1" lang="en-US" altLang="zh-CN" dirty="0"/>
          </a:p>
          <a:p>
            <a:endParaRPr kumimoji="1" lang="en-US" altLang="zh-CN" dirty="0"/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effectLst/>
              </a:rPr>
              <a:t>基于密度的方法</a:t>
            </a:r>
            <a:r>
              <a:rPr lang="en-US" altLang="zh-CN" dirty="0">
                <a:effectLst/>
              </a:rPr>
              <a:t>[13]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[15]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[20]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[34]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[35]</a:t>
            </a:r>
            <a:r>
              <a:rPr lang="zh-CN" altLang="en-US" dirty="0">
                <a:effectLst/>
              </a:rPr>
              <a:t>通过分析种子地址的密度分布来创建目标地址。基于模式的</a:t>
            </a:r>
            <a:r>
              <a:rPr lang="en-US" altLang="zh-CN" dirty="0">
                <a:effectLst/>
              </a:rPr>
              <a:t>[13]</a:t>
            </a:r>
            <a:r>
              <a:rPr lang="zh-CN" altLang="en-US" dirty="0">
                <a:effectLst/>
              </a:rPr>
              <a:t>递归检测密集区域，而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Gen[15]</a:t>
            </a:r>
            <a:r>
              <a:rPr lang="zh-CN" altLang="en-US" dirty="0">
                <a:effectLst/>
              </a:rPr>
              <a:t>通过自下而上聚类提高命中率。最近的进展，如</a:t>
            </a:r>
            <a:r>
              <a:rPr lang="en" altLang="zh-CN" dirty="0">
                <a:effectLst/>
              </a:rPr>
              <a:t>DET[20]</a:t>
            </a:r>
            <a:r>
              <a:rPr lang="zh-CN" altLang="en" dirty="0">
                <a:effectLst/>
              </a:rPr>
              <a:t>，</a:t>
            </a:r>
            <a:r>
              <a:rPr lang="zh-CN" altLang="en-US" dirty="0">
                <a:effectLst/>
              </a:rPr>
              <a:t>通过引入最小熵分裂来优化搜索空间，实现了更高的命中率，而</a:t>
            </a:r>
            <a:r>
              <a:rPr lang="en" altLang="zh-CN" dirty="0" err="1">
                <a:effectLst/>
              </a:rPr>
              <a:t>AddrMiner</a:t>
            </a:r>
            <a:r>
              <a:rPr lang="en" altLang="zh-CN" dirty="0">
                <a:effectLst/>
              </a:rPr>
              <a:t>-S[23]</a:t>
            </a:r>
            <a:r>
              <a:rPr lang="zh-CN" altLang="en" dirty="0">
                <a:effectLst/>
              </a:rPr>
              <a:t>，</a:t>
            </a:r>
            <a:r>
              <a:rPr lang="en" altLang="zh-CN" dirty="0">
                <a:effectLst/>
              </a:rPr>
              <a:t>[24]</a:t>
            </a:r>
            <a:r>
              <a:rPr lang="zh-CN" altLang="en-US" dirty="0">
                <a:effectLst/>
              </a:rPr>
              <a:t>通过强化学习反馈进一步增强了这一过程。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effectLst/>
              </a:rPr>
              <a:t>基于结构的方法</a:t>
            </a:r>
            <a:r>
              <a:rPr lang="en-US" altLang="zh-CN" dirty="0">
                <a:effectLst/>
              </a:rPr>
              <a:t>[14]</a:t>
            </a:r>
            <a:r>
              <a:rPr lang="zh-CN" altLang="en-US" dirty="0">
                <a:effectLst/>
              </a:rPr>
              <a:t>关注种子地址的内部关系。熵</a:t>
            </a:r>
            <a:r>
              <a:rPr lang="en-US" altLang="zh-CN" dirty="0">
                <a:effectLst/>
              </a:rPr>
              <a:t>/</a:t>
            </a:r>
            <a:r>
              <a:rPr lang="en" altLang="zh-CN" dirty="0">
                <a:effectLst/>
              </a:rPr>
              <a:t>IP[14]</a:t>
            </a:r>
            <a:r>
              <a:rPr lang="zh-CN" altLang="en-US" dirty="0">
                <a:effectLst/>
              </a:rPr>
              <a:t>模型使用熵度量来处理变异性，以揭示网络中的潜在结构模式。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effectLst/>
              </a:rPr>
              <a:t>基于层次结构的方法</a:t>
            </a:r>
            <a:r>
              <a:rPr lang="en-US" altLang="zh-CN" dirty="0">
                <a:effectLst/>
              </a:rPr>
              <a:t>[16]-[18]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[21]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[22]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[33]</a:t>
            </a:r>
            <a:r>
              <a:rPr lang="zh-CN" altLang="en-US" dirty="0">
                <a:effectLst/>
              </a:rPr>
              <a:t>将种子地址划分为子网，并构造层次树来指导地址生成。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Tree[16]</a:t>
            </a:r>
            <a:r>
              <a:rPr lang="zh-CN" altLang="en-US" dirty="0">
                <a:effectLst/>
              </a:rPr>
              <a:t>采用自顶向下聚类构建树，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Hit[17]</a:t>
            </a:r>
            <a:r>
              <a:rPr lang="zh-CN" altLang="en-US" dirty="0">
                <a:effectLst/>
              </a:rPr>
              <a:t>采用强化学习优化生成策略。最近的工作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Scan[18]</a:t>
            </a:r>
            <a:r>
              <a:rPr lang="zh-CN" altLang="en-US" dirty="0">
                <a:effectLst/>
              </a:rPr>
              <a:t>通过在树节点中编码区域标识符来加快探测速度。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Graph[21]</a:t>
            </a:r>
            <a:r>
              <a:rPr lang="zh-CN" altLang="en-US" dirty="0">
                <a:effectLst/>
              </a:rPr>
              <a:t>和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Forest[22]</a:t>
            </a:r>
            <a:r>
              <a:rPr lang="zh-CN" altLang="en-US" dirty="0">
                <a:effectLst/>
              </a:rPr>
              <a:t>处理异常值以提高准确性和稳定性，而最近的工作</a:t>
            </a:r>
            <a:r>
              <a:rPr lang="en-US" altLang="zh-CN" dirty="0">
                <a:effectLst/>
              </a:rPr>
              <a:t>6</a:t>
            </a:r>
            <a:r>
              <a:rPr lang="en" altLang="zh-CN" dirty="0" err="1">
                <a:effectLst/>
              </a:rPr>
              <a:t>Loda</a:t>
            </a:r>
            <a:r>
              <a:rPr lang="en" altLang="zh-CN" dirty="0">
                <a:effectLst/>
              </a:rPr>
              <a:t>[33]</a:t>
            </a:r>
            <a:r>
              <a:rPr lang="zh-CN" altLang="en-US" dirty="0">
                <a:effectLst/>
              </a:rPr>
              <a:t>进一步优化了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Forest</a:t>
            </a:r>
            <a:r>
              <a:rPr lang="zh-CN" altLang="en" dirty="0">
                <a:effectLst/>
              </a:rPr>
              <a:t>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effectLst/>
              </a:rPr>
              <a:t>机器学习方法：这些方法旨在对种子地址的分布进行建模，并使用它来生成目标地址。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GAN[29]</a:t>
            </a:r>
            <a:r>
              <a:rPr lang="zh-CN" altLang="en-US" dirty="0">
                <a:effectLst/>
              </a:rPr>
              <a:t>利用熵聚类进行细粒度分类，将生成对抗网络（</a:t>
            </a:r>
            <a:r>
              <a:rPr lang="en" altLang="zh-CN" dirty="0">
                <a:effectLst/>
              </a:rPr>
              <a:t>GAN</a:t>
            </a:r>
            <a:r>
              <a:rPr lang="zh-CN" altLang="en" dirty="0">
                <a:effectLst/>
              </a:rPr>
              <a:t>）</a:t>
            </a:r>
            <a:r>
              <a:rPr lang="en" altLang="zh-CN" dirty="0">
                <a:effectLst/>
              </a:rPr>
              <a:t>[36]</a:t>
            </a:r>
            <a:r>
              <a:rPr lang="zh-CN" altLang="en-US" dirty="0">
                <a:effectLst/>
              </a:rPr>
              <a:t>与强化学习相结合进行训练。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Sense[9]</a:t>
            </a:r>
            <a:r>
              <a:rPr lang="zh-CN" altLang="en-US" dirty="0">
                <a:effectLst/>
              </a:rPr>
              <a:t>使用</a:t>
            </a:r>
            <a:r>
              <a:rPr lang="en" altLang="zh-CN" dirty="0">
                <a:effectLst/>
              </a:rPr>
              <a:t>LSTM[37]</a:t>
            </a:r>
            <a:r>
              <a:rPr lang="zh-CN" altLang="en-US" dirty="0">
                <a:effectLst/>
              </a:rPr>
              <a:t>学习地址的</a:t>
            </a:r>
            <a:r>
              <a:rPr lang="en-US" altLang="zh-CN" dirty="0">
                <a:effectLst/>
              </a:rPr>
              <a:t>/64</a:t>
            </a:r>
            <a:r>
              <a:rPr lang="zh-CN" altLang="en-US" dirty="0">
                <a:effectLst/>
              </a:rPr>
              <a:t>前缀。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Vision[26]</a:t>
            </a:r>
            <a:r>
              <a:rPr lang="zh-CN" altLang="en-US" dirty="0">
                <a:effectLst/>
              </a:rPr>
              <a:t>采用图像编码来学习地址之间的关联特征。</a:t>
            </a:r>
          </a:p>
          <a:p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统计方法支持大规模探测，而机器学习方法允许对地址配置模式进行细粒度探索。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dirty="0" err="1"/>
              <a:t>AddrMiner</a:t>
            </a:r>
            <a:r>
              <a:rPr lang="en" altLang="zh-CN" dirty="0"/>
              <a:t>-N</a:t>
            </a:r>
            <a:r>
              <a:rPr lang="zh-CN" altLang="en-US" dirty="0"/>
              <a:t>利用图形社区聚类算法提取模式，然后使用基于</a:t>
            </a:r>
            <a:r>
              <a:rPr lang="en" altLang="zh-CN" dirty="0"/>
              <a:t>WHOIS</a:t>
            </a:r>
            <a:r>
              <a:rPr lang="zh-CN" altLang="en-US" dirty="0"/>
              <a:t>信息（如组织和国家）的种子前缀匹配每个无种子前缀，以识别高度相关的迁移模式。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76047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实时网络质量探测，弄个表。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异常检测的检测方法写到研究内容三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RTT</a:t>
            </a:r>
            <a:r>
              <a:rPr lang="zh-CN" altLang="en-US" dirty="0"/>
              <a:t> </a:t>
            </a:r>
            <a:r>
              <a:rPr lang="en-US" altLang="zh-CN" dirty="0"/>
              <a:t>SLA</a:t>
            </a:r>
            <a:r>
              <a:rPr lang="zh-CN" altLang="en-US" dirty="0"/>
              <a:t>讲解；云厂商外；</a:t>
            </a:r>
            <a:r>
              <a:rPr lang="en-US" altLang="zh-CN" dirty="0"/>
              <a:t>v4</a:t>
            </a:r>
            <a:r>
              <a:rPr lang="zh-CN" altLang="en-US" dirty="0"/>
              <a:t> </a:t>
            </a:r>
            <a:r>
              <a:rPr lang="en-US" altLang="zh-CN" dirty="0"/>
              <a:t>vs</a:t>
            </a:r>
            <a:r>
              <a:rPr lang="zh-CN" altLang="en-US" dirty="0"/>
              <a:t> </a:t>
            </a:r>
            <a:r>
              <a:rPr lang="en-US" altLang="zh-CN" dirty="0"/>
              <a:t>v6</a:t>
            </a:r>
          </a:p>
          <a:p>
            <a:endParaRPr lang="en-US" altLang="zh-CN" dirty="0"/>
          </a:p>
          <a:p>
            <a:r>
              <a:rPr lang="zh-CN" altLang="en-US" dirty="0"/>
              <a:t>和</a:t>
            </a:r>
            <a:r>
              <a:rPr lang="en-US" altLang="zh-CN" dirty="0"/>
              <a:t>v6</a:t>
            </a:r>
            <a:r>
              <a:rPr lang="zh-CN" altLang="en-US" dirty="0"/>
              <a:t>没关系，研究工作的难点和</a:t>
            </a:r>
            <a:r>
              <a:rPr lang="zh-CN" altLang="en-US" b="1" dirty="0"/>
              <a:t>创新的地方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zh-CN" altLang="en-US" b="0" dirty="0"/>
              <a:t>分层采样，有代表性的采样，使它具有一定代表性；主要不是做地址空间发现，而是长期持续测量和异常检测。有什么问题，之前</a:t>
            </a:r>
            <a:r>
              <a:rPr lang="en-US" altLang="zh-CN" b="0" dirty="0"/>
              <a:t>v4</a:t>
            </a:r>
            <a:r>
              <a:rPr lang="zh-CN" altLang="en-US" b="0" dirty="0"/>
              <a:t>，现在</a:t>
            </a:r>
            <a:r>
              <a:rPr lang="en-US" altLang="zh-CN" b="0" dirty="0"/>
              <a:t>v6</a:t>
            </a:r>
            <a:r>
              <a:rPr lang="zh-CN" altLang="en-US" b="0" dirty="0"/>
              <a:t>没有故障也</a:t>
            </a:r>
            <a:r>
              <a:rPr lang="en-US" altLang="zh-CN" b="0" dirty="0"/>
              <a:t>ping</a:t>
            </a:r>
            <a:r>
              <a:rPr lang="zh-CN" altLang="en-US" b="0" dirty="0"/>
              <a:t>不通。重点普通做调研，指出缺点和办法。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en-US" altLang="zh-CN" dirty="0" err="1"/>
              <a:t>Blamelt</a:t>
            </a:r>
            <a:r>
              <a:rPr lang="en-US" altLang="zh-CN" dirty="0"/>
              <a:t> </a:t>
            </a:r>
            <a:r>
              <a:rPr lang="zh-CN" altLang="en-US" dirty="0"/>
              <a:t>［</a:t>
            </a:r>
            <a:r>
              <a:rPr lang="en-US" altLang="zh-CN" dirty="0"/>
              <a:t>26</a:t>
            </a:r>
            <a:r>
              <a:rPr lang="zh-CN" altLang="en-US" dirty="0"/>
              <a:t>］ 首先应用被动诊断来确定故障是否位</a:t>
            </a:r>
          </a:p>
          <a:p>
            <a:r>
              <a:rPr lang="zh-CN" altLang="en-US" dirty="0"/>
              <a:t>于</a:t>
            </a:r>
            <a:r>
              <a:rPr lang="en-US" altLang="zh-CN" dirty="0"/>
              <a:t>ISP </a:t>
            </a:r>
            <a:r>
              <a:rPr lang="zh-CN" altLang="en-US" dirty="0"/>
              <a:t>中间段，然后采用基于路由追踪的主动诊断来</a:t>
            </a:r>
          </a:p>
          <a:p>
            <a:r>
              <a:rPr lang="zh-CN" altLang="en-US" dirty="0"/>
              <a:t>精确定位具体的故障 </a:t>
            </a:r>
            <a:r>
              <a:rPr lang="en-US" altLang="zh-CN" dirty="0"/>
              <a:t>AS</a:t>
            </a:r>
            <a:r>
              <a:rPr lang="zh-CN" altLang="en-US" dirty="0"/>
              <a:t>。</a:t>
            </a:r>
            <a:r>
              <a:rPr lang="en-US" altLang="zh-CN" dirty="0" err="1"/>
              <a:t>AAsclepius</a:t>
            </a:r>
            <a:r>
              <a:rPr lang="en-US" altLang="zh-CN" dirty="0"/>
              <a:t> </a:t>
            </a:r>
            <a:r>
              <a:rPr lang="zh-CN" altLang="en-US" dirty="0"/>
              <a:t>［</a:t>
            </a:r>
            <a:r>
              <a:rPr lang="en-US" altLang="zh-CN" dirty="0"/>
              <a:t>49</a:t>
            </a:r>
            <a:r>
              <a:rPr lang="zh-CN" altLang="en-US" dirty="0"/>
              <a:t>］是一个</a:t>
            </a:r>
          </a:p>
          <a:p>
            <a:r>
              <a:rPr lang="zh-CN" altLang="en-US" dirty="0"/>
              <a:t>用于检测、诊断和绕过互联网边缘中间段故障的自动</a:t>
            </a:r>
          </a:p>
          <a:p>
            <a:r>
              <a:rPr lang="zh-CN" altLang="en-US" dirty="0"/>
              <a:t>化系统。</a:t>
            </a:r>
            <a:endParaRPr lang="en-US" altLang="zh-CN" dirty="0"/>
          </a:p>
          <a:p>
            <a:r>
              <a:rPr lang="zh-CN" altLang="en-US" dirty="0"/>
              <a:t>被动探测；</a:t>
            </a:r>
            <a:r>
              <a:rPr lang="en-US" altLang="zh-CN" dirty="0"/>
              <a:t>NTP</a:t>
            </a:r>
            <a:r>
              <a:rPr lang="zh-CN" altLang="en-US" dirty="0"/>
              <a:t>监听、</a:t>
            </a:r>
            <a:r>
              <a:rPr lang="en-US" altLang="zh-CN" dirty="0"/>
              <a:t>Traceroute</a:t>
            </a:r>
            <a:r>
              <a:rPr lang="zh-CN" altLang="en-US" dirty="0"/>
              <a:t>不对称路径分析、毫秒级监控、利用</a:t>
            </a:r>
            <a:r>
              <a:rPr lang="en-US" altLang="zh-CN" dirty="0" err="1"/>
              <a:t>PeeringDB</a:t>
            </a:r>
            <a:r>
              <a:rPr lang="zh-CN" altLang="en-US" dirty="0"/>
              <a:t>对地址类型进行划分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  <a:p>
            <a:r>
              <a:rPr kumimoji="1" lang="zh-CN" altLang="en-US" dirty="0"/>
              <a:t>现有</a:t>
            </a:r>
            <a:r>
              <a:rPr kumimoji="1" lang="en-US" altLang="zh-CN" dirty="0"/>
              <a:t>hitlist</a:t>
            </a:r>
            <a:r>
              <a:rPr kumimoji="1" lang="zh-CN" altLang="en-US" dirty="0"/>
              <a:t>集中在某些</a:t>
            </a:r>
            <a:r>
              <a:rPr kumimoji="1" lang="en-US" altLang="zh-CN" dirty="0"/>
              <a:t>AS</a:t>
            </a:r>
            <a:r>
              <a:rPr kumimoji="1" lang="zh-CN" altLang="en-US" dirty="0"/>
              <a:t>、</a:t>
            </a:r>
            <a:r>
              <a:rPr kumimoji="1" lang="en-US" altLang="zh-CN" dirty="0"/>
              <a:t>Prefix</a:t>
            </a:r>
          </a:p>
          <a:p>
            <a:r>
              <a:rPr kumimoji="1" lang="zh-CN" altLang="en-US" dirty="0"/>
              <a:t>无种子场景，覆盖率低（从</a:t>
            </a:r>
            <a:r>
              <a:rPr kumimoji="1" lang="en-US" altLang="zh-CN" dirty="0" err="1"/>
              <a:t>zhangwenjian</a:t>
            </a:r>
            <a:r>
              <a:rPr kumimoji="1" lang="zh-CN" altLang="en-US" dirty="0"/>
              <a:t>师兄论文拿图）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动态算法时间长（从</a:t>
            </a:r>
            <a:r>
              <a:rPr kumimoji="1" lang="en-US" altLang="zh-CN" dirty="0" err="1"/>
              <a:t>zhangwenjian</a:t>
            </a:r>
            <a:r>
              <a:rPr kumimoji="1" lang="zh-CN" altLang="en-US" dirty="0"/>
              <a:t>师兄论文拿图）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4047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kumimoji="1" lang="zh-CN" altLang="en-US" dirty="0"/>
              <a:t>太细节</a:t>
            </a:r>
            <a:endParaRPr kumimoji="1" lang="en-US" altLang="zh-CN" dirty="0"/>
          </a:p>
          <a:p>
            <a:pPr marL="228600" indent="-228600">
              <a:buAutoNum type="arabicPeriod"/>
            </a:pPr>
            <a:endParaRPr kumimoji="1" lang="en-US" altLang="zh-CN" dirty="0"/>
          </a:p>
          <a:p>
            <a:pPr marL="228600" indent="-228600">
              <a:buAutoNum type="arabicPeriod"/>
            </a:pPr>
            <a:r>
              <a:rPr kumimoji="1" lang="zh-CN" altLang="en-US" dirty="0"/>
              <a:t>动态模式迁移，从有种子模式迁移到无种子模式</a:t>
            </a:r>
            <a:endParaRPr kumimoji="1" lang="en-US" altLang="zh-CN" dirty="0"/>
          </a:p>
          <a:p>
            <a:pPr algn="l">
              <a:buFont typeface="+mj-lt"/>
              <a:buAutoNum type="arabicPeriod"/>
            </a:pPr>
            <a:r>
              <a:rPr kumimoji="1" lang="zh-CN" altLang="en-US" dirty="0"/>
              <a:t>将有状态长周期运行算法，修改为无状态多次运行算法。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地址探索（</a:t>
            </a: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exploration</a:t>
            </a:r>
            <a:r>
              <a:rPr lang="zh-CN" altLang="e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）：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低频运行，用于发现有效目标并收集命中统计；探索结果（前缀命中率、模式计数等）持久化到存储中。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高频探测（</a:t>
            </a: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high-rate probing</a:t>
            </a:r>
            <a:r>
              <a:rPr lang="zh-CN" altLang="e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）：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仅加载最新的轻量级权重快照，进行快速地址生成与发送探测，不在内存中维护完整学习状态。</a:t>
            </a:r>
          </a:p>
          <a:p>
            <a:pPr algn="l" latinLnBrk="1"/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在此基础上，我们在离线侧对持久化数据进行增量学习（</a:t>
            </a: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incremental learning</a:t>
            </a:r>
            <a:r>
              <a:rPr lang="zh-CN" altLang="e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），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周期性更新目标前缀集合及模式权重，并以“权重快照”的形式下发给在线探测阶段。该设计将“学习</a:t>
            </a:r>
            <a:r>
              <a:rPr lang="en-US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/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更新”从在线关键路径移除，把一次运行的生成成本降低为近似常数级的查表</a:t>
            </a:r>
            <a:r>
              <a:rPr lang="en-US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/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采样开销，同时通过持续的离线更新保持对地址空间变化的适应性。</a:t>
            </a:r>
          </a:p>
          <a:p>
            <a:pPr marL="228600" indent="-228600">
              <a:buAutoNum type="arabicPeriod"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051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kumimoji="1" lang="zh-CN" altLang="en-US" dirty="0"/>
              <a:t>字少一点</a:t>
            </a:r>
            <a:endParaRPr kumimoji="1" lang="en-US" altLang="zh-CN" dirty="0"/>
          </a:p>
          <a:p>
            <a:pPr marL="228600" indent="-228600">
              <a:buAutoNum type="arabicPeriod"/>
            </a:pPr>
            <a:endParaRPr kumimoji="1" lang="en-US" altLang="zh-CN" dirty="0"/>
          </a:p>
          <a:p>
            <a:pPr marL="228600" indent="-228600">
              <a:buAutoNum type="arabicPeriod"/>
            </a:pPr>
            <a:endParaRPr kumimoji="1" lang="en-US" altLang="zh-CN" dirty="0"/>
          </a:p>
          <a:p>
            <a:pPr marL="228600" indent="-228600">
              <a:buAutoNum type="arabicPeriod"/>
            </a:pPr>
            <a:r>
              <a:rPr kumimoji="1" lang="zh-CN" altLang="en-US" dirty="0"/>
              <a:t>地址存活时间短，不足以支持实时的持续的网络质量探测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每个实体保持一定量地址，并动态补充</a:t>
            </a:r>
            <a:endParaRPr kumimoji="1" lang="en-US" altLang="zh-CN" dirty="0"/>
          </a:p>
          <a:p>
            <a:pPr marL="685800" lvl="1" indent="-228600">
              <a:buAutoNum type="arabicPeriod"/>
            </a:pPr>
            <a:r>
              <a:rPr kumimoji="1" lang="zh-CN" altLang="en-US" dirty="0"/>
              <a:t>当前地址生成算法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2.</a:t>
            </a:r>
            <a:r>
              <a:rPr kumimoji="1" lang="zh-CN" altLang="en-US" dirty="0"/>
              <a:t> 缺乏可代表性考量，长周期生成的地址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对类型进行划分，如何使得地址的探测结果能够迁移到用户的探测结果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lang="zh-CN" altLang="en-US" dirty="0">
                <a:effectLst/>
              </a:rPr>
              <a:t>地址集通常被当作一次性样本使用，很少考虑目标的生命周期管理和长期可观测性。直接将这些地址用于持续探测，</a:t>
            </a:r>
            <a:r>
              <a:rPr lang="en" altLang="zh-CN" dirty="0">
                <a:effectLst/>
              </a:rPr>
              <a:t>IPv6 </a:t>
            </a:r>
            <a:r>
              <a:rPr lang="zh-CN" altLang="en-US" dirty="0">
                <a:effectLst/>
              </a:rPr>
              <a:t>地址的短寿命和 高变化率使得探测结果夹杂大量“地址失活”噪声</a:t>
            </a:r>
            <a:endParaRPr lang="zh-CN" altLang="en-US" dirty="0"/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199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kumimoji="1" lang="zh-CN" altLang="en-US" dirty="0"/>
              <a:t>字少一点</a:t>
            </a:r>
            <a:endParaRPr kumimoji="1" lang="en-US" altLang="zh-CN" dirty="0"/>
          </a:p>
          <a:p>
            <a:pPr marL="228600" indent="-228600">
              <a:buAutoNum type="arabicPeriod"/>
            </a:pPr>
            <a:endParaRPr kumimoji="1" lang="en-US" altLang="zh-CN" dirty="0"/>
          </a:p>
          <a:p>
            <a:pPr marL="228600" indent="-228600">
              <a:buAutoNum type="arabicPeriod"/>
            </a:pPr>
            <a:endParaRPr kumimoji="1" lang="en-US" altLang="zh-CN" dirty="0"/>
          </a:p>
          <a:p>
            <a:pPr marL="228600" indent="-228600">
              <a:buAutoNum type="arabicPeriod"/>
            </a:pPr>
            <a:r>
              <a:rPr kumimoji="1" lang="zh-CN" altLang="en-US" dirty="0"/>
              <a:t>地址存活时间短，不足以支持实时的持续的网络质量探测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每个实体保持一定量地址，并动态补充</a:t>
            </a:r>
            <a:endParaRPr kumimoji="1" lang="en-US" altLang="zh-CN" dirty="0"/>
          </a:p>
          <a:p>
            <a:pPr marL="685800" lvl="1" indent="-228600">
              <a:buAutoNum type="arabicPeriod"/>
            </a:pPr>
            <a:r>
              <a:rPr kumimoji="1" lang="zh-CN" altLang="en-US" dirty="0"/>
              <a:t>当前地址生成算法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2.</a:t>
            </a:r>
            <a:r>
              <a:rPr kumimoji="1" lang="zh-CN" altLang="en-US" dirty="0"/>
              <a:t> 缺乏可代表性考量，长周期生成的地址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对类型进行划分，如何使得地址的探测结果能够迁移到用户的探测结果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lang="zh-CN" altLang="en-US" dirty="0">
                <a:effectLst/>
              </a:rPr>
              <a:t>地址集通常被当作一次性样本使用，很少考虑目标的生命周期管理和长期可观测性。直接将这些地址用于持续探测，</a:t>
            </a:r>
            <a:r>
              <a:rPr lang="en" altLang="zh-CN" dirty="0">
                <a:effectLst/>
              </a:rPr>
              <a:t>IPv6 </a:t>
            </a:r>
            <a:r>
              <a:rPr lang="zh-CN" altLang="en-US" dirty="0">
                <a:effectLst/>
              </a:rPr>
              <a:t>地址的短寿命和 高变化率使得探测结果夹杂大量“地址失活”噪声</a:t>
            </a:r>
            <a:endParaRPr lang="zh-CN" altLang="en-US" dirty="0"/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384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明确一下现在的方法解决的问题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228600" indent="-228600">
              <a:buAutoNum type="arabicPeriod"/>
            </a:pPr>
            <a:r>
              <a:rPr kumimoji="1" lang="zh-CN" altLang="en-US" dirty="0"/>
              <a:t>地址存活时间短，不足以支持实时的持续的网络质量探测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每个实体保持一定量地址，并动态补充</a:t>
            </a:r>
            <a:endParaRPr kumimoji="1" lang="en-US" altLang="zh-CN" dirty="0"/>
          </a:p>
          <a:p>
            <a:pPr marL="685800" lvl="1" indent="-228600">
              <a:buAutoNum type="arabicPeriod"/>
            </a:pPr>
            <a:r>
              <a:rPr kumimoji="1" lang="zh-CN" altLang="en-US" dirty="0"/>
              <a:t>当前地址生成算法</a:t>
            </a:r>
            <a:endParaRPr kumimoji="1" lang="en-US" altLang="zh-CN" dirty="0"/>
          </a:p>
          <a:p>
            <a:pPr algn="l" latinLnBrk="1">
              <a:buFont typeface="+mj-lt"/>
              <a:buAutoNum type="arabicPeriod"/>
            </a:pPr>
            <a:r>
              <a:rPr kumimoji="1" lang="en-US" altLang="zh-CN" dirty="0"/>
              <a:t>2.</a:t>
            </a:r>
            <a:r>
              <a:rPr kumimoji="1" lang="zh-CN" altLang="en-US" dirty="0"/>
              <a:t> 缺乏可代表性考量，长周期生成的地址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对类型进行划分，如何使得地址的探测结果能够迁移到用户的探测结果</a:t>
            </a:r>
            <a:br>
              <a:rPr kumimoji="1" lang="en-US" altLang="zh-CN" dirty="0"/>
            </a:br>
            <a:br>
              <a:rPr kumimoji="1" lang="en-US" altLang="zh-CN" dirty="0"/>
            </a:br>
            <a:br>
              <a:rPr kumimoji="1" lang="en-US" altLang="zh-CN" dirty="0"/>
            </a:b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覆盖优先的样本生成策略</a:t>
            </a:r>
            <a:b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</a:b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我优先保证 </a:t>
            </a: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Top ASN 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覆盖与 </a:t>
            </a: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NetFlow 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重点网段覆盖：在地址生成阶段将探测预算向用户规模更大、业务流量更集中的网络倾斜，使探测集合更贴近真实用户与真实流量分布，从而让测量结果能够代表大多数用户的实际网络体验。</a:t>
            </a:r>
          </a:p>
          <a:p>
            <a:pPr algn="l" latinLnBrk="1">
              <a:buFont typeface="+mj-lt"/>
              <a:buAutoNum type="arabicPeriod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基于 </a:t>
            </a:r>
            <a:r>
              <a:rPr lang="en" altLang="zh-CN" b="0" i="0" dirty="0" err="1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PeerDB</a:t>
            </a: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的地址类型打标与加权指标计算</a:t>
            </a:r>
            <a:b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</a:b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我引入 </a:t>
            </a:r>
            <a:r>
              <a:rPr lang="en" altLang="zh-CN" b="0" i="0" dirty="0" err="1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PeerDB</a:t>
            </a: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 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对探测到的 </a:t>
            </a: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IPv6 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地址进行类别打标（例如不同网络</a:t>
            </a:r>
            <a:r>
              <a:rPr lang="en-US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/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接入类型或地址属性差异），并依据不同类别地址在可达性、稳定性、分配策略等方面的差异，动态调整指标计算权重，避免单一地址类型“主导”结果，得到更稳健、更合理的网络指标。</a:t>
            </a:r>
          </a:p>
          <a:p>
            <a:endParaRPr kumimoji="1"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画一个框架图：前两点研究</a:t>
            </a:r>
            <a:r>
              <a:rPr lang="en-US" altLang="zh-CN" dirty="0"/>
              <a:t>+</a:t>
            </a:r>
            <a:r>
              <a:rPr lang="zh-CN" altLang="en-US" dirty="0"/>
              <a:t>第三点做工程实现</a:t>
            </a:r>
            <a:endParaRPr lang="en-US" altLang="zh-CN" dirty="0"/>
          </a:p>
          <a:p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延迟基准问题</a:t>
            </a:r>
            <a:r>
              <a:rPr lang="en-US" altLang="zh-CN" dirty="0"/>
              <a:t>-&gt;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dirty="0"/>
              <a:t>生命周期对网络结果的影响</a:t>
            </a:r>
            <a:r>
              <a:rPr lang="en-US" altLang="zh-CN" dirty="0"/>
              <a:t>-&gt;</a:t>
            </a:r>
            <a:r>
              <a:rPr lang="zh-CN" altLang="en-US" dirty="0"/>
              <a:t>同</a:t>
            </a:r>
            <a:r>
              <a:rPr lang="en-US" altLang="zh-CN" dirty="0"/>
              <a:t>prefix</a:t>
            </a:r>
            <a:r>
              <a:rPr lang="zh-CN" altLang="en-US" dirty="0"/>
              <a:t>、同</a:t>
            </a:r>
            <a:r>
              <a:rPr lang="en-US" altLang="zh-CN" dirty="0"/>
              <a:t>prefix</a:t>
            </a:r>
            <a:r>
              <a:rPr lang="zh-CN" altLang="en-US" dirty="0"/>
              <a:t>不同</a:t>
            </a:r>
            <a:r>
              <a:rPr lang="en-US" altLang="zh-CN" dirty="0" err="1"/>
              <a:t>asn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>
                <a:effectLst/>
              </a:rPr>
              <a:t>能回答 这是哪一类实体在出问题？是网络还是主机？是本地还是远端？</a:t>
            </a:r>
            <a:endParaRPr lang="zh-CN" altLang="en-US" dirty="0"/>
          </a:p>
          <a:p>
            <a:pPr marL="228600" indent="-228600"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2494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画一个框架图：前两点研究</a:t>
            </a:r>
            <a:r>
              <a:rPr lang="en-US" altLang="zh-CN" dirty="0"/>
              <a:t>+</a:t>
            </a:r>
            <a:r>
              <a:rPr lang="zh-CN" altLang="en-US" dirty="0"/>
              <a:t>第三点做工程实现</a:t>
            </a:r>
            <a:endParaRPr lang="en-US" altLang="zh-CN" dirty="0"/>
          </a:p>
          <a:p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延迟基准问题</a:t>
            </a:r>
            <a:r>
              <a:rPr lang="en-US" altLang="zh-CN" dirty="0"/>
              <a:t>-&gt;</a:t>
            </a:r>
          </a:p>
          <a:p>
            <a:pPr marL="228600" indent="-228600">
              <a:buAutoNum type="arabicPeriod"/>
            </a:pPr>
            <a:r>
              <a:rPr lang="zh-CN" altLang="en-US" dirty="0"/>
              <a:t>生命周期对网络结果的影响</a:t>
            </a:r>
            <a:r>
              <a:rPr lang="en-US" altLang="zh-CN" dirty="0"/>
              <a:t>-&gt;</a:t>
            </a:r>
            <a:r>
              <a:rPr lang="zh-CN" altLang="en-US" dirty="0"/>
              <a:t>同</a:t>
            </a:r>
            <a:r>
              <a:rPr lang="en-US" altLang="zh-CN" dirty="0"/>
              <a:t>prefix</a:t>
            </a:r>
            <a:r>
              <a:rPr lang="zh-CN" altLang="en-US" dirty="0"/>
              <a:t>、同</a:t>
            </a:r>
            <a:r>
              <a:rPr lang="en-US" altLang="zh-CN" dirty="0"/>
              <a:t>prefix</a:t>
            </a:r>
            <a:r>
              <a:rPr lang="zh-CN" altLang="en-US" dirty="0"/>
              <a:t>不同</a:t>
            </a:r>
            <a:r>
              <a:rPr lang="en-US" altLang="zh-CN" dirty="0" err="1"/>
              <a:t>asn</a:t>
            </a:r>
            <a:endParaRPr lang="en-US" altLang="zh-CN" dirty="0"/>
          </a:p>
          <a:p>
            <a:pPr marL="228600" indent="-228600">
              <a:buAutoNum type="arabicPeriod"/>
            </a:pP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信息增量</a:t>
            </a:r>
            <a:endParaRPr lang="en-US" altLang="zh-CN" dirty="0"/>
          </a:p>
          <a:p>
            <a:pPr marL="228600" indent="-228600">
              <a:buAutoNum type="arabicPeriod"/>
            </a:pPr>
            <a:endParaRPr lang="en-US" altLang="zh-CN" dirty="0"/>
          </a:p>
          <a:p>
            <a:pPr marL="228600" indent="-228600"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93523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实时网络质量探测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9558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73458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4593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IPv6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互联网实时质量探测与异常检测研究</a:t>
            </a:r>
          </a:p>
          <a:p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IPv6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互联网性能测量与异常检测研究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341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87AB4-CBA9-43EC-81DA-4871B8953209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87AB4-CBA9-43EC-81DA-4871B8953209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9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8.png"/><Relationship Id="rId5" Type="http://schemas.openxmlformats.org/officeDocument/2006/relationships/image" Target="../media/image6.jpe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19.xml"/><Relationship Id="rId18" Type="http://schemas.openxmlformats.org/officeDocument/2006/relationships/tags" Target="../tags/tag24.xml"/><Relationship Id="rId26" Type="http://schemas.openxmlformats.org/officeDocument/2006/relationships/tags" Target="../tags/tag32.xml"/><Relationship Id="rId39" Type="http://schemas.openxmlformats.org/officeDocument/2006/relationships/tags" Target="../tags/tag45.xml"/><Relationship Id="rId21" Type="http://schemas.openxmlformats.org/officeDocument/2006/relationships/tags" Target="../tags/tag27.xml"/><Relationship Id="rId34" Type="http://schemas.openxmlformats.org/officeDocument/2006/relationships/tags" Target="../tags/tag40.xml"/><Relationship Id="rId42" Type="http://schemas.openxmlformats.org/officeDocument/2006/relationships/tags" Target="../tags/tag48.xml"/><Relationship Id="rId47" Type="http://schemas.openxmlformats.org/officeDocument/2006/relationships/image" Target="../media/image13.png"/><Relationship Id="rId50" Type="http://schemas.openxmlformats.org/officeDocument/2006/relationships/image" Target="../media/image16.svg"/><Relationship Id="rId55" Type="http://schemas.openxmlformats.org/officeDocument/2006/relationships/image" Target="../media/image21.png"/><Relationship Id="rId63" Type="http://schemas.openxmlformats.org/officeDocument/2006/relationships/image" Target="../media/image29.png"/><Relationship Id="rId7" Type="http://schemas.openxmlformats.org/officeDocument/2006/relationships/tags" Target="../tags/tag13.xml"/><Relationship Id="rId2" Type="http://schemas.openxmlformats.org/officeDocument/2006/relationships/tags" Target="../tags/tag8.xml"/><Relationship Id="rId16" Type="http://schemas.openxmlformats.org/officeDocument/2006/relationships/tags" Target="../tags/tag22.xml"/><Relationship Id="rId29" Type="http://schemas.openxmlformats.org/officeDocument/2006/relationships/tags" Target="../tags/tag35.xml"/><Relationship Id="rId11" Type="http://schemas.openxmlformats.org/officeDocument/2006/relationships/tags" Target="../tags/tag17.xml"/><Relationship Id="rId24" Type="http://schemas.openxmlformats.org/officeDocument/2006/relationships/tags" Target="../tags/tag30.xml"/><Relationship Id="rId32" Type="http://schemas.openxmlformats.org/officeDocument/2006/relationships/tags" Target="../tags/tag38.xml"/><Relationship Id="rId37" Type="http://schemas.openxmlformats.org/officeDocument/2006/relationships/tags" Target="../tags/tag43.xml"/><Relationship Id="rId40" Type="http://schemas.openxmlformats.org/officeDocument/2006/relationships/tags" Target="../tags/tag46.xml"/><Relationship Id="rId45" Type="http://schemas.openxmlformats.org/officeDocument/2006/relationships/image" Target="../media/image6.jpeg"/><Relationship Id="rId53" Type="http://schemas.openxmlformats.org/officeDocument/2006/relationships/image" Target="../media/image19.png"/><Relationship Id="rId58" Type="http://schemas.openxmlformats.org/officeDocument/2006/relationships/image" Target="../media/image24.png"/><Relationship Id="rId5" Type="http://schemas.openxmlformats.org/officeDocument/2006/relationships/tags" Target="../tags/tag11.xml"/><Relationship Id="rId61" Type="http://schemas.openxmlformats.org/officeDocument/2006/relationships/image" Target="../media/image27.png"/><Relationship Id="rId19" Type="http://schemas.openxmlformats.org/officeDocument/2006/relationships/tags" Target="../tags/tag25.xml"/><Relationship Id="rId14" Type="http://schemas.openxmlformats.org/officeDocument/2006/relationships/tags" Target="../tags/tag20.xml"/><Relationship Id="rId22" Type="http://schemas.openxmlformats.org/officeDocument/2006/relationships/tags" Target="../tags/tag28.xml"/><Relationship Id="rId27" Type="http://schemas.openxmlformats.org/officeDocument/2006/relationships/tags" Target="../tags/tag33.xml"/><Relationship Id="rId30" Type="http://schemas.openxmlformats.org/officeDocument/2006/relationships/tags" Target="../tags/tag36.xml"/><Relationship Id="rId35" Type="http://schemas.openxmlformats.org/officeDocument/2006/relationships/tags" Target="../tags/tag41.xml"/><Relationship Id="rId43" Type="http://schemas.openxmlformats.org/officeDocument/2006/relationships/slideLayout" Target="../slideLayouts/slideLayout1.xml"/><Relationship Id="rId48" Type="http://schemas.openxmlformats.org/officeDocument/2006/relationships/image" Target="../media/image14.svg"/><Relationship Id="rId56" Type="http://schemas.openxmlformats.org/officeDocument/2006/relationships/image" Target="../media/image22.png"/><Relationship Id="rId8" Type="http://schemas.openxmlformats.org/officeDocument/2006/relationships/tags" Target="../tags/tag14.xml"/><Relationship Id="rId51" Type="http://schemas.openxmlformats.org/officeDocument/2006/relationships/image" Target="../media/image17.png"/><Relationship Id="rId3" Type="http://schemas.openxmlformats.org/officeDocument/2006/relationships/tags" Target="../tags/tag9.xml"/><Relationship Id="rId12" Type="http://schemas.openxmlformats.org/officeDocument/2006/relationships/tags" Target="../tags/tag18.xml"/><Relationship Id="rId17" Type="http://schemas.openxmlformats.org/officeDocument/2006/relationships/tags" Target="../tags/tag23.xml"/><Relationship Id="rId25" Type="http://schemas.openxmlformats.org/officeDocument/2006/relationships/tags" Target="../tags/tag31.xml"/><Relationship Id="rId33" Type="http://schemas.openxmlformats.org/officeDocument/2006/relationships/tags" Target="../tags/tag39.xml"/><Relationship Id="rId38" Type="http://schemas.openxmlformats.org/officeDocument/2006/relationships/tags" Target="../tags/tag44.xml"/><Relationship Id="rId46" Type="http://schemas.openxmlformats.org/officeDocument/2006/relationships/image" Target="../media/image12.png"/><Relationship Id="rId59" Type="http://schemas.openxmlformats.org/officeDocument/2006/relationships/image" Target="../media/image25.png"/><Relationship Id="rId20" Type="http://schemas.openxmlformats.org/officeDocument/2006/relationships/tags" Target="../tags/tag26.xml"/><Relationship Id="rId41" Type="http://schemas.openxmlformats.org/officeDocument/2006/relationships/tags" Target="../tags/tag47.xml"/><Relationship Id="rId54" Type="http://schemas.openxmlformats.org/officeDocument/2006/relationships/image" Target="../media/image20.svg"/><Relationship Id="rId62" Type="http://schemas.openxmlformats.org/officeDocument/2006/relationships/image" Target="../media/image28.png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5" Type="http://schemas.openxmlformats.org/officeDocument/2006/relationships/tags" Target="../tags/tag21.xml"/><Relationship Id="rId23" Type="http://schemas.openxmlformats.org/officeDocument/2006/relationships/tags" Target="../tags/tag29.xml"/><Relationship Id="rId28" Type="http://schemas.openxmlformats.org/officeDocument/2006/relationships/tags" Target="../tags/tag34.xml"/><Relationship Id="rId36" Type="http://schemas.openxmlformats.org/officeDocument/2006/relationships/tags" Target="../tags/tag42.xml"/><Relationship Id="rId49" Type="http://schemas.openxmlformats.org/officeDocument/2006/relationships/image" Target="../media/image15.png"/><Relationship Id="rId57" Type="http://schemas.openxmlformats.org/officeDocument/2006/relationships/image" Target="../media/image23.png"/><Relationship Id="rId10" Type="http://schemas.openxmlformats.org/officeDocument/2006/relationships/tags" Target="../tags/tag16.xml"/><Relationship Id="rId31" Type="http://schemas.openxmlformats.org/officeDocument/2006/relationships/tags" Target="../tags/tag37.xml"/><Relationship Id="rId44" Type="http://schemas.openxmlformats.org/officeDocument/2006/relationships/notesSlide" Target="../notesSlides/notesSlide4.xml"/><Relationship Id="rId52" Type="http://schemas.openxmlformats.org/officeDocument/2006/relationships/image" Target="../media/image18.svg"/><Relationship Id="rId60" Type="http://schemas.openxmlformats.org/officeDocument/2006/relationships/image" Target="../media/image26.png"/><Relationship Id="rId4" Type="http://schemas.openxmlformats.org/officeDocument/2006/relationships/tags" Target="../tags/tag10.xml"/><Relationship Id="rId9" Type="http://schemas.openxmlformats.org/officeDocument/2006/relationships/tags" Target="../tags/tag1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12" Type="http://schemas.openxmlformats.org/officeDocument/2006/relationships/image" Target="../media/image31.png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image" Target="../media/image30.png"/><Relationship Id="rId5" Type="http://schemas.openxmlformats.org/officeDocument/2006/relationships/tags" Target="../tags/tag53.xml"/><Relationship Id="rId10" Type="http://schemas.openxmlformats.org/officeDocument/2006/relationships/image" Target="../media/image6.jpeg"/><Relationship Id="rId4" Type="http://schemas.openxmlformats.org/officeDocument/2006/relationships/tags" Target="../tags/tag52.xml"/><Relationship Id="rId9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63.xml"/><Relationship Id="rId13" Type="http://schemas.openxmlformats.org/officeDocument/2006/relationships/tags" Target="../tags/tag68.xml"/><Relationship Id="rId3" Type="http://schemas.openxmlformats.org/officeDocument/2006/relationships/tags" Target="../tags/tag58.xml"/><Relationship Id="rId7" Type="http://schemas.openxmlformats.org/officeDocument/2006/relationships/tags" Target="../tags/tag62.xml"/><Relationship Id="rId12" Type="http://schemas.openxmlformats.org/officeDocument/2006/relationships/tags" Target="../tags/tag67.xml"/><Relationship Id="rId17" Type="http://schemas.openxmlformats.org/officeDocument/2006/relationships/image" Target="../media/image6.jpeg"/><Relationship Id="rId2" Type="http://schemas.openxmlformats.org/officeDocument/2006/relationships/tags" Target="../tags/tag57.xml"/><Relationship Id="rId16" Type="http://schemas.openxmlformats.org/officeDocument/2006/relationships/notesSlide" Target="../notesSlides/notesSlide6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11" Type="http://schemas.openxmlformats.org/officeDocument/2006/relationships/tags" Target="../tags/tag66.xml"/><Relationship Id="rId5" Type="http://schemas.openxmlformats.org/officeDocument/2006/relationships/tags" Target="../tags/tag60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65.xml"/><Relationship Id="rId4" Type="http://schemas.openxmlformats.org/officeDocument/2006/relationships/tags" Target="../tags/tag59.xml"/><Relationship Id="rId9" Type="http://schemas.openxmlformats.org/officeDocument/2006/relationships/tags" Target="../tags/tag64.xml"/><Relationship Id="rId14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tags" Target="../tags/tag82.xml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12" Type="http://schemas.openxmlformats.org/officeDocument/2006/relationships/tags" Target="../tags/tag81.xml"/><Relationship Id="rId2" Type="http://schemas.openxmlformats.org/officeDocument/2006/relationships/tags" Target="../tags/tag71.xml"/><Relationship Id="rId16" Type="http://schemas.openxmlformats.org/officeDocument/2006/relationships/image" Target="../media/image6.jpeg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tags" Target="../tags/tag80.xml"/><Relationship Id="rId5" Type="http://schemas.openxmlformats.org/officeDocument/2006/relationships/tags" Target="../tags/tag74.xml"/><Relationship Id="rId15" Type="http://schemas.openxmlformats.org/officeDocument/2006/relationships/notesSlide" Target="../notesSlides/notesSlide7.xml"/><Relationship Id="rId10" Type="http://schemas.openxmlformats.org/officeDocument/2006/relationships/tags" Target="../tags/tag79.xml"/><Relationship Id="rId4" Type="http://schemas.openxmlformats.org/officeDocument/2006/relationships/tags" Target="../tags/tag73.xml"/><Relationship Id="rId9" Type="http://schemas.openxmlformats.org/officeDocument/2006/relationships/tags" Target="../tags/tag78.xml"/><Relationship Id="rId14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13" Type="http://schemas.openxmlformats.org/officeDocument/2006/relationships/tags" Target="../tags/tag95.xml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12" Type="http://schemas.openxmlformats.org/officeDocument/2006/relationships/tags" Target="../tags/tag94.xml"/><Relationship Id="rId2" Type="http://schemas.openxmlformats.org/officeDocument/2006/relationships/tags" Target="../tags/tag84.xml"/><Relationship Id="rId16" Type="http://schemas.openxmlformats.org/officeDocument/2006/relationships/image" Target="../media/image6.jpeg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tags" Target="../tags/tag93.xml"/><Relationship Id="rId5" Type="http://schemas.openxmlformats.org/officeDocument/2006/relationships/tags" Target="../tags/tag87.xml"/><Relationship Id="rId15" Type="http://schemas.openxmlformats.org/officeDocument/2006/relationships/notesSlide" Target="../notesSlides/notesSlide8.xml"/><Relationship Id="rId10" Type="http://schemas.openxmlformats.org/officeDocument/2006/relationships/tags" Target="../tags/tag92.xml"/><Relationship Id="rId4" Type="http://schemas.openxmlformats.org/officeDocument/2006/relationships/tags" Target="../tags/tag86.xml"/><Relationship Id="rId9" Type="http://schemas.openxmlformats.org/officeDocument/2006/relationships/tags" Target="../tags/tag91.xml"/><Relationship Id="rId14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13" Type="http://schemas.openxmlformats.org/officeDocument/2006/relationships/tags" Target="../tags/tag108.xml"/><Relationship Id="rId18" Type="http://schemas.openxmlformats.org/officeDocument/2006/relationships/notesSlide" Target="../notesSlides/notesSlide9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12" Type="http://schemas.openxmlformats.org/officeDocument/2006/relationships/tags" Target="../tags/tag107.xml"/><Relationship Id="rId17" Type="http://schemas.openxmlformats.org/officeDocument/2006/relationships/slideLayout" Target="../slideLayouts/slideLayout12.xml"/><Relationship Id="rId2" Type="http://schemas.openxmlformats.org/officeDocument/2006/relationships/tags" Target="../tags/tag97.xml"/><Relationship Id="rId16" Type="http://schemas.openxmlformats.org/officeDocument/2006/relationships/tags" Target="../tags/tag111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tags" Target="../tags/tag106.xml"/><Relationship Id="rId5" Type="http://schemas.openxmlformats.org/officeDocument/2006/relationships/tags" Target="../tags/tag100.xml"/><Relationship Id="rId15" Type="http://schemas.openxmlformats.org/officeDocument/2006/relationships/tags" Target="../tags/tag110.xml"/><Relationship Id="rId10" Type="http://schemas.openxmlformats.org/officeDocument/2006/relationships/tags" Target="../tags/tag105.xml"/><Relationship Id="rId19" Type="http://schemas.openxmlformats.org/officeDocument/2006/relationships/image" Target="../media/image6.jpeg"/><Relationship Id="rId4" Type="http://schemas.openxmlformats.org/officeDocument/2006/relationships/tags" Target="../tags/tag99.xml"/><Relationship Id="rId9" Type="http://schemas.openxmlformats.org/officeDocument/2006/relationships/tags" Target="../tags/tag104.xml"/><Relationship Id="rId14" Type="http://schemas.openxmlformats.org/officeDocument/2006/relationships/tags" Target="../tags/tag10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13" Type="http://schemas.openxmlformats.org/officeDocument/2006/relationships/tags" Target="../tags/tag124.xml"/><Relationship Id="rId18" Type="http://schemas.openxmlformats.org/officeDocument/2006/relationships/image" Target="../media/image33.png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12" Type="http://schemas.openxmlformats.org/officeDocument/2006/relationships/tags" Target="../tags/tag123.xml"/><Relationship Id="rId17" Type="http://schemas.openxmlformats.org/officeDocument/2006/relationships/image" Target="../media/image32.png"/><Relationship Id="rId2" Type="http://schemas.openxmlformats.org/officeDocument/2006/relationships/tags" Target="../tags/tag113.xml"/><Relationship Id="rId16" Type="http://schemas.openxmlformats.org/officeDocument/2006/relationships/image" Target="../media/image6.jpeg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tags" Target="../tags/tag122.xml"/><Relationship Id="rId5" Type="http://schemas.openxmlformats.org/officeDocument/2006/relationships/tags" Target="../tags/tag116.xml"/><Relationship Id="rId15" Type="http://schemas.openxmlformats.org/officeDocument/2006/relationships/notesSlide" Target="../notesSlides/notesSlide10.xml"/><Relationship Id="rId10" Type="http://schemas.openxmlformats.org/officeDocument/2006/relationships/tags" Target="../tags/tag121.xml"/><Relationship Id="rId4" Type="http://schemas.openxmlformats.org/officeDocument/2006/relationships/tags" Target="../tags/tag115.xml"/><Relationship Id="rId9" Type="http://schemas.openxmlformats.org/officeDocument/2006/relationships/tags" Target="../tags/tag120.xml"/><Relationship Id="rId14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32.xml"/><Relationship Id="rId13" Type="http://schemas.openxmlformats.org/officeDocument/2006/relationships/tags" Target="../tags/tag137.xml"/><Relationship Id="rId3" Type="http://schemas.openxmlformats.org/officeDocument/2006/relationships/tags" Target="../tags/tag127.xml"/><Relationship Id="rId7" Type="http://schemas.openxmlformats.org/officeDocument/2006/relationships/tags" Target="../tags/tag131.xml"/><Relationship Id="rId12" Type="http://schemas.openxmlformats.org/officeDocument/2006/relationships/tags" Target="../tags/tag136.xml"/><Relationship Id="rId2" Type="http://schemas.openxmlformats.org/officeDocument/2006/relationships/tags" Target="../tags/tag126.xml"/><Relationship Id="rId16" Type="http://schemas.openxmlformats.org/officeDocument/2006/relationships/image" Target="../media/image6.jpeg"/><Relationship Id="rId1" Type="http://schemas.openxmlformats.org/officeDocument/2006/relationships/tags" Target="../tags/tag125.xml"/><Relationship Id="rId6" Type="http://schemas.openxmlformats.org/officeDocument/2006/relationships/tags" Target="../tags/tag130.xml"/><Relationship Id="rId11" Type="http://schemas.openxmlformats.org/officeDocument/2006/relationships/tags" Target="../tags/tag135.xml"/><Relationship Id="rId5" Type="http://schemas.openxmlformats.org/officeDocument/2006/relationships/tags" Target="../tags/tag129.xml"/><Relationship Id="rId15" Type="http://schemas.openxmlformats.org/officeDocument/2006/relationships/notesSlide" Target="../notesSlides/notesSlide11.xml"/><Relationship Id="rId10" Type="http://schemas.openxmlformats.org/officeDocument/2006/relationships/tags" Target="../tags/tag134.xml"/><Relationship Id="rId4" Type="http://schemas.openxmlformats.org/officeDocument/2006/relationships/tags" Target="../tags/tag128.xml"/><Relationship Id="rId9" Type="http://schemas.openxmlformats.org/officeDocument/2006/relationships/tags" Target="../tags/tag133.xml"/><Relationship Id="rId14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45.xml"/><Relationship Id="rId13" Type="http://schemas.openxmlformats.org/officeDocument/2006/relationships/tags" Target="../tags/tag150.xml"/><Relationship Id="rId18" Type="http://schemas.openxmlformats.org/officeDocument/2006/relationships/image" Target="../media/image35.png"/><Relationship Id="rId3" Type="http://schemas.openxmlformats.org/officeDocument/2006/relationships/tags" Target="../tags/tag140.xml"/><Relationship Id="rId7" Type="http://schemas.openxmlformats.org/officeDocument/2006/relationships/tags" Target="../tags/tag144.xml"/><Relationship Id="rId12" Type="http://schemas.openxmlformats.org/officeDocument/2006/relationships/tags" Target="../tags/tag149.xml"/><Relationship Id="rId17" Type="http://schemas.openxmlformats.org/officeDocument/2006/relationships/image" Target="../media/image34.png"/><Relationship Id="rId2" Type="http://schemas.openxmlformats.org/officeDocument/2006/relationships/tags" Target="../tags/tag139.xml"/><Relationship Id="rId16" Type="http://schemas.openxmlformats.org/officeDocument/2006/relationships/image" Target="../media/image6.jpeg"/><Relationship Id="rId1" Type="http://schemas.openxmlformats.org/officeDocument/2006/relationships/tags" Target="../tags/tag138.xml"/><Relationship Id="rId6" Type="http://schemas.openxmlformats.org/officeDocument/2006/relationships/tags" Target="../tags/tag143.xml"/><Relationship Id="rId11" Type="http://schemas.openxmlformats.org/officeDocument/2006/relationships/tags" Target="../tags/tag148.xml"/><Relationship Id="rId5" Type="http://schemas.openxmlformats.org/officeDocument/2006/relationships/tags" Target="../tags/tag142.xml"/><Relationship Id="rId15" Type="http://schemas.openxmlformats.org/officeDocument/2006/relationships/notesSlide" Target="../notesSlides/notesSlide12.xml"/><Relationship Id="rId10" Type="http://schemas.openxmlformats.org/officeDocument/2006/relationships/tags" Target="../tags/tag147.xml"/><Relationship Id="rId4" Type="http://schemas.openxmlformats.org/officeDocument/2006/relationships/tags" Target="../tags/tag141.xml"/><Relationship Id="rId9" Type="http://schemas.openxmlformats.org/officeDocument/2006/relationships/tags" Target="../tags/tag146.xml"/><Relationship Id="rId14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58.xml"/><Relationship Id="rId13" Type="http://schemas.openxmlformats.org/officeDocument/2006/relationships/tags" Target="../tags/tag163.xml"/><Relationship Id="rId18" Type="http://schemas.openxmlformats.org/officeDocument/2006/relationships/image" Target="../media/image37.png"/><Relationship Id="rId3" Type="http://schemas.openxmlformats.org/officeDocument/2006/relationships/tags" Target="../tags/tag153.xml"/><Relationship Id="rId7" Type="http://schemas.openxmlformats.org/officeDocument/2006/relationships/tags" Target="../tags/tag157.xml"/><Relationship Id="rId12" Type="http://schemas.openxmlformats.org/officeDocument/2006/relationships/tags" Target="../tags/tag162.xml"/><Relationship Id="rId17" Type="http://schemas.openxmlformats.org/officeDocument/2006/relationships/image" Target="../media/image36.png"/><Relationship Id="rId2" Type="http://schemas.openxmlformats.org/officeDocument/2006/relationships/tags" Target="../tags/tag152.xml"/><Relationship Id="rId16" Type="http://schemas.openxmlformats.org/officeDocument/2006/relationships/image" Target="../media/image6.jpeg"/><Relationship Id="rId1" Type="http://schemas.openxmlformats.org/officeDocument/2006/relationships/tags" Target="../tags/tag151.xml"/><Relationship Id="rId6" Type="http://schemas.openxmlformats.org/officeDocument/2006/relationships/tags" Target="../tags/tag156.xml"/><Relationship Id="rId11" Type="http://schemas.openxmlformats.org/officeDocument/2006/relationships/tags" Target="../tags/tag161.xml"/><Relationship Id="rId5" Type="http://schemas.openxmlformats.org/officeDocument/2006/relationships/tags" Target="../tags/tag155.xml"/><Relationship Id="rId15" Type="http://schemas.openxmlformats.org/officeDocument/2006/relationships/notesSlide" Target="../notesSlides/notesSlide13.xml"/><Relationship Id="rId10" Type="http://schemas.openxmlformats.org/officeDocument/2006/relationships/tags" Target="../tags/tag160.xml"/><Relationship Id="rId4" Type="http://schemas.openxmlformats.org/officeDocument/2006/relationships/tags" Target="../tags/tag154.xml"/><Relationship Id="rId9" Type="http://schemas.openxmlformats.org/officeDocument/2006/relationships/tags" Target="../tags/tag159.xml"/><Relationship Id="rId14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71.xml"/><Relationship Id="rId13" Type="http://schemas.openxmlformats.org/officeDocument/2006/relationships/tags" Target="../tags/tag176.xml"/><Relationship Id="rId3" Type="http://schemas.openxmlformats.org/officeDocument/2006/relationships/tags" Target="../tags/tag166.xml"/><Relationship Id="rId7" Type="http://schemas.openxmlformats.org/officeDocument/2006/relationships/tags" Target="../tags/tag170.xml"/><Relationship Id="rId12" Type="http://schemas.openxmlformats.org/officeDocument/2006/relationships/tags" Target="../tags/tag175.xml"/><Relationship Id="rId2" Type="http://schemas.openxmlformats.org/officeDocument/2006/relationships/tags" Target="../tags/tag165.xml"/><Relationship Id="rId16" Type="http://schemas.openxmlformats.org/officeDocument/2006/relationships/image" Target="../media/image6.jpeg"/><Relationship Id="rId1" Type="http://schemas.openxmlformats.org/officeDocument/2006/relationships/tags" Target="../tags/tag164.xml"/><Relationship Id="rId6" Type="http://schemas.openxmlformats.org/officeDocument/2006/relationships/tags" Target="../tags/tag169.xml"/><Relationship Id="rId11" Type="http://schemas.openxmlformats.org/officeDocument/2006/relationships/tags" Target="../tags/tag174.xml"/><Relationship Id="rId5" Type="http://schemas.openxmlformats.org/officeDocument/2006/relationships/tags" Target="../tags/tag168.xml"/><Relationship Id="rId15" Type="http://schemas.openxmlformats.org/officeDocument/2006/relationships/notesSlide" Target="../notesSlides/notesSlide14.xml"/><Relationship Id="rId10" Type="http://schemas.openxmlformats.org/officeDocument/2006/relationships/tags" Target="../tags/tag173.xml"/><Relationship Id="rId4" Type="http://schemas.openxmlformats.org/officeDocument/2006/relationships/tags" Target="../tags/tag167.xml"/><Relationship Id="rId9" Type="http://schemas.openxmlformats.org/officeDocument/2006/relationships/tags" Target="../tags/tag172.xml"/><Relationship Id="rId14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84.xml"/><Relationship Id="rId13" Type="http://schemas.openxmlformats.org/officeDocument/2006/relationships/tags" Target="../tags/tag189.xml"/><Relationship Id="rId18" Type="http://schemas.openxmlformats.org/officeDocument/2006/relationships/image" Target="../media/image38.png"/><Relationship Id="rId3" Type="http://schemas.openxmlformats.org/officeDocument/2006/relationships/tags" Target="../tags/tag179.xml"/><Relationship Id="rId7" Type="http://schemas.openxmlformats.org/officeDocument/2006/relationships/tags" Target="../tags/tag183.xml"/><Relationship Id="rId12" Type="http://schemas.openxmlformats.org/officeDocument/2006/relationships/tags" Target="../tags/tag188.xml"/><Relationship Id="rId17" Type="http://schemas.openxmlformats.org/officeDocument/2006/relationships/image" Target="../media/image6.jpeg"/><Relationship Id="rId2" Type="http://schemas.openxmlformats.org/officeDocument/2006/relationships/tags" Target="../tags/tag178.xml"/><Relationship Id="rId16" Type="http://schemas.openxmlformats.org/officeDocument/2006/relationships/notesSlide" Target="../notesSlides/notesSlide15.xml"/><Relationship Id="rId1" Type="http://schemas.openxmlformats.org/officeDocument/2006/relationships/tags" Target="../tags/tag177.xml"/><Relationship Id="rId6" Type="http://schemas.openxmlformats.org/officeDocument/2006/relationships/tags" Target="../tags/tag182.xml"/><Relationship Id="rId11" Type="http://schemas.openxmlformats.org/officeDocument/2006/relationships/tags" Target="../tags/tag187.xml"/><Relationship Id="rId5" Type="http://schemas.openxmlformats.org/officeDocument/2006/relationships/tags" Target="../tags/tag181.xml"/><Relationship Id="rId15" Type="http://schemas.openxmlformats.org/officeDocument/2006/relationships/slideLayout" Target="../slideLayouts/slideLayout12.xml"/><Relationship Id="rId10" Type="http://schemas.openxmlformats.org/officeDocument/2006/relationships/tags" Target="../tags/tag186.xml"/><Relationship Id="rId19" Type="http://schemas.openxmlformats.org/officeDocument/2006/relationships/image" Target="../media/image39.png"/><Relationship Id="rId4" Type="http://schemas.openxmlformats.org/officeDocument/2006/relationships/tags" Target="../tags/tag180.xml"/><Relationship Id="rId9" Type="http://schemas.openxmlformats.org/officeDocument/2006/relationships/tags" Target="../tags/tag185.xml"/><Relationship Id="rId14" Type="http://schemas.openxmlformats.org/officeDocument/2006/relationships/tags" Target="../tags/tag19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98.xml"/><Relationship Id="rId13" Type="http://schemas.openxmlformats.org/officeDocument/2006/relationships/tags" Target="../tags/tag203.xml"/><Relationship Id="rId3" Type="http://schemas.openxmlformats.org/officeDocument/2006/relationships/tags" Target="../tags/tag193.xml"/><Relationship Id="rId7" Type="http://schemas.openxmlformats.org/officeDocument/2006/relationships/tags" Target="../tags/tag197.xml"/><Relationship Id="rId12" Type="http://schemas.openxmlformats.org/officeDocument/2006/relationships/tags" Target="../tags/tag202.xml"/><Relationship Id="rId2" Type="http://schemas.openxmlformats.org/officeDocument/2006/relationships/tags" Target="../tags/tag192.xml"/><Relationship Id="rId16" Type="http://schemas.openxmlformats.org/officeDocument/2006/relationships/image" Target="../media/image6.jpeg"/><Relationship Id="rId1" Type="http://schemas.openxmlformats.org/officeDocument/2006/relationships/tags" Target="../tags/tag191.xml"/><Relationship Id="rId6" Type="http://schemas.openxmlformats.org/officeDocument/2006/relationships/tags" Target="../tags/tag196.xml"/><Relationship Id="rId11" Type="http://schemas.openxmlformats.org/officeDocument/2006/relationships/tags" Target="../tags/tag201.xml"/><Relationship Id="rId5" Type="http://schemas.openxmlformats.org/officeDocument/2006/relationships/tags" Target="../tags/tag195.xml"/><Relationship Id="rId15" Type="http://schemas.openxmlformats.org/officeDocument/2006/relationships/notesSlide" Target="../notesSlides/notesSlide16.xml"/><Relationship Id="rId10" Type="http://schemas.openxmlformats.org/officeDocument/2006/relationships/tags" Target="../tags/tag200.xml"/><Relationship Id="rId4" Type="http://schemas.openxmlformats.org/officeDocument/2006/relationships/tags" Target="../tags/tag194.xml"/><Relationship Id="rId9" Type="http://schemas.openxmlformats.org/officeDocument/2006/relationships/tags" Target="../tags/tag199.xml"/><Relationship Id="rId14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211.xml"/><Relationship Id="rId13" Type="http://schemas.openxmlformats.org/officeDocument/2006/relationships/tags" Target="../tags/tag216.xml"/><Relationship Id="rId18" Type="http://schemas.openxmlformats.org/officeDocument/2006/relationships/image" Target="../media/image6.jpeg"/><Relationship Id="rId3" Type="http://schemas.openxmlformats.org/officeDocument/2006/relationships/tags" Target="../tags/tag206.xml"/><Relationship Id="rId7" Type="http://schemas.openxmlformats.org/officeDocument/2006/relationships/tags" Target="../tags/tag210.xml"/><Relationship Id="rId12" Type="http://schemas.openxmlformats.org/officeDocument/2006/relationships/tags" Target="../tags/tag215.xml"/><Relationship Id="rId17" Type="http://schemas.openxmlformats.org/officeDocument/2006/relationships/notesSlide" Target="../notesSlides/notesSlide17.xml"/><Relationship Id="rId2" Type="http://schemas.openxmlformats.org/officeDocument/2006/relationships/tags" Target="../tags/tag205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204.xml"/><Relationship Id="rId6" Type="http://schemas.openxmlformats.org/officeDocument/2006/relationships/tags" Target="../tags/tag209.xml"/><Relationship Id="rId11" Type="http://schemas.openxmlformats.org/officeDocument/2006/relationships/tags" Target="../tags/tag214.xml"/><Relationship Id="rId5" Type="http://schemas.openxmlformats.org/officeDocument/2006/relationships/tags" Target="../tags/tag208.xml"/><Relationship Id="rId15" Type="http://schemas.openxmlformats.org/officeDocument/2006/relationships/tags" Target="../tags/tag218.xml"/><Relationship Id="rId10" Type="http://schemas.openxmlformats.org/officeDocument/2006/relationships/tags" Target="../tags/tag213.xml"/><Relationship Id="rId4" Type="http://schemas.openxmlformats.org/officeDocument/2006/relationships/tags" Target="../tags/tag207.xml"/><Relationship Id="rId9" Type="http://schemas.openxmlformats.org/officeDocument/2006/relationships/tags" Target="../tags/tag212.xml"/><Relationship Id="rId14" Type="http://schemas.openxmlformats.org/officeDocument/2006/relationships/tags" Target="../tags/tag21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226.xml"/><Relationship Id="rId13" Type="http://schemas.openxmlformats.org/officeDocument/2006/relationships/tags" Target="../tags/tag231.xml"/><Relationship Id="rId18" Type="http://schemas.openxmlformats.org/officeDocument/2006/relationships/tags" Target="../tags/tag236.xml"/><Relationship Id="rId26" Type="http://schemas.openxmlformats.org/officeDocument/2006/relationships/tags" Target="../tags/tag244.xml"/><Relationship Id="rId3" Type="http://schemas.openxmlformats.org/officeDocument/2006/relationships/tags" Target="../tags/tag221.xml"/><Relationship Id="rId21" Type="http://schemas.openxmlformats.org/officeDocument/2006/relationships/tags" Target="../tags/tag239.xml"/><Relationship Id="rId7" Type="http://schemas.openxmlformats.org/officeDocument/2006/relationships/tags" Target="../tags/tag225.xml"/><Relationship Id="rId12" Type="http://schemas.openxmlformats.org/officeDocument/2006/relationships/tags" Target="../tags/tag230.xml"/><Relationship Id="rId17" Type="http://schemas.openxmlformats.org/officeDocument/2006/relationships/tags" Target="../tags/tag235.xml"/><Relationship Id="rId25" Type="http://schemas.openxmlformats.org/officeDocument/2006/relationships/tags" Target="../tags/tag243.xml"/><Relationship Id="rId2" Type="http://schemas.openxmlformats.org/officeDocument/2006/relationships/tags" Target="../tags/tag220.xml"/><Relationship Id="rId16" Type="http://schemas.openxmlformats.org/officeDocument/2006/relationships/tags" Target="../tags/tag234.xml"/><Relationship Id="rId20" Type="http://schemas.openxmlformats.org/officeDocument/2006/relationships/tags" Target="../tags/tag238.xml"/><Relationship Id="rId29" Type="http://schemas.openxmlformats.org/officeDocument/2006/relationships/image" Target="../media/image6.jpeg"/><Relationship Id="rId1" Type="http://schemas.openxmlformats.org/officeDocument/2006/relationships/tags" Target="../tags/tag219.xml"/><Relationship Id="rId6" Type="http://schemas.openxmlformats.org/officeDocument/2006/relationships/tags" Target="../tags/tag224.xml"/><Relationship Id="rId11" Type="http://schemas.openxmlformats.org/officeDocument/2006/relationships/tags" Target="../tags/tag229.xml"/><Relationship Id="rId24" Type="http://schemas.openxmlformats.org/officeDocument/2006/relationships/tags" Target="../tags/tag242.xml"/><Relationship Id="rId5" Type="http://schemas.openxmlformats.org/officeDocument/2006/relationships/tags" Target="../tags/tag223.xml"/><Relationship Id="rId15" Type="http://schemas.openxmlformats.org/officeDocument/2006/relationships/tags" Target="../tags/tag233.xml"/><Relationship Id="rId23" Type="http://schemas.openxmlformats.org/officeDocument/2006/relationships/tags" Target="../tags/tag241.xml"/><Relationship Id="rId28" Type="http://schemas.openxmlformats.org/officeDocument/2006/relationships/notesSlide" Target="../notesSlides/notesSlide18.xml"/><Relationship Id="rId10" Type="http://schemas.openxmlformats.org/officeDocument/2006/relationships/tags" Target="../tags/tag228.xml"/><Relationship Id="rId19" Type="http://schemas.openxmlformats.org/officeDocument/2006/relationships/tags" Target="../tags/tag237.xml"/><Relationship Id="rId4" Type="http://schemas.openxmlformats.org/officeDocument/2006/relationships/tags" Target="../tags/tag222.xml"/><Relationship Id="rId9" Type="http://schemas.openxmlformats.org/officeDocument/2006/relationships/tags" Target="../tags/tag227.xml"/><Relationship Id="rId14" Type="http://schemas.openxmlformats.org/officeDocument/2006/relationships/tags" Target="../tags/tag232.xml"/><Relationship Id="rId22" Type="http://schemas.openxmlformats.org/officeDocument/2006/relationships/tags" Target="../tags/tag240.xml"/><Relationship Id="rId27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shodan.io/" TargetMode="Externa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图片包含 户外, 建筑, 路, 钟表&#10;&#10;描述已自动生成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38" b="34183"/>
          <a:stretch>
            <a:fillRect/>
          </a:stretch>
        </p:blipFill>
        <p:spPr>
          <a:xfrm>
            <a:off x="0" y="1453109"/>
            <a:ext cx="12192000" cy="3218647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1453109"/>
            <a:ext cx="12192000" cy="3218647"/>
          </a:xfrm>
          <a:prstGeom prst="rect">
            <a:avLst/>
          </a:prstGeom>
          <a:solidFill>
            <a:srgbClr val="5E068C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943792" y="2055432"/>
            <a:ext cx="10943407" cy="988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IPv6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互联网性能测量与异常检测研究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3779148" y="3162437"/>
            <a:ext cx="595196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硕士论文开题报告</a:t>
            </a:r>
          </a:p>
        </p:txBody>
      </p:sp>
      <p:sp>
        <p:nvSpPr>
          <p:cNvPr id="23" name="矩形 22"/>
          <p:cNvSpPr/>
          <p:nvPr/>
        </p:nvSpPr>
        <p:spPr>
          <a:xfrm>
            <a:off x="8020171" y="3927576"/>
            <a:ext cx="614438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26" name="图片 25" descr="图片包含 游戏机, 画, 房间&#10;&#10;描述已自动生成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9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7764" y="1719113"/>
            <a:ext cx="908696" cy="903249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0" y="4671756"/>
            <a:ext cx="12192000" cy="88069"/>
          </a:xfrm>
          <a:prstGeom prst="rect">
            <a:avLst/>
          </a:prstGeom>
          <a:solidFill>
            <a:srgbClr val="FF9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2432050" y="5342255"/>
            <a:ext cx="7980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答辩人：郑盛东   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 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指导老师：张千里  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 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答辩日期：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</p:txBody>
      </p:sp>
      <p:sp>
        <p:nvSpPr>
          <p:cNvPr id="2" name="椭圆 1"/>
          <p:cNvSpPr/>
          <p:nvPr/>
        </p:nvSpPr>
        <p:spPr>
          <a:xfrm>
            <a:off x="5196468" y="291235"/>
            <a:ext cx="1609958" cy="16099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1886" y="459274"/>
            <a:ext cx="1377135" cy="1368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2598234" y="-719253"/>
            <a:ext cx="479502" cy="479502"/>
          </a:xfrm>
          <a:prstGeom prst="ellipse">
            <a:avLst/>
          </a:prstGeom>
          <a:solidFill>
            <a:srgbClr val="FF9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3464312" y="-886521"/>
            <a:ext cx="479502" cy="479502"/>
          </a:xfrm>
          <a:prstGeom prst="ellipse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5046670" y="134347"/>
            <a:ext cx="479502" cy="479502"/>
          </a:xfrm>
          <a:prstGeom prst="ellipse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3561343" y="811097"/>
            <a:ext cx="479502" cy="479502"/>
          </a:xfrm>
          <a:prstGeom prst="ellipse">
            <a:avLst/>
          </a:prstGeom>
          <a:solidFill>
            <a:srgbClr val="7B2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2860" y="109220"/>
            <a:ext cx="1457325" cy="11811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172" y="240"/>
            <a:ext cx="1733550" cy="333375"/>
          </a:xfrm>
          <a:prstGeom prst="rect">
            <a:avLst/>
          </a:prstGeom>
          <a:solidFill>
            <a:srgbClr val="FF9600"/>
          </a:solidFill>
        </p:spPr>
      </p:pic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-1" y="1"/>
            <a:ext cx="3352801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988852" y="2493844"/>
            <a:ext cx="1327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02840" y="3256193"/>
            <a:ext cx="2071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5685790" y="1778000"/>
            <a:ext cx="31603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rgbClr val="7B2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B" panose="00020600040101010101" pitchFamily="18" charset="-122"/>
              </a:rPr>
              <a:t>01</a:t>
            </a:r>
            <a:r>
              <a:rPr lang="en-US" altLang="zh-CN" sz="2400" dirty="0">
                <a:latin typeface="Alibaba PuHuiTi M" panose="00020600040101010101" pitchFamily="18" charset="-122"/>
                <a:ea typeface="Alibaba PuHuiTi M" panose="00020600040101010101" pitchFamily="18" charset="-122"/>
                <a:cs typeface="Alibaba PuHuiTi M" panose="00020600040101010101" pitchFamily="18" charset="-122"/>
              </a:rPr>
              <a:t>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B" panose="00020600040101010101" pitchFamily="18" charset="-122"/>
              </a:rPr>
              <a:t>选题背景与意义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5685790" y="2406650"/>
            <a:ext cx="5271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7B2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B" panose="00020600040101010101" pitchFamily="18" charset="-122"/>
              </a:rPr>
              <a:t>02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B" panose="00020600040101010101" pitchFamily="18" charset="-122"/>
              </a:rPr>
              <a:t>相关研究工作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5685790" y="3053080"/>
            <a:ext cx="5271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7B2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B" panose="00020600040101010101" pitchFamily="18" charset="-122"/>
              </a:rPr>
              <a:t>03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B" panose="00020600040101010101" pitchFamily="18" charset="-122"/>
              </a:rPr>
              <a:t>研究内容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5685790" y="3699510"/>
            <a:ext cx="5271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rgbClr val="7B2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B" panose="00020600040101010101" pitchFamily="18" charset="-122"/>
              </a:rPr>
              <a:t>04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B" panose="00020600040101010101" pitchFamily="18" charset="-122"/>
              </a:rPr>
              <a:t>预期成果</a:t>
            </a: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5685790" y="4328160"/>
            <a:ext cx="5271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7B2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B" panose="00020600040101010101" pitchFamily="18" charset="-122"/>
              </a:rPr>
              <a:t>05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B" panose="00020600040101010101" pitchFamily="18" charset="-122"/>
              </a:rPr>
              <a:t>进度安排</a:t>
            </a: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685790" y="4956810"/>
            <a:ext cx="5271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7B2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B" panose="00020600040101010101" pitchFamily="18" charset="-122"/>
              </a:rPr>
              <a:t>06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B" panose="00020600040101010101" pitchFamily="18" charset="-122"/>
              </a:rPr>
              <a:t>参考文献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-3461" y="1728904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17" name="矩形 16"/>
          <p:cNvSpPr/>
          <p:nvPr/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892717" y="492189"/>
            <a:ext cx="645602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选题背景与意义：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2892717" y="4450774"/>
            <a:ext cx="4619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互联网探测的价值与作用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788277" y="4955697"/>
            <a:ext cx="4620260" cy="1671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互联网已成为当今世界最重要的基础设施，深刻影响着生产生活的各个方面。通过主动或被动测量，能够感知网络中的设备与服务状态，进而绘制网络资产分布和掌握网络安全态势，为运维保障与业务决策提供数据支撑</a:t>
            </a:r>
            <a:r>
              <a:rPr lang="zh-CN" altLang="en-US" sz="1050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。</a:t>
            </a:r>
            <a:endParaRPr lang="en-US" altLang="zh-CN" sz="1050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1400" b="1" dirty="0">
              <a:solidFill>
                <a:srgbClr val="7030A0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7841057" y="1272184"/>
            <a:ext cx="4946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云厂商的全球性能测量需求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7643418" y="1720850"/>
            <a:ext cx="4548582" cy="24060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对云厂商而言，全球性能测量也是一项关键基础能力：一方面，用户与业务分布在不同国家、运营商与 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AS</a:t>
            </a:r>
            <a:r>
              <a:rPr lang="zh-CN" alt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需要持续、客观地跟踪公有云服务的 </a:t>
            </a:r>
            <a:r>
              <a:rPr lang="en" altLang="zh-CN" sz="1400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SLA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与兑现情况；另一方面，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BGP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路由变化、跨域链路拥塞或局部故障可能会影响大规模用户体验。借助主动探测，能够及时发现网络性能劣化与异常，快速定位，并为</a:t>
            </a:r>
            <a:r>
              <a:rPr lang="zh-CN" altLang="en-US" sz="1400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流量调度、路径选择与容灾切换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提供实时依据。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algn="l">
              <a:lnSpc>
                <a:spcPct val="150000"/>
              </a:lnSpc>
            </a:pP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highlight>
                <a:srgbClr val="FFFF00"/>
              </a:highlight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841057" y="4421863"/>
            <a:ext cx="3953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IPv6</a:t>
            </a:r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时代的挑战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11625561" y="6427340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529580" y="6644005"/>
            <a:ext cx="609600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800">
                <a:latin typeface="Times New Roman Regular" panose="02020603050405020304" charset="0"/>
                <a:cs typeface="Times New Roman Regular" panose="02020603050405020304" charset="0"/>
              </a:rPr>
              <a:t>https://zhuanlan.zhihu.com/p/346223794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4DACB10-EAF8-E17E-B1E7-2BF2789C98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4187" y="1456334"/>
            <a:ext cx="4714802" cy="269850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EDDB679-4FC7-9F00-0716-5E582E1232A1}"/>
              </a:ext>
            </a:extLst>
          </p:cNvPr>
          <p:cNvSpPr txBox="1"/>
          <p:nvPr/>
        </p:nvSpPr>
        <p:spPr>
          <a:xfrm>
            <a:off x="7537877" y="4984155"/>
            <a:ext cx="4438210" cy="16598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latinLnBrk="1">
              <a:lnSpc>
                <a:spcPts val="208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Microsoft YaHei Light" panose="020B0502040204020203" pitchFamily="34" charset="-122"/>
                <a:cs typeface="Times New Roman" panose="02020603050405020304" pitchFamily="18" charset="0"/>
              </a:rPr>
              <a:t> 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Microsoft YaHei Light" panose="020B0502040204020203" pitchFamily="34" charset="-122"/>
                <a:cs typeface="Times New Roman" panose="02020603050405020304" pitchFamily="18" charset="0"/>
              </a:rPr>
              <a:t>IPv4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互联网探测可以通过</a:t>
            </a:r>
            <a:r>
              <a:rPr lang="zh-CN" altLang="en-US" sz="1400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遍历地址空间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获取活跃地址集合，对这些地址进行实时探测即可实现对网络性能的持续感知与分析。随着移动互联网与物联网的发展推动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Microsoft YaHei Light" panose="020B0502040204020203" pitchFamily="34" charset="-122"/>
                <a:cs typeface="Times New Roman" panose="02020603050405020304" pitchFamily="18" charset="0"/>
              </a:rPr>
              <a:t> 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Microsoft YaHei Light" panose="020B0502040204020203" pitchFamily="34" charset="-122"/>
                <a:cs typeface="Times New Roman" panose="02020603050405020304" pitchFamily="18" charset="0"/>
              </a:rPr>
              <a:t>IPv6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加速部署，巨大的地址空间使得探测方法需要进一步考虑</a:t>
            </a:r>
            <a:r>
              <a:rPr lang="zh-CN" altLang="en-US" sz="1400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持续探测、地址代表性与结果可运维</a:t>
            </a:r>
          </a:p>
          <a:p>
            <a:pPr algn="just">
              <a:lnSpc>
                <a:spcPts val="2080"/>
              </a:lnSpc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highlight>
                <a:srgbClr val="FFFF00"/>
              </a:highlight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-3461" y="1728904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17" name="矩形 16"/>
          <p:cNvSpPr/>
          <p:nvPr/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736921" y="510165"/>
            <a:ext cx="645602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选题背景与意义：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2951561" y="2668488"/>
            <a:ext cx="4619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持续探测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586277" y="3010555"/>
            <a:ext cx="4554568" cy="1031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连续多天地址重复率较低，地址数量持续新增。因此，需要一个地址集合在给定时间窗口内</a:t>
            </a:r>
            <a:r>
              <a:rPr lang="zh-CN" altLang="en-US" sz="14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持续可响应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，并通过新增与淘汰机制保持集合有效。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2951561" y="1214409"/>
            <a:ext cx="4946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定义和跟踪服务级别协议</a:t>
            </a:r>
            <a:r>
              <a:rPr lang="en-US" altLang="zh-CN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(SLA)</a:t>
            </a:r>
            <a:endParaRPr lang="zh-CN" altLang="en-US" b="1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586277" y="1540478"/>
            <a:ext cx="8964499" cy="103638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公有云面向全球客户提供服务，许多业务对网络性能有明确的保障要求。例如，将游戏业务部署到云上后，来自不同地区的玩家需要访问云端资源，对网络时延、抖动和丢包等指标极为敏感。由于不同业务的关注点各不相同，因此需要相对客观的网络性能结果，例如</a:t>
            </a:r>
            <a:r>
              <a:rPr lang="zh-CN" altLang="en-US" sz="14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时延、丢包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，以间接反映终端用户的实际体验与网络状况。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816959" y="2680949"/>
            <a:ext cx="3953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地址代表性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11625561" y="6427340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EDDB679-4FC7-9F00-0716-5E582E1232A1}"/>
              </a:ext>
            </a:extLst>
          </p:cNvPr>
          <p:cNvSpPr txBox="1"/>
          <p:nvPr/>
        </p:nvSpPr>
        <p:spPr>
          <a:xfrm>
            <a:off x="7386618" y="3032091"/>
            <a:ext cx="4438210" cy="86732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latinLnBrk="1">
              <a:lnSpc>
                <a:spcPts val="208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业务地址不是均匀分布，而是</a:t>
            </a:r>
            <a:r>
              <a:rPr lang="zh-CN" altLang="en-US" sz="14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集中分布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在某些具体网段，需要结合真实流量分布有代表性的分层采样，而不是简单的地址空间发现。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highlight>
                <a:srgbClr val="FFFF00"/>
              </a:highlight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778936C9-4D95-7210-8217-5A64114162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A8CD16F-9026-6069-4043-5CBA04C0CF53}"/>
              </a:ext>
            </a:extLst>
          </p:cNvPr>
          <p:cNvGrpSpPr/>
          <p:nvPr/>
        </p:nvGrpSpPr>
        <p:grpSpPr>
          <a:xfrm>
            <a:off x="2344866" y="4156347"/>
            <a:ext cx="4558343" cy="2663938"/>
            <a:chOff x="2355758" y="3182025"/>
            <a:chExt cx="7778842" cy="4909195"/>
          </a:xfrm>
        </p:grpSpPr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44B48C9F-79AA-5258-B9B8-A64439EB327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2200" y="3182025"/>
              <a:ext cx="7772400" cy="2442754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079B79BF-DE6A-FB73-AEE7-83FF31374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55758" y="5624779"/>
              <a:ext cx="7772400" cy="2466441"/>
            </a:xfrm>
            <a:prstGeom prst="rect">
              <a:avLst/>
            </a:prstGeom>
          </p:spPr>
        </p:pic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73878CE5-833A-559C-D94B-A43D831C5A90}"/>
              </a:ext>
            </a:extLst>
          </p:cNvPr>
          <p:cNvGrpSpPr/>
          <p:nvPr/>
        </p:nvGrpSpPr>
        <p:grpSpPr>
          <a:xfrm>
            <a:off x="7353236" y="4041990"/>
            <a:ext cx="4705814" cy="2751715"/>
            <a:chOff x="-3461" y="1642343"/>
            <a:chExt cx="7775861" cy="4681101"/>
          </a:xfrm>
        </p:grpSpPr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80873251-2B3D-70B7-42D8-2888E7FFA99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1642343"/>
              <a:ext cx="7772399" cy="2277987"/>
            </a:xfrm>
            <a:prstGeom prst="rect">
              <a:avLst/>
            </a:prstGeom>
          </p:spPr>
        </p:pic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FE9CA004-A6FA-39DD-9E96-42942A153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461" y="3876578"/>
              <a:ext cx="7772400" cy="2446866"/>
            </a:xfrm>
            <a:prstGeom prst="rect">
              <a:avLst/>
            </a:prstGeom>
          </p:spPr>
        </p:pic>
      </p:grp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D36B0342-CE18-BE35-80DA-DD93FEFED05C}"/>
              </a:ext>
            </a:extLst>
          </p:cNvPr>
          <p:cNvCxnSpPr>
            <a:cxnSpLocks/>
          </p:cNvCxnSpPr>
          <p:nvPr/>
        </p:nvCxnSpPr>
        <p:spPr>
          <a:xfrm flipV="1">
            <a:off x="2951561" y="4390845"/>
            <a:ext cx="3144439" cy="7409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0E252A29-1DFC-AE76-4D97-4C096FBAA648}"/>
              </a:ext>
            </a:extLst>
          </p:cNvPr>
          <p:cNvSpPr txBox="1"/>
          <p:nvPr/>
        </p:nvSpPr>
        <p:spPr>
          <a:xfrm>
            <a:off x="4034164" y="4499695"/>
            <a:ext cx="5934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solidFill>
                  <a:srgbClr val="FF0000"/>
                </a:solidFill>
              </a:rPr>
              <a:t>8</a:t>
            </a:r>
            <a:r>
              <a:rPr kumimoji="1" lang="zh-CN" altLang="en-US" sz="1100" dirty="0">
                <a:solidFill>
                  <a:srgbClr val="FF0000"/>
                </a:solidFill>
              </a:rPr>
              <a:t>亿</a:t>
            </a:r>
            <a:r>
              <a:rPr kumimoji="1" lang="en-US" altLang="zh-CN" sz="1100" dirty="0">
                <a:solidFill>
                  <a:srgbClr val="FF0000"/>
                </a:solidFill>
              </a:rPr>
              <a:t>/</a:t>
            </a:r>
            <a:r>
              <a:rPr kumimoji="1" lang="zh-CN" altLang="en-US" sz="1100" dirty="0">
                <a:solidFill>
                  <a:srgbClr val="FF0000"/>
                </a:solidFill>
              </a:rPr>
              <a:t>天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A9A4C06-1AFF-6339-AB9D-B6E80C5BA722}"/>
              </a:ext>
            </a:extLst>
          </p:cNvPr>
          <p:cNvSpPr txBox="1"/>
          <p:nvPr/>
        </p:nvSpPr>
        <p:spPr>
          <a:xfrm>
            <a:off x="10104285" y="4008149"/>
            <a:ext cx="6671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solidFill>
                  <a:srgbClr val="FF0000"/>
                </a:solidFill>
              </a:rPr>
              <a:t>/16</a:t>
            </a:r>
            <a:r>
              <a:rPr kumimoji="1" lang="zh-CN" altLang="en-US" sz="1100" dirty="0">
                <a:solidFill>
                  <a:srgbClr val="FF0000"/>
                </a:solidFill>
              </a:rPr>
              <a:t>前缀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85EBD3E-4B96-1977-C5ED-A283C1B95B91}"/>
              </a:ext>
            </a:extLst>
          </p:cNvPr>
          <p:cNvSpPr txBox="1"/>
          <p:nvPr/>
        </p:nvSpPr>
        <p:spPr>
          <a:xfrm>
            <a:off x="10104285" y="5438471"/>
            <a:ext cx="6671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solidFill>
                  <a:srgbClr val="FF0000"/>
                </a:solidFill>
              </a:rPr>
              <a:t>/32</a:t>
            </a:r>
            <a:r>
              <a:rPr kumimoji="1" lang="zh-CN" altLang="en-US" sz="1100" dirty="0">
                <a:solidFill>
                  <a:srgbClr val="FF0000"/>
                </a:solidFill>
              </a:rPr>
              <a:t>前缀</a:t>
            </a:r>
          </a:p>
        </p:txBody>
      </p:sp>
    </p:spTree>
    <p:extLst>
      <p:ext uri="{BB962C8B-B14F-4D97-AF65-F5344CB8AC3E}">
        <p14:creationId xmlns:p14="http://schemas.microsoft.com/office/powerpoint/2010/main" val="3966081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sp>
        <p:nvSpPr>
          <p:cNvPr id="17" name="矩形 16"/>
          <p:cNvSpPr/>
          <p:nvPr/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bg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bg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92717" y="492189"/>
            <a:ext cx="645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选题背景：系统架构设计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>
            <p:custDataLst>
              <p:tags r:id="rId1"/>
            </p:custDataLst>
          </p:nvPr>
        </p:nvSpPr>
        <p:spPr>
          <a:xfrm>
            <a:off x="-286" y="1683819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2"/>
            </p:custDataLst>
          </p:nvPr>
        </p:nvSpPr>
        <p:spPr>
          <a:xfrm>
            <a:off x="230518" y="2524349"/>
            <a:ext cx="18020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3"/>
            </p:custDataLst>
          </p:nvPr>
        </p:nvSpPr>
        <p:spPr>
          <a:xfrm>
            <a:off x="230518" y="3176547"/>
            <a:ext cx="18020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4"/>
            </p:custDataLst>
          </p:nvPr>
        </p:nvSpPr>
        <p:spPr>
          <a:xfrm>
            <a:off x="230518" y="3828746"/>
            <a:ext cx="25291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5"/>
            </p:custDataLst>
          </p:nvPr>
        </p:nvSpPr>
        <p:spPr>
          <a:xfrm>
            <a:off x="230518" y="1872151"/>
            <a:ext cx="18020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6"/>
            </p:custDataLst>
          </p:nvPr>
        </p:nvSpPr>
        <p:spPr>
          <a:xfrm>
            <a:off x="215913" y="4480256"/>
            <a:ext cx="25291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7"/>
            </p:custDataLst>
          </p:nvPr>
        </p:nvSpPr>
        <p:spPr>
          <a:xfrm>
            <a:off x="215913" y="5131766"/>
            <a:ext cx="25291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3415144" y="2596515"/>
            <a:ext cx="1745501" cy="2980690"/>
          </a:xfrm>
          <a:prstGeom prst="roundRect">
            <a:avLst>
              <a:gd name="adj" fmla="val 4159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46"/>
          <a:stretch>
            <a:fillRect/>
          </a:stretch>
        </p:blipFill>
        <p:spPr>
          <a:xfrm>
            <a:off x="7486650" y="4914265"/>
            <a:ext cx="172720" cy="193040"/>
          </a:xfrm>
          <a:prstGeom prst="rect">
            <a:avLst/>
          </a:prstGeom>
        </p:spPr>
      </p:pic>
      <p:sp>
        <p:nvSpPr>
          <p:cNvPr id="49" name="圆角矩形 48"/>
          <p:cNvSpPr/>
          <p:nvPr>
            <p:custDataLst>
              <p:tags r:id="rId9"/>
            </p:custDataLst>
          </p:nvPr>
        </p:nvSpPr>
        <p:spPr>
          <a:xfrm>
            <a:off x="5592445" y="1062990"/>
            <a:ext cx="3988435" cy="5687060"/>
          </a:xfrm>
          <a:prstGeom prst="roundRect">
            <a:avLst>
              <a:gd name="adj" fmla="val 24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sp>
        <p:nvSpPr>
          <p:cNvPr id="52" name="圆角矩形 51"/>
          <p:cNvSpPr/>
          <p:nvPr>
            <p:custDataLst>
              <p:tags r:id="rId10"/>
            </p:custDataLst>
          </p:nvPr>
        </p:nvSpPr>
        <p:spPr>
          <a:xfrm>
            <a:off x="3469005" y="2739390"/>
            <a:ext cx="1608455" cy="1230630"/>
          </a:xfrm>
          <a:prstGeom prst="roundRect">
            <a:avLst>
              <a:gd name="adj" fmla="val 5782"/>
            </a:avLst>
          </a:prstGeom>
          <a:noFill/>
          <a:ln w="12700" cap="rnd">
            <a:solidFill>
              <a:schemeClr val="bg1">
                <a:lumMod val="65000"/>
                <a:alpha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5E068C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sp>
        <p:nvSpPr>
          <p:cNvPr id="66" name="矩形 65"/>
          <p:cNvSpPr/>
          <p:nvPr>
            <p:custDataLst>
              <p:tags r:id="rId11"/>
            </p:custDataLst>
          </p:nvPr>
        </p:nvSpPr>
        <p:spPr>
          <a:xfrm>
            <a:off x="3552825" y="2819400"/>
            <a:ext cx="1459230" cy="1079500"/>
          </a:xfrm>
          <a:prstGeom prst="rect">
            <a:avLst/>
          </a:prstGeom>
          <a:noFill/>
          <a:ln w="158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cxnSp>
        <p:nvCxnSpPr>
          <p:cNvPr id="68" name="直接连接符 67"/>
          <p:cNvCxnSpPr/>
          <p:nvPr>
            <p:custDataLst>
              <p:tags r:id="rId12"/>
            </p:custDataLst>
          </p:nvPr>
        </p:nvCxnSpPr>
        <p:spPr>
          <a:xfrm>
            <a:off x="3552825" y="3072765"/>
            <a:ext cx="146621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>
            <p:custDataLst>
              <p:tags r:id="rId13"/>
            </p:custDataLst>
          </p:nvPr>
        </p:nvSpPr>
        <p:spPr>
          <a:xfrm>
            <a:off x="3924788" y="2854466"/>
            <a:ext cx="1044575" cy="184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900" b="1" dirty="0">
                <a:latin typeface="Times New Roman Bold" panose="02020603050405020304" charset="0"/>
                <a:cs typeface="Times New Roman Bold" panose="02020603050405020304" charset="0"/>
              </a:rPr>
              <a:t>地址收集</a:t>
            </a:r>
            <a:endParaRPr lang="en-US" altLang="zh-CN" sz="900" b="1" dirty="0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73" name="圆角矩形 72"/>
          <p:cNvSpPr/>
          <p:nvPr>
            <p:custDataLst>
              <p:tags r:id="rId14"/>
            </p:custDataLst>
          </p:nvPr>
        </p:nvSpPr>
        <p:spPr>
          <a:xfrm>
            <a:off x="3472180" y="4152900"/>
            <a:ext cx="1644015" cy="1257300"/>
          </a:xfrm>
          <a:prstGeom prst="roundRect">
            <a:avLst>
              <a:gd name="adj" fmla="val 5782"/>
            </a:avLst>
          </a:prstGeom>
          <a:noFill/>
          <a:ln w="12700" cap="rnd">
            <a:solidFill>
              <a:schemeClr val="bg1">
                <a:lumMod val="65000"/>
                <a:alpha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5E068C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sp>
        <p:nvSpPr>
          <p:cNvPr id="74" name="矩形 73"/>
          <p:cNvSpPr/>
          <p:nvPr>
            <p:custDataLst>
              <p:tags r:id="rId15"/>
            </p:custDataLst>
          </p:nvPr>
        </p:nvSpPr>
        <p:spPr>
          <a:xfrm>
            <a:off x="3556000" y="4241800"/>
            <a:ext cx="1459230" cy="1079500"/>
          </a:xfrm>
          <a:prstGeom prst="rect">
            <a:avLst/>
          </a:prstGeom>
          <a:noFill/>
          <a:ln w="158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cxnSp>
        <p:nvCxnSpPr>
          <p:cNvPr id="75" name="直接连接符 74"/>
          <p:cNvCxnSpPr/>
          <p:nvPr>
            <p:custDataLst>
              <p:tags r:id="rId16"/>
            </p:custDataLst>
          </p:nvPr>
        </p:nvCxnSpPr>
        <p:spPr>
          <a:xfrm>
            <a:off x="3556000" y="4495165"/>
            <a:ext cx="146621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>
            <p:custDataLst>
              <p:tags r:id="rId17"/>
            </p:custDataLst>
          </p:nvPr>
        </p:nvSpPr>
        <p:spPr>
          <a:xfrm>
            <a:off x="3773805" y="4266565"/>
            <a:ext cx="1195558" cy="1809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900" b="1" dirty="0">
                <a:latin typeface="Times New Roman Bold" panose="02020603050405020304" charset="0"/>
                <a:cs typeface="Times New Roman Bold" panose="02020603050405020304" charset="0"/>
              </a:rPr>
              <a:t>边界网关前缀匹配</a:t>
            </a:r>
            <a:endParaRPr lang="en-US" altLang="zh-CN" sz="900" b="1" dirty="0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3832225" y="3180715"/>
            <a:ext cx="908050" cy="193675"/>
          </a:xfrm>
          <a:prstGeom prst="roundRect">
            <a:avLst/>
          </a:prstGeom>
          <a:solidFill>
            <a:srgbClr val="DEDEDE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 err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AddrStash</a:t>
            </a:r>
            <a:endParaRPr lang="en-US" altLang="zh-CN" sz="900" b="1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78" name="圆角矩形 77"/>
          <p:cNvSpPr/>
          <p:nvPr>
            <p:custDataLst>
              <p:tags r:id="rId18"/>
            </p:custDataLst>
          </p:nvPr>
        </p:nvSpPr>
        <p:spPr>
          <a:xfrm>
            <a:off x="3832225" y="3509010"/>
            <a:ext cx="908050" cy="193675"/>
          </a:xfrm>
          <a:prstGeom prst="roundRect">
            <a:avLst/>
          </a:prstGeom>
          <a:solidFill>
            <a:srgbClr val="DEDEDE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 err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AddrTail</a:t>
            </a:r>
            <a:endParaRPr lang="en-US" altLang="zh-CN" sz="900" b="1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cxnSp>
        <p:nvCxnSpPr>
          <p:cNvPr id="82" name="直接连接符 81"/>
          <p:cNvCxnSpPr/>
          <p:nvPr>
            <p:custDataLst>
              <p:tags r:id="rId19"/>
            </p:custDataLst>
          </p:nvPr>
        </p:nvCxnSpPr>
        <p:spPr>
          <a:xfrm>
            <a:off x="5581650" y="1365885"/>
            <a:ext cx="398843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3" name="文本框 82"/>
          <p:cNvSpPr txBox="1"/>
          <p:nvPr>
            <p:custDataLst>
              <p:tags r:id="rId20"/>
            </p:custDataLst>
          </p:nvPr>
        </p:nvSpPr>
        <p:spPr>
          <a:xfrm>
            <a:off x="6071600" y="1060867"/>
            <a:ext cx="31115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Times New Roman Bold" panose="02020603050405020304" charset="0"/>
                <a:cs typeface="Times New Roman Bold" panose="02020603050405020304" charset="0"/>
              </a:rPr>
              <a:t>互联网持续性能探测与异常检测</a:t>
            </a:r>
            <a:endParaRPr lang="en-US" altLang="zh-CN" sz="1600" b="1" dirty="0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85" name="文本框 84"/>
          <p:cNvSpPr txBox="1"/>
          <p:nvPr>
            <p:custDataLst>
              <p:tags r:id="rId21"/>
            </p:custDataLst>
          </p:nvPr>
        </p:nvSpPr>
        <p:spPr>
          <a:xfrm>
            <a:off x="10566082" y="2284395"/>
            <a:ext cx="136271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latin typeface="Times New Roman Bold" panose="02020603050405020304" charset="0"/>
                <a:cs typeface="Times New Roman Bold" panose="02020603050405020304" charset="0"/>
              </a:rPr>
              <a:t>分析报告</a:t>
            </a:r>
            <a:endParaRPr lang="en-US" altLang="zh-CN" sz="900" b="1" dirty="0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pic>
        <p:nvPicPr>
          <p:cNvPr id="86" name="图片 85" descr="yuncunchu"/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3653790" y="4679315"/>
            <a:ext cx="452755" cy="452755"/>
          </a:xfrm>
          <a:prstGeom prst="rect">
            <a:avLst/>
          </a:prstGeom>
        </p:spPr>
      </p:pic>
      <p:pic>
        <p:nvPicPr>
          <p:cNvPr id="87" name="图片 86" descr="yuncunchu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4106545" y="4679315"/>
            <a:ext cx="452755" cy="452755"/>
          </a:xfrm>
          <a:prstGeom prst="rect">
            <a:avLst/>
          </a:prstGeom>
        </p:spPr>
      </p:pic>
      <p:pic>
        <p:nvPicPr>
          <p:cNvPr id="88" name="图片 87" descr="yuncunchu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4559300" y="4679315"/>
            <a:ext cx="452755" cy="452755"/>
          </a:xfrm>
          <a:prstGeom prst="rect">
            <a:avLst/>
          </a:prstGeom>
        </p:spPr>
      </p:pic>
      <p:sp>
        <p:nvSpPr>
          <p:cNvPr id="134" name="圆角矩形 133"/>
          <p:cNvSpPr/>
          <p:nvPr>
            <p:custDataLst>
              <p:tags r:id="rId24"/>
            </p:custDataLst>
          </p:nvPr>
        </p:nvSpPr>
        <p:spPr>
          <a:xfrm>
            <a:off x="10035540" y="2273935"/>
            <a:ext cx="1802130" cy="3286760"/>
          </a:xfrm>
          <a:prstGeom prst="roundRect">
            <a:avLst>
              <a:gd name="adj" fmla="val 4159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sp>
        <p:nvSpPr>
          <p:cNvPr id="135" name="圆角矩形 134"/>
          <p:cNvSpPr/>
          <p:nvPr>
            <p:custDataLst>
              <p:tags r:id="rId25"/>
            </p:custDataLst>
          </p:nvPr>
        </p:nvSpPr>
        <p:spPr>
          <a:xfrm>
            <a:off x="10099675" y="2722245"/>
            <a:ext cx="1608455" cy="1230630"/>
          </a:xfrm>
          <a:prstGeom prst="roundRect">
            <a:avLst>
              <a:gd name="adj" fmla="val 5782"/>
            </a:avLst>
          </a:prstGeom>
          <a:noFill/>
          <a:ln w="12700" cap="rnd">
            <a:solidFill>
              <a:schemeClr val="bg1">
                <a:lumMod val="65000"/>
                <a:alpha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5E068C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sp>
        <p:nvSpPr>
          <p:cNvPr id="136" name="矩形 135"/>
          <p:cNvSpPr/>
          <p:nvPr>
            <p:custDataLst>
              <p:tags r:id="rId26"/>
            </p:custDataLst>
          </p:nvPr>
        </p:nvSpPr>
        <p:spPr>
          <a:xfrm>
            <a:off x="10183495" y="2802255"/>
            <a:ext cx="1459230" cy="1079500"/>
          </a:xfrm>
          <a:prstGeom prst="rect">
            <a:avLst/>
          </a:prstGeom>
          <a:noFill/>
          <a:ln w="158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cxnSp>
        <p:nvCxnSpPr>
          <p:cNvPr id="137" name="直接连接符 136"/>
          <p:cNvCxnSpPr/>
          <p:nvPr>
            <p:custDataLst>
              <p:tags r:id="rId27"/>
            </p:custDataLst>
          </p:nvPr>
        </p:nvCxnSpPr>
        <p:spPr>
          <a:xfrm>
            <a:off x="10183495" y="3055620"/>
            <a:ext cx="146621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8" name="文本框 137"/>
          <p:cNvSpPr txBox="1"/>
          <p:nvPr>
            <p:custDataLst>
              <p:tags r:id="rId28"/>
            </p:custDataLst>
          </p:nvPr>
        </p:nvSpPr>
        <p:spPr>
          <a:xfrm>
            <a:off x="10228580" y="2829878"/>
            <a:ext cx="1609090" cy="184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9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LLM</a:t>
            </a:r>
            <a:r>
              <a:rPr lang="zh-CN" altLang="en-US" sz="9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辅助异常原因分析</a:t>
            </a:r>
            <a:endParaRPr lang="en-US" altLang="zh-CN" sz="900" b="1" dirty="0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139" name="圆角矩形 138"/>
          <p:cNvSpPr/>
          <p:nvPr>
            <p:custDataLst>
              <p:tags r:id="rId29"/>
            </p:custDataLst>
          </p:nvPr>
        </p:nvSpPr>
        <p:spPr>
          <a:xfrm>
            <a:off x="10102850" y="4135755"/>
            <a:ext cx="1644015" cy="1257300"/>
          </a:xfrm>
          <a:prstGeom prst="roundRect">
            <a:avLst>
              <a:gd name="adj" fmla="val 5782"/>
            </a:avLst>
          </a:prstGeom>
          <a:noFill/>
          <a:ln w="12700" cap="rnd">
            <a:solidFill>
              <a:schemeClr val="bg1">
                <a:lumMod val="65000"/>
                <a:alpha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5E068C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sp>
        <p:nvSpPr>
          <p:cNvPr id="140" name="矩形 139"/>
          <p:cNvSpPr/>
          <p:nvPr>
            <p:custDataLst>
              <p:tags r:id="rId30"/>
            </p:custDataLst>
          </p:nvPr>
        </p:nvSpPr>
        <p:spPr>
          <a:xfrm>
            <a:off x="10186670" y="4224655"/>
            <a:ext cx="1459230" cy="1079500"/>
          </a:xfrm>
          <a:prstGeom prst="rect">
            <a:avLst/>
          </a:prstGeom>
          <a:noFill/>
          <a:ln w="158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cxnSp>
        <p:nvCxnSpPr>
          <p:cNvPr id="141" name="直接连接符 140"/>
          <p:cNvCxnSpPr/>
          <p:nvPr>
            <p:custDataLst>
              <p:tags r:id="rId31"/>
            </p:custDataLst>
          </p:nvPr>
        </p:nvCxnSpPr>
        <p:spPr>
          <a:xfrm>
            <a:off x="10186670" y="4478020"/>
            <a:ext cx="146621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2" name="文本框 141"/>
          <p:cNvSpPr txBox="1"/>
          <p:nvPr>
            <p:custDataLst>
              <p:tags r:id="rId32"/>
            </p:custDataLst>
          </p:nvPr>
        </p:nvSpPr>
        <p:spPr>
          <a:xfrm>
            <a:off x="10372021" y="4258627"/>
            <a:ext cx="1608455" cy="179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900" b="1" dirty="0">
                <a:latin typeface="Times New Roman Bold" panose="02020603050405020304" charset="0"/>
                <a:cs typeface="Times New Roman Bold" panose="02020603050405020304" charset="0"/>
              </a:rPr>
              <a:t>网络分析报告生成</a:t>
            </a:r>
            <a:endParaRPr lang="en-US" altLang="zh-CN" sz="900" b="1" dirty="0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cxnSp>
        <p:nvCxnSpPr>
          <p:cNvPr id="149" name="直接连接符 148"/>
          <p:cNvCxnSpPr/>
          <p:nvPr>
            <p:custDataLst>
              <p:tags r:id="rId33"/>
            </p:custDataLst>
          </p:nvPr>
        </p:nvCxnSpPr>
        <p:spPr>
          <a:xfrm>
            <a:off x="10035540" y="2524125"/>
            <a:ext cx="18161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56" name="图片 155" descr="yanzhenyichang"/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1047095" y="3213735"/>
            <a:ext cx="488950" cy="488950"/>
          </a:xfrm>
          <a:prstGeom prst="rect">
            <a:avLst/>
          </a:prstGeom>
        </p:spPr>
      </p:pic>
      <p:pic>
        <p:nvPicPr>
          <p:cNvPr id="159" name="图片 158" descr="jixiaobiaodan"/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10262235" y="4578985"/>
            <a:ext cx="589280" cy="589280"/>
          </a:xfrm>
          <a:prstGeom prst="rect">
            <a:avLst/>
          </a:prstGeom>
        </p:spPr>
      </p:pic>
      <p:pic>
        <p:nvPicPr>
          <p:cNvPr id="160" name="图片 159" descr="jixiaobiaodan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10946765" y="4578985"/>
            <a:ext cx="589280" cy="589280"/>
          </a:xfrm>
          <a:prstGeom prst="rect">
            <a:avLst/>
          </a:prstGeom>
        </p:spPr>
      </p:pic>
      <p:sp>
        <p:nvSpPr>
          <p:cNvPr id="164" name="右箭头 163"/>
          <p:cNvSpPr/>
          <p:nvPr>
            <p:custDataLst>
              <p:tags r:id="rId35"/>
            </p:custDataLst>
          </p:nvPr>
        </p:nvSpPr>
        <p:spPr>
          <a:xfrm>
            <a:off x="5206365" y="4031615"/>
            <a:ext cx="375285" cy="133985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pic>
        <p:nvPicPr>
          <p:cNvPr id="168" name="图片 167" descr="rengongzhinengdanao"/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0345420" y="3261360"/>
            <a:ext cx="441325" cy="441325"/>
          </a:xfrm>
          <a:prstGeom prst="rect">
            <a:avLst/>
          </a:prstGeom>
        </p:spPr>
      </p:pic>
      <p:sp>
        <p:nvSpPr>
          <p:cNvPr id="169" name="文本框 168"/>
          <p:cNvSpPr txBox="1"/>
          <p:nvPr>
            <p:custDataLst>
              <p:tags r:id="rId36"/>
            </p:custDataLst>
          </p:nvPr>
        </p:nvSpPr>
        <p:spPr>
          <a:xfrm>
            <a:off x="11675726" y="6410195"/>
            <a:ext cx="6237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9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CCFCD37A-CAFD-34DB-8240-1D34DD75B7F9}"/>
              </a:ext>
            </a:extLst>
          </p:cNvPr>
          <p:cNvSpPr/>
          <p:nvPr/>
        </p:nvSpPr>
        <p:spPr>
          <a:xfrm>
            <a:off x="6244385" y="1438475"/>
            <a:ext cx="2420100" cy="1128581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900" b="1" dirty="0">
                <a:latin typeface="Times New Roman Bold" panose="02020603050405020304" charset="0"/>
                <a:cs typeface="Times New Roman Bold" panose="02020603050405020304" charset="0"/>
              </a:rPr>
              <a:t>5. Investigate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4B940A06-5614-C227-5954-338A4897A0B5}"/>
              </a:ext>
            </a:extLst>
          </p:cNvPr>
          <p:cNvCxnSpPr>
            <a:cxnSpLocks/>
          </p:cNvCxnSpPr>
          <p:nvPr/>
        </p:nvCxnSpPr>
        <p:spPr>
          <a:xfrm>
            <a:off x="6244385" y="1636615"/>
            <a:ext cx="24201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C30D8AB-0623-77B0-6674-F7C11F66D00E}"/>
              </a:ext>
            </a:extLst>
          </p:cNvPr>
          <p:cNvSpPr txBox="1"/>
          <p:nvPr/>
        </p:nvSpPr>
        <p:spPr>
          <a:xfrm>
            <a:off x="7035850" y="1430079"/>
            <a:ext cx="101118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 Bold" panose="02020603050405020304" charset="0"/>
                <a:cs typeface="Times New Roman Bold" panose="02020603050405020304" charset="0"/>
              </a:rPr>
              <a:t>1. </a:t>
            </a:r>
            <a:r>
              <a:rPr lang="zh-CN" altLang="en-US" sz="900" b="1" dirty="0">
                <a:latin typeface="Times New Roman Bold" panose="02020603050405020304" charset="0"/>
                <a:cs typeface="Times New Roman Bold" panose="02020603050405020304" charset="0"/>
              </a:rPr>
              <a:t>模式挖掘</a:t>
            </a:r>
            <a:endParaRPr lang="en-US" altLang="zh-CN" sz="900" b="1" dirty="0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9C774206-662B-5DA5-EE56-280128FC3BA2}"/>
              </a:ext>
            </a:extLst>
          </p:cNvPr>
          <p:cNvSpPr/>
          <p:nvPr/>
        </p:nvSpPr>
        <p:spPr>
          <a:xfrm>
            <a:off x="6439724" y="1664114"/>
            <a:ext cx="767739" cy="86785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3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675800"/>
                      <a:gd name="connsiteY0" fmla="*/ 152403 h 914400"/>
                      <a:gd name="connsiteX1" fmla="*/ 152403 w 2675800"/>
                      <a:gd name="connsiteY1" fmla="*/ 0 h 914400"/>
                      <a:gd name="connsiteX2" fmla="*/ 2523397 w 2675800"/>
                      <a:gd name="connsiteY2" fmla="*/ 0 h 914400"/>
                      <a:gd name="connsiteX3" fmla="*/ 2675800 w 2675800"/>
                      <a:gd name="connsiteY3" fmla="*/ 152403 h 914400"/>
                      <a:gd name="connsiteX4" fmla="*/ 2675800 w 2675800"/>
                      <a:gd name="connsiteY4" fmla="*/ 761997 h 914400"/>
                      <a:gd name="connsiteX5" fmla="*/ 2523397 w 2675800"/>
                      <a:gd name="connsiteY5" fmla="*/ 914400 h 914400"/>
                      <a:gd name="connsiteX6" fmla="*/ 152403 w 2675800"/>
                      <a:gd name="connsiteY6" fmla="*/ 914400 h 914400"/>
                      <a:gd name="connsiteX7" fmla="*/ 0 w 2675800"/>
                      <a:gd name="connsiteY7" fmla="*/ 761997 h 914400"/>
                      <a:gd name="connsiteX8" fmla="*/ 0 w 2675800"/>
                      <a:gd name="connsiteY8" fmla="*/ 152403 h 914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675800" h="914400" fill="none" extrusionOk="0">
                        <a:moveTo>
                          <a:pt x="0" y="152403"/>
                        </a:moveTo>
                        <a:cubicBezTo>
                          <a:pt x="-5672" y="67316"/>
                          <a:pt x="71581" y="2738"/>
                          <a:pt x="152403" y="0"/>
                        </a:cubicBezTo>
                        <a:cubicBezTo>
                          <a:pt x="770154" y="130954"/>
                          <a:pt x="1817921" y="43574"/>
                          <a:pt x="2523397" y="0"/>
                        </a:cubicBezTo>
                        <a:cubicBezTo>
                          <a:pt x="2610959" y="5224"/>
                          <a:pt x="2681458" y="75164"/>
                          <a:pt x="2675800" y="152403"/>
                        </a:cubicBezTo>
                        <a:cubicBezTo>
                          <a:pt x="2641789" y="443481"/>
                          <a:pt x="2633861" y="582816"/>
                          <a:pt x="2675800" y="761997"/>
                        </a:cubicBezTo>
                        <a:cubicBezTo>
                          <a:pt x="2674577" y="846368"/>
                          <a:pt x="2600585" y="909583"/>
                          <a:pt x="2523397" y="914400"/>
                        </a:cubicBezTo>
                        <a:cubicBezTo>
                          <a:pt x="1731069" y="1069597"/>
                          <a:pt x="879653" y="1077420"/>
                          <a:pt x="152403" y="914400"/>
                        </a:cubicBezTo>
                        <a:cubicBezTo>
                          <a:pt x="68535" y="910312"/>
                          <a:pt x="-10516" y="852308"/>
                          <a:pt x="0" y="761997"/>
                        </a:cubicBezTo>
                        <a:cubicBezTo>
                          <a:pt x="4194" y="607785"/>
                          <a:pt x="-47148" y="377597"/>
                          <a:pt x="0" y="152403"/>
                        </a:cubicBezTo>
                        <a:close/>
                      </a:path>
                      <a:path w="2675800" h="914400" stroke="0" extrusionOk="0">
                        <a:moveTo>
                          <a:pt x="0" y="152403"/>
                        </a:moveTo>
                        <a:cubicBezTo>
                          <a:pt x="-5457" y="64867"/>
                          <a:pt x="66695" y="577"/>
                          <a:pt x="152403" y="0"/>
                        </a:cubicBezTo>
                        <a:cubicBezTo>
                          <a:pt x="1314545" y="132882"/>
                          <a:pt x="1356168" y="-84951"/>
                          <a:pt x="2523397" y="0"/>
                        </a:cubicBezTo>
                        <a:cubicBezTo>
                          <a:pt x="2603339" y="4129"/>
                          <a:pt x="2673310" y="81994"/>
                          <a:pt x="2675800" y="152403"/>
                        </a:cubicBezTo>
                        <a:cubicBezTo>
                          <a:pt x="2684362" y="418525"/>
                          <a:pt x="2691315" y="664525"/>
                          <a:pt x="2675800" y="761997"/>
                        </a:cubicBezTo>
                        <a:cubicBezTo>
                          <a:pt x="2681932" y="846894"/>
                          <a:pt x="2608876" y="911706"/>
                          <a:pt x="2523397" y="914400"/>
                        </a:cubicBezTo>
                        <a:cubicBezTo>
                          <a:pt x="1998766" y="1002039"/>
                          <a:pt x="1106917" y="841721"/>
                          <a:pt x="152403" y="914400"/>
                        </a:cubicBezTo>
                        <a:cubicBezTo>
                          <a:pt x="67149" y="904067"/>
                          <a:pt x="-9153" y="858887"/>
                          <a:pt x="0" y="761997"/>
                        </a:cubicBezTo>
                        <a:cubicBezTo>
                          <a:pt x="46211" y="581938"/>
                          <a:pt x="39484" y="449708"/>
                          <a:pt x="0" y="15240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900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2001::001</a:t>
            </a:r>
          </a:p>
          <a:p>
            <a:r>
              <a:rPr lang="en-US" altLang="zh-CN" sz="900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2001::002</a:t>
            </a:r>
          </a:p>
          <a:p>
            <a:r>
              <a:rPr lang="en-US" altLang="zh-CN" sz="900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2001::111</a:t>
            </a:r>
            <a:br>
              <a:rPr lang="en-US" altLang="zh-CN" sz="900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</a:br>
            <a:r>
              <a:rPr lang="en-US" altLang="zh-CN" sz="900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2001::105</a:t>
            </a:r>
          </a:p>
          <a:p>
            <a:r>
              <a:rPr lang="en-US" altLang="zh-CN" sz="900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2001::012</a:t>
            </a:r>
          </a:p>
          <a:p>
            <a:r>
              <a:rPr lang="en-US" altLang="zh-CN" sz="900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2001::013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E6FBE834-D9C5-C34C-2EE4-1718DAF9B022}"/>
              </a:ext>
            </a:extLst>
          </p:cNvPr>
          <p:cNvSpPr/>
          <p:nvPr/>
        </p:nvSpPr>
        <p:spPr>
          <a:xfrm>
            <a:off x="7832194" y="1924236"/>
            <a:ext cx="767739" cy="33724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3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675800"/>
                      <a:gd name="connsiteY0" fmla="*/ 152403 h 914400"/>
                      <a:gd name="connsiteX1" fmla="*/ 152403 w 2675800"/>
                      <a:gd name="connsiteY1" fmla="*/ 0 h 914400"/>
                      <a:gd name="connsiteX2" fmla="*/ 2523397 w 2675800"/>
                      <a:gd name="connsiteY2" fmla="*/ 0 h 914400"/>
                      <a:gd name="connsiteX3" fmla="*/ 2675800 w 2675800"/>
                      <a:gd name="connsiteY3" fmla="*/ 152403 h 914400"/>
                      <a:gd name="connsiteX4" fmla="*/ 2675800 w 2675800"/>
                      <a:gd name="connsiteY4" fmla="*/ 761997 h 914400"/>
                      <a:gd name="connsiteX5" fmla="*/ 2523397 w 2675800"/>
                      <a:gd name="connsiteY5" fmla="*/ 914400 h 914400"/>
                      <a:gd name="connsiteX6" fmla="*/ 152403 w 2675800"/>
                      <a:gd name="connsiteY6" fmla="*/ 914400 h 914400"/>
                      <a:gd name="connsiteX7" fmla="*/ 0 w 2675800"/>
                      <a:gd name="connsiteY7" fmla="*/ 761997 h 914400"/>
                      <a:gd name="connsiteX8" fmla="*/ 0 w 2675800"/>
                      <a:gd name="connsiteY8" fmla="*/ 152403 h 914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675800" h="914400" fill="none" extrusionOk="0">
                        <a:moveTo>
                          <a:pt x="0" y="152403"/>
                        </a:moveTo>
                        <a:cubicBezTo>
                          <a:pt x="-5672" y="67316"/>
                          <a:pt x="71581" y="2738"/>
                          <a:pt x="152403" y="0"/>
                        </a:cubicBezTo>
                        <a:cubicBezTo>
                          <a:pt x="770154" y="130954"/>
                          <a:pt x="1817921" y="43574"/>
                          <a:pt x="2523397" y="0"/>
                        </a:cubicBezTo>
                        <a:cubicBezTo>
                          <a:pt x="2610959" y="5224"/>
                          <a:pt x="2681458" y="75164"/>
                          <a:pt x="2675800" y="152403"/>
                        </a:cubicBezTo>
                        <a:cubicBezTo>
                          <a:pt x="2641789" y="443481"/>
                          <a:pt x="2633861" y="582816"/>
                          <a:pt x="2675800" y="761997"/>
                        </a:cubicBezTo>
                        <a:cubicBezTo>
                          <a:pt x="2674577" y="846368"/>
                          <a:pt x="2600585" y="909583"/>
                          <a:pt x="2523397" y="914400"/>
                        </a:cubicBezTo>
                        <a:cubicBezTo>
                          <a:pt x="1731069" y="1069597"/>
                          <a:pt x="879653" y="1077420"/>
                          <a:pt x="152403" y="914400"/>
                        </a:cubicBezTo>
                        <a:cubicBezTo>
                          <a:pt x="68535" y="910312"/>
                          <a:pt x="-10516" y="852308"/>
                          <a:pt x="0" y="761997"/>
                        </a:cubicBezTo>
                        <a:cubicBezTo>
                          <a:pt x="4194" y="607785"/>
                          <a:pt x="-47148" y="377597"/>
                          <a:pt x="0" y="152403"/>
                        </a:cubicBezTo>
                        <a:close/>
                      </a:path>
                      <a:path w="2675800" h="914400" stroke="0" extrusionOk="0">
                        <a:moveTo>
                          <a:pt x="0" y="152403"/>
                        </a:moveTo>
                        <a:cubicBezTo>
                          <a:pt x="-5457" y="64867"/>
                          <a:pt x="66695" y="577"/>
                          <a:pt x="152403" y="0"/>
                        </a:cubicBezTo>
                        <a:cubicBezTo>
                          <a:pt x="1314545" y="132882"/>
                          <a:pt x="1356168" y="-84951"/>
                          <a:pt x="2523397" y="0"/>
                        </a:cubicBezTo>
                        <a:cubicBezTo>
                          <a:pt x="2603339" y="4129"/>
                          <a:pt x="2673310" y="81994"/>
                          <a:pt x="2675800" y="152403"/>
                        </a:cubicBezTo>
                        <a:cubicBezTo>
                          <a:pt x="2684362" y="418525"/>
                          <a:pt x="2691315" y="664525"/>
                          <a:pt x="2675800" y="761997"/>
                        </a:cubicBezTo>
                        <a:cubicBezTo>
                          <a:pt x="2681932" y="846894"/>
                          <a:pt x="2608876" y="911706"/>
                          <a:pt x="2523397" y="914400"/>
                        </a:cubicBezTo>
                        <a:cubicBezTo>
                          <a:pt x="1998766" y="1002039"/>
                          <a:pt x="1106917" y="841721"/>
                          <a:pt x="152403" y="914400"/>
                        </a:cubicBezTo>
                        <a:cubicBezTo>
                          <a:pt x="67149" y="904067"/>
                          <a:pt x="-9153" y="858887"/>
                          <a:pt x="0" y="761997"/>
                        </a:cubicBezTo>
                        <a:cubicBezTo>
                          <a:pt x="46211" y="581938"/>
                          <a:pt x="39484" y="449708"/>
                          <a:pt x="0" y="15240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900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2001::0</a:t>
            </a:r>
            <a:r>
              <a:rPr lang="zh-CN" altLang="en-US" sz="900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**</a:t>
            </a:r>
            <a:endParaRPr lang="en-US" altLang="zh-CN" sz="900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altLang="zh-CN" sz="900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2001::1</a:t>
            </a:r>
            <a:r>
              <a:rPr lang="zh-CN" altLang="en-US" sz="900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**</a:t>
            </a:r>
            <a:endParaRPr lang="en-US" altLang="zh-CN" sz="900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30" name="右箭头 29">
            <a:extLst>
              <a:ext uri="{FF2B5EF4-FFF2-40B4-BE49-F238E27FC236}">
                <a16:creationId xmlns:a16="http://schemas.microsoft.com/office/drawing/2014/main" id="{4F6A970E-5A60-0C56-93E2-5422505B209F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7325139" y="2030359"/>
            <a:ext cx="375285" cy="133985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DAFF7006-1C05-A648-FE9B-7B9D6119856E}"/>
              </a:ext>
            </a:extLst>
          </p:cNvPr>
          <p:cNvGrpSpPr/>
          <p:nvPr/>
        </p:nvGrpSpPr>
        <p:grpSpPr>
          <a:xfrm>
            <a:off x="5842000" y="2661106"/>
            <a:ext cx="2366159" cy="869271"/>
            <a:chOff x="5751822" y="2860297"/>
            <a:chExt cx="2366159" cy="869271"/>
          </a:xfrm>
        </p:grpSpPr>
        <p:sp>
          <p:nvSpPr>
            <p:cNvPr id="33" name="圆角矩形 32">
              <a:extLst>
                <a:ext uri="{FF2B5EF4-FFF2-40B4-BE49-F238E27FC236}">
                  <a16:creationId xmlns:a16="http://schemas.microsoft.com/office/drawing/2014/main" id="{F594D624-7D93-17E4-C1C8-C911D9B9CAB1}"/>
                </a:ext>
              </a:extLst>
            </p:cNvPr>
            <p:cNvSpPr/>
            <p:nvPr/>
          </p:nvSpPr>
          <p:spPr>
            <a:xfrm>
              <a:off x="5751822" y="2879978"/>
              <a:ext cx="2366159" cy="844960"/>
            </a:xfrm>
            <a:prstGeom prst="round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900" b="1" dirty="0">
                  <a:latin typeface="Times New Roman Bold" panose="02020603050405020304" charset="0"/>
                  <a:cs typeface="Times New Roman Bold" panose="02020603050405020304" charset="0"/>
                </a:rPr>
                <a:t>5. Investigate</a:t>
              </a:r>
            </a:p>
          </p:txBody>
        </p:sp>
        <p:cxnSp>
          <p:nvCxnSpPr>
            <p:cNvPr id="34" name="直线连接符 33">
              <a:extLst>
                <a:ext uri="{FF2B5EF4-FFF2-40B4-BE49-F238E27FC236}">
                  <a16:creationId xmlns:a16="http://schemas.microsoft.com/office/drawing/2014/main" id="{87B20B7F-E0F5-175B-5BE6-7C917F196730}"/>
                </a:ext>
              </a:extLst>
            </p:cNvPr>
            <p:cNvCxnSpPr>
              <a:cxnSpLocks/>
            </p:cNvCxnSpPr>
            <p:nvPr/>
          </p:nvCxnSpPr>
          <p:spPr>
            <a:xfrm>
              <a:off x="5751822" y="3072765"/>
              <a:ext cx="2347301" cy="88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95C14B7F-C571-D1F3-84D4-2493FADE8409}"/>
                </a:ext>
              </a:extLst>
            </p:cNvPr>
            <p:cNvSpPr txBox="1"/>
            <p:nvPr/>
          </p:nvSpPr>
          <p:spPr>
            <a:xfrm>
              <a:off x="6490283" y="2860297"/>
              <a:ext cx="101118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900" b="1" dirty="0">
                  <a:latin typeface="Times New Roman Bold" panose="02020603050405020304" charset="0"/>
                  <a:cs typeface="Times New Roman Bold" panose="02020603050405020304" charset="0"/>
                </a:rPr>
                <a:t>2. </a:t>
              </a:r>
              <a:r>
                <a:rPr lang="zh-CN" altLang="en-US" sz="900" b="1" dirty="0">
                  <a:latin typeface="Times New Roman Bold" panose="02020603050405020304" charset="0"/>
                  <a:cs typeface="Times New Roman Bold" panose="02020603050405020304" charset="0"/>
                </a:rPr>
                <a:t>目标前缀选择</a:t>
              </a:r>
              <a:endParaRPr lang="en-US" altLang="zh-CN" sz="900" b="1" dirty="0"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sp>
          <p:nvSpPr>
            <p:cNvPr id="37" name="AutoShape 2">
              <a:extLst>
                <a:ext uri="{FF2B5EF4-FFF2-40B4-BE49-F238E27FC236}">
                  <a16:creationId xmlns:a16="http://schemas.microsoft.com/office/drawing/2014/main" id="{4A460B2E-72A2-5539-1300-95FC9976F86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43600" y="327660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6FA082DD-8880-8629-9CE4-77943E1AD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51592" y="3119726"/>
              <a:ext cx="379449" cy="379449"/>
            </a:xfrm>
            <a:prstGeom prst="rect">
              <a:avLst/>
            </a:prstGeom>
          </p:spPr>
        </p:pic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E060ACD1-CCCF-7C83-226B-6C76027B7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63387" y="3076848"/>
              <a:ext cx="462081" cy="462081"/>
            </a:xfrm>
            <a:prstGeom prst="rect">
              <a:avLst/>
            </a:prstGeom>
          </p:spPr>
        </p:pic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8631DD64-67AF-A871-F8E8-965D97085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0863" y="3107236"/>
              <a:ext cx="406400" cy="406400"/>
            </a:xfrm>
            <a:prstGeom prst="rect">
              <a:avLst/>
            </a:prstGeom>
          </p:spPr>
        </p:pic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E44DD20E-78A0-206E-00FA-2D20EA942B60}"/>
                </a:ext>
              </a:extLst>
            </p:cNvPr>
            <p:cNvSpPr txBox="1"/>
            <p:nvPr/>
          </p:nvSpPr>
          <p:spPr>
            <a:xfrm>
              <a:off x="5834803" y="3497886"/>
              <a:ext cx="60492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Top</a:t>
              </a:r>
              <a:r>
                <a:rPr lang="zh-CN" alt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ASN</a:t>
              </a:r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0CD6EF1A-782F-54E1-F17B-43427B1691B2}"/>
                </a:ext>
              </a:extLst>
            </p:cNvPr>
            <p:cNvSpPr txBox="1"/>
            <p:nvPr/>
          </p:nvSpPr>
          <p:spPr>
            <a:xfrm>
              <a:off x="6591924" y="3509131"/>
              <a:ext cx="60492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业务流量</a:t>
              </a:r>
              <a:endParaRPr lang="en-US" altLang="zh-CN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B9765A7A-C4F7-3584-A4B0-306EF482BB16}"/>
                </a:ext>
              </a:extLst>
            </p:cNvPr>
            <p:cNvSpPr txBox="1"/>
            <p:nvPr/>
          </p:nvSpPr>
          <p:spPr>
            <a:xfrm>
              <a:off x="7296190" y="3514124"/>
              <a:ext cx="73988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未覆盖前缀</a:t>
              </a:r>
              <a:endParaRPr lang="en-US" altLang="zh-CN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80A6CD02-D6AA-9C30-C6A3-3E12A5FF0AED}"/>
              </a:ext>
            </a:extLst>
          </p:cNvPr>
          <p:cNvGrpSpPr/>
          <p:nvPr/>
        </p:nvGrpSpPr>
        <p:grpSpPr>
          <a:xfrm>
            <a:off x="5692516" y="4547247"/>
            <a:ext cx="3780291" cy="749194"/>
            <a:chOff x="5692516" y="4547247"/>
            <a:chExt cx="3780291" cy="749194"/>
          </a:xfrm>
        </p:grpSpPr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E656CA99-102D-6DD9-5731-46B56FF2D00D}"/>
                </a:ext>
              </a:extLst>
            </p:cNvPr>
            <p:cNvGrpSpPr/>
            <p:nvPr/>
          </p:nvGrpSpPr>
          <p:grpSpPr>
            <a:xfrm>
              <a:off x="5692516" y="4566769"/>
              <a:ext cx="3780291" cy="729672"/>
              <a:chOff x="5692516" y="4566769"/>
              <a:chExt cx="3780291" cy="729672"/>
            </a:xfrm>
          </p:grpSpPr>
          <p:grpSp>
            <p:nvGrpSpPr>
              <p:cNvPr id="151" name="组合 150">
                <a:extLst>
                  <a:ext uri="{FF2B5EF4-FFF2-40B4-BE49-F238E27FC236}">
                    <a16:creationId xmlns:a16="http://schemas.microsoft.com/office/drawing/2014/main" id="{484001CC-A04E-D095-5793-B1198C072113}"/>
                  </a:ext>
                </a:extLst>
              </p:cNvPr>
              <p:cNvGrpSpPr/>
              <p:nvPr/>
            </p:nvGrpSpPr>
            <p:grpSpPr>
              <a:xfrm>
                <a:off x="5692516" y="4566769"/>
                <a:ext cx="3780291" cy="729672"/>
                <a:chOff x="5692516" y="4566769"/>
                <a:chExt cx="3780291" cy="729672"/>
              </a:xfrm>
            </p:grpSpPr>
            <p:sp>
              <p:nvSpPr>
                <p:cNvPr id="93" name="圆角矩形 92">
                  <a:extLst>
                    <a:ext uri="{FF2B5EF4-FFF2-40B4-BE49-F238E27FC236}">
                      <a16:creationId xmlns:a16="http://schemas.microsoft.com/office/drawing/2014/main" id="{CD50D549-AB38-59F0-3C59-D4DCE2B941B2}"/>
                    </a:ext>
                  </a:extLst>
                </p:cNvPr>
                <p:cNvSpPr/>
                <p:nvPr/>
              </p:nvSpPr>
              <p:spPr>
                <a:xfrm>
                  <a:off x="5692516" y="4566769"/>
                  <a:ext cx="3780291" cy="729672"/>
                </a:xfrm>
                <a:prstGeom prst="roundRect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  <a:effectLst>
                  <a:softEdge rad="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zh-CN" sz="900" b="1" dirty="0">
                      <a:latin typeface="Times New Roman Bold" panose="02020603050405020304" charset="0"/>
                      <a:cs typeface="Times New Roman Bold" panose="02020603050405020304" charset="0"/>
                    </a:rPr>
                    <a:t>5. Investigate</a:t>
                  </a:r>
                </a:p>
              </p:txBody>
            </p:sp>
            <p:cxnSp>
              <p:nvCxnSpPr>
                <p:cNvPr id="94" name="直线连接符 93">
                  <a:extLst>
                    <a:ext uri="{FF2B5EF4-FFF2-40B4-BE49-F238E27FC236}">
                      <a16:creationId xmlns:a16="http://schemas.microsoft.com/office/drawing/2014/main" id="{F681D3F3-250B-1DBB-6962-5BD4E98A93D9}"/>
                    </a:ext>
                  </a:extLst>
                </p:cNvPr>
                <p:cNvCxnSpPr/>
                <p:nvPr/>
              </p:nvCxnSpPr>
              <p:spPr>
                <a:xfrm>
                  <a:off x="5692516" y="4774771"/>
                  <a:ext cx="3780291" cy="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8" name="圆角矩形 97">
                <a:extLst>
                  <a:ext uri="{FF2B5EF4-FFF2-40B4-BE49-F238E27FC236}">
                    <a16:creationId xmlns:a16="http://schemas.microsoft.com/office/drawing/2014/main" id="{5A62FF6D-B784-8194-52D1-4364F7B320E9}"/>
                  </a:ext>
                </a:extLst>
              </p:cNvPr>
              <p:cNvSpPr/>
              <p:nvPr/>
            </p:nvSpPr>
            <p:spPr>
              <a:xfrm>
                <a:off x="5934584" y="4866026"/>
                <a:ext cx="1219740" cy="290190"/>
              </a:xfrm>
              <a:prstGeom prst="round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地址选择和收敛</a:t>
                </a:r>
              </a:p>
            </p:txBody>
          </p:sp>
          <p:sp>
            <p:nvSpPr>
              <p:cNvPr id="99" name="圆角矩形 98">
                <a:extLst>
                  <a:ext uri="{FF2B5EF4-FFF2-40B4-BE49-F238E27FC236}">
                    <a16:creationId xmlns:a16="http://schemas.microsoft.com/office/drawing/2014/main" id="{44595456-831C-0E96-0CA5-98AF9939BD28}"/>
                  </a:ext>
                </a:extLst>
              </p:cNvPr>
              <p:cNvSpPr/>
              <p:nvPr/>
            </p:nvSpPr>
            <p:spPr>
              <a:xfrm>
                <a:off x="7963458" y="4878643"/>
                <a:ext cx="1219740" cy="290190"/>
              </a:xfrm>
              <a:prstGeom prst="round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互联网持续探测</a:t>
                </a:r>
              </a:p>
            </p:txBody>
          </p:sp>
          <p:sp>
            <p:nvSpPr>
              <p:cNvPr id="148" name="右箭头 147">
                <a:extLst>
                  <a:ext uri="{FF2B5EF4-FFF2-40B4-BE49-F238E27FC236}">
                    <a16:creationId xmlns:a16="http://schemas.microsoft.com/office/drawing/2014/main" id="{67546B47-242C-6C79-ACCC-2F7217EEFB9D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7359951" y="4946443"/>
                <a:ext cx="375285" cy="133985"/>
              </a:xfrm>
              <a:prstGeom prst="rightArrow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900" dirty="0"/>
              </a:p>
            </p:txBody>
          </p:sp>
        </p:grp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5EA63E3A-85C9-51E9-C399-3DF6444DD107}"/>
                </a:ext>
              </a:extLst>
            </p:cNvPr>
            <p:cNvSpPr txBox="1"/>
            <p:nvPr/>
          </p:nvSpPr>
          <p:spPr>
            <a:xfrm>
              <a:off x="6991800" y="4547247"/>
              <a:ext cx="109819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900" b="1" dirty="0">
                  <a:latin typeface="Times New Roman Bold" panose="02020603050405020304" charset="0"/>
                  <a:cs typeface="Times New Roman Bold" panose="02020603050405020304" charset="0"/>
                </a:rPr>
                <a:t>4. </a:t>
              </a:r>
              <a:r>
                <a:rPr lang="zh-CN" altLang="en-US" sz="900" b="1" dirty="0">
                  <a:latin typeface="Times New Roman Bold" panose="02020603050405020304" charset="0"/>
                  <a:cs typeface="Times New Roman Bold" panose="02020603050405020304" charset="0"/>
                </a:rPr>
                <a:t>互联网性能测量</a:t>
              </a:r>
              <a:endParaRPr lang="en-US" altLang="zh-CN" sz="900" b="1" dirty="0"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FBB93874-169A-ED7B-6D78-EB748F7CF5AB}"/>
              </a:ext>
            </a:extLst>
          </p:cNvPr>
          <p:cNvGrpSpPr/>
          <p:nvPr/>
        </p:nvGrpSpPr>
        <p:grpSpPr>
          <a:xfrm>
            <a:off x="5692140" y="3617847"/>
            <a:ext cx="3787775" cy="879283"/>
            <a:chOff x="5692140" y="3753136"/>
            <a:chExt cx="3787775" cy="879283"/>
          </a:xfrm>
        </p:grpSpPr>
        <p:sp>
          <p:nvSpPr>
            <p:cNvPr id="58" name="圆角矩形 57">
              <a:extLst>
                <a:ext uri="{FF2B5EF4-FFF2-40B4-BE49-F238E27FC236}">
                  <a16:creationId xmlns:a16="http://schemas.microsoft.com/office/drawing/2014/main" id="{16283BBC-E3CA-5CA2-93E1-29B7C8F937B9}"/>
                </a:ext>
              </a:extLst>
            </p:cNvPr>
            <p:cNvSpPr/>
            <p:nvPr/>
          </p:nvSpPr>
          <p:spPr>
            <a:xfrm>
              <a:off x="5699624" y="3756276"/>
              <a:ext cx="3780291" cy="844076"/>
            </a:xfrm>
            <a:prstGeom prst="round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增量学习历史信息</a:t>
              </a:r>
              <a:endPara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660D44DF-A261-517E-C4E8-FCABA89AB3EC}"/>
                </a:ext>
              </a:extLst>
            </p:cNvPr>
            <p:cNvGrpSpPr/>
            <p:nvPr/>
          </p:nvGrpSpPr>
          <p:grpSpPr>
            <a:xfrm>
              <a:off x="5823281" y="4008130"/>
              <a:ext cx="1006449" cy="428317"/>
              <a:chOff x="5975069" y="4598971"/>
              <a:chExt cx="1006449" cy="428317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9EF7224A-641D-D2DE-531B-B779CFEF13F2}"/>
                  </a:ext>
                </a:extLst>
              </p:cNvPr>
              <p:cNvSpPr/>
              <p:nvPr/>
            </p:nvSpPr>
            <p:spPr>
              <a:xfrm>
                <a:off x="5975069" y="4598971"/>
                <a:ext cx="1005226" cy="1463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7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2001::/32, 20251210</a:t>
                </a:r>
                <a:endParaRPr kumimoji="1" lang="zh-CN" altLang="en-US" sz="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08B07647-8DC3-090C-2E54-F02E65CF498A}"/>
                  </a:ext>
                </a:extLst>
              </p:cNvPr>
              <p:cNvSpPr/>
              <p:nvPr/>
            </p:nvSpPr>
            <p:spPr>
              <a:xfrm>
                <a:off x="5976292" y="4731385"/>
                <a:ext cx="1005226" cy="1463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7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2001::/32, 202512xx</a:t>
                </a:r>
                <a:endParaRPr kumimoji="1" lang="zh-CN" altLang="en-US" sz="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E9CEF213-705F-76BC-84D7-75F78C085EAF}"/>
                  </a:ext>
                </a:extLst>
              </p:cNvPr>
              <p:cNvSpPr/>
              <p:nvPr/>
            </p:nvSpPr>
            <p:spPr>
              <a:xfrm>
                <a:off x="5975337" y="4880924"/>
                <a:ext cx="1005226" cy="1463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7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2001::/32, 20251215</a:t>
                </a:r>
                <a:endParaRPr kumimoji="1" lang="zh-CN" altLang="en-US" sz="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115" name="图片 114">
              <a:extLst>
                <a:ext uri="{FF2B5EF4-FFF2-40B4-BE49-F238E27FC236}">
                  <a16:creationId xmlns:a16="http://schemas.microsoft.com/office/drawing/2014/main" id="{F24FF5F8-E30C-68D3-5C2B-4F4040AAE6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630445" y="4015152"/>
              <a:ext cx="602507" cy="404314"/>
            </a:xfrm>
            <a:prstGeom prst="rect">
              <a:avLst/>
            </a:prstGeom>
          </p:spPr>
        </p:pic>
        <p:pic>
          <p:nvPicPr>
            <p:cNvPr id="116" name="图片 115">
              <a:extLst>
                <a:ext uri="{FF2B5EF4-FFF2-40B4-BE49-F238E27FC236}">
                  <a16:creationId xmlns:a16="http://schemas.microsoft.com/office/drawing/2014/main" id="{780C09F2-594F-A8B0-4FC0-C8800CCAC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7387094" y="4012860"/>
              <a:ext cx="637285" cy="378102"/>
            </a:xfrm>
            <a:prstGeom prst="rect">
              <a:avLst/>
            </a:prstGeom>
          </p:spPr>
        </p:pic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F2EE955D-FEED-5895-F485-6A38D8987CC8}"/>
                </a:ext>
              </a:extLst>
            </p:cNvPr>
            <p:cNvSpPr txBox="1"/>
            <p:nvPr/>
          </p:nvSpPr>
          <p:spPr>
            <a:xfrm>
              <a:off x="5811107" y="4416975"/>
              <a:ext cx="105494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增量学习历史信息</a:t>
              </a:r>
              <a:endParaRPr lang="en-US" altLang="zh-CN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8AD92275-057B-6671-023C-AAFF59CB59D0}"/>
                </a:ext>
              </a:extLst>
            </p:cNvPr>
            <p:cNvSpPr txBox="1"/>
            <p:nvPr/>
          </p:nvSpPr>
          <p:spPr>
            <a:xfrm>
              <a:off x="7311804" y="4416975"/>
              <a:ext cx="105494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目标地址生成</a:t>
              </a:r>
              <a:endParaRPr lang="en-US" altLang="zh-CN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右箭头 119">
              <a:extLst>
                <a:ext uri="{FF2B5EF4-FFF2-40B4-BE49-F238E27FC236}">
                  <a16:creationId xmlns:a16="http://schemas.microsoft.com/office/drawing/2014/main" id="{A5F0D6C6-680C-4FCE-7CEE-4FC17E2E4774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8113289" y="4175947"/>
              <a:ext cx="375285" cy="133985"/>
            </a:xfrm>
            <a:prstGeom prst="rightArrow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 dirty="0"/>
            </a:p>
          </p:txBody>
        </p:sp>
        <p:sp>
          <p:nvSpPr>
            <p:cNvPr id="121" name="右箭头 120">
              <a:extLst>
                <a:ext uri="{FF2B5EF4-FFF2-40B4-BE49-F238E27FC236}">
                  <a16:creationId xmlns:a16="http://schemas.microsoft.com/office/drawing/2014/main" id="{D6DAAFFB-5DD3-3D30-18D5-FF3E82829B0F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6911043" y="4175947"/>
              <a:ext cx="375285" cy="133985"/>
            </a:xfrm>
            <a:prstGeom prst="rightArrow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 dirty="0"/>
            </a:p>
          </p:txBody>
        </p:sp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A6DA37C3-B506-E7B8-D456-9B30237ABCDB}"/>
                </a:ext>
              </a:extLst>
            </p:cNvPr>
            <p:cNvSpPr txBox="1"/>
            <p:nvPr/>
          </p:nvSpPr>
          <p:spPr>
            <a:xfrm>
              <a:off x="6948841" y="3753136"/>
              <a:ext cx="101118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900" b="1" dirty="0">
                  <a:latin typeface="Times New Roman Bold" panose="02020603050405020304" charset="0"/>
                  <a:cs typeface="Times New Roman Bold" panose="02020603050405020304" charset="0"/>
                </a:rPr>
                <a:t>3. </a:t>
              </a:r>
              <a:r>
                <a:rPr lang="zh-CN" altLang="en-US" sz="900" b="1" dirty="0">
                  <a:latin typeface="Times New Roman Bold" panose="02020603050405020304" charset="0"/>
                  <a:cs typeface="Times New Roman Bold" panose="02020603050405020304" charset="0"/>
                </a:rPr>
                <a:t>活跃地址探索</a:t>
              </a:r>
              <a:endParaRPr lang="en-US" altLang="zh-CN" sz="900" b="1" dirty="0"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cxnSp>
          <p:nvCxnSpPr>
            <p:cNvPr id="59" name="直线连接符 58">
              <a:extLst>
                <a:ext uri="{FF2B5EF4-FFF2-40B4-BE49-F238E27FC236}">
                  <a16:creationId xmlns:a16="http://schemas.microsoft.com/office/drawing/2014/main" id="{39FC3389-3600-0805-811F-46D304F91E4E}"/>
                </a:ext>
              </a:extLst>
            </p:cNvPr>
            <p:cNvCxnSpPr>
              <a:cxnSpLocks/>
            </p:cNvCxnSpPr>
            <p:nvPr/>
          </p:nvCxnSpPr>
          <p:spPr>
            <a:xfrm>
              <a:off x="5692140" y="3958706"/>
              <a:ext cx="3780291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9" name="文本框 118">
            <a:extLst>
              <a:ext uri="{FF2B5EF4-FFF2-40B4-BE49-F238E27FC236}">
                <a16:creationId xmlns:a16="http://schemas.microsoft.com/office/drawing/2014/main" id="{A95444ED-75F8-60AA-C9FF-C93D348ED51C}"/>
              </a:ext>
            </a:extLst>
          </p:cNvPr>
          <p:cNvSpPr txBox="1"/>
          <p:nvPr/>
        </p:nvSpPr>
        <p:spPr>
          <a:xfrm>
            <a:off x="8493678" y="4273706"/>
            <a:ext cx="10549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可达性探测</a:t>
            </a:r>
            <a:endParaRPr lang="en-US" altLang="zh-CN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圆角矩形 166">
            <a:extLst>
              <a:ext uri="{FF2B5EF4-FFF2-40B4-BE49-F238E27FC236}">
                <a16:creationId xmlns:a16="http://schemas.microsoft.com/office/drawing/2014/main" id="{E5B07A99-7D67-7C74-42BA-216243B12A62}"/>
              </a:ext>
            </a:extLst>
          </p:cNvPr>
          <p:cNvSpPr/>
          <p:nvPr/>
        </p:nvSpPr>
        <p:spPr>
          <a:xfrm>
            <a:off x="5707703" y="5360630"/>
            <a:ext cx="3780291" cy="1280379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900" b="1" dirty="0">
                <a:latin typeface="Times New Roman Bold" panose="02020603050405020304" charset="0"/>
                <a:cs typeface="Times New Roman Bold" panose="02020603050405020304" charset="0"/>
              </a:rPr>
              <a:t>5. Investigate</a:t>
            </a:r>
          </a:p>
        </p:txBody>
      </p:sp>
      <p:cxnSp>
        <p:nvCxnSpPr>
          <p:cNvPr id="170" name="直线连接符 169">
            <a:extLst>
              <a:ext uri="{FF2B5EF4-FFF2-40B4-BE49-F238E27FC236}">
                <a16:creationId xmlns:a16="http://schemas.microsoft.com/office/drawing/2014/main" id="{5B92CC1F-B4AE-D00F-4145-7353B1D86A9F}"/>
              </a:ext>
            </a:extLst>
          </p:cNvPr>
          <p:cNvCxnSpPr>
            <a:cxnSpLocks/>
          </p:cNvCxnSpPr>
          <p:nvPr/>
        </p:nvCxnSpPr>
        <p:spPr>
          <a:xfrm>
            <a:off x="5707703" y="5568633"/>
            <a:ext cx="378029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文本框 156">
            <a:extLst>
              <a:ext uri="{FF2B5EF4-FFF2-40B4-BE49-F238E27FC236}">
                <a16:creationId xmlns:a16="http://schemas.microsoft.com/office/drawing/2014/main" id="{54295286-4AF3-2A81-C8F5-065CC1BA3125}"/>
              </a:ext>
            </a:extLst>
          </p:cNvPr>
          <p:cNvSpPr txBox="1"/>
          <p:nvPr/>
        </p:nvSpPr>
        <p:spPr>
          <a:xfrm>
            <a:off x="6941337" y="5346373"/>
            <a:ext cx="143606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 Bold" panose="02020603050405020304" charset="0"/>
                <a:cs typeface="Times New Roman Bold" panose="02020603050405020304" charset="0"/>
              </a:rPr>
              <a:t>5. </a:t>
            </a:r>
            <a:r>
              <a:rPr lang="zh-CN" altLang="en-US" sz="900" b="1" dirty="0">
                <a:latin typeface="Times New Roman Bold" panose="02020603050405020304" charset="0"/>
                <a:cs typeface="Times New Roman Bold" panose="02020603050405020304" charset="0"/>
              </a:rPr>
              <a:t>异常检测和故障分析</a:t>
            </a:r>
            <a:endParaRPr lang="en-US" altLang="zh-CN" sz="900" b="1" dirty="0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pic>
        <p:nvPicPr>
          <p:cNvPr id="90" name="图片 89">
            <a:extLst>
              <a:ext uri="{FF2B5EF4-FFF2-40B4-BE49-F238E27FC236}">
                <a16:creationId xmlns:a16="http://schemas.microsoft.com/office/drawing/2014/main" id="{C04EA1DE-1958-1EBF-8F46-D32FB19BB733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7247950" y="5622200"/>
            <a:ext cx="2105962" cy="920509"/>
          </a:xfrm>
          <a:prstGeom prst="rect">
            <a:avLst/>
          </a:prstGeom>
        </p:spPr>
      </p:pic>
      <p:pic>
        <p:nvPicPr>
          <p:cNvPr id="91" name="图片 90">
            <a:extLst>
              <a:ext uri="{FF2B5EF4-FFF2-40B4-BE49-F238E27FC236}">
                <a16:creationId xmlns:a16="http://schemas.microsoft.com/office/drawing/2014/main" id="{79BDBA7E-CA55-5B9B-B74D-15C8575D7F72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5838824" y="5612374"/>
            <a:ext cx="1341272" cy="1008123"/>
          </a:xfrm>
          <a:prstGeom prst="rect">
            <a:avLst/>
          </a:prstGeom>
        </p:spPr>
      </p:pic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88FA4ACF-6BC9-FADB-46A1-F8FD2079B901}"/>
              </a:ext>
            </a:extLst>
          </p:cNvPr>
          <p:cNvGrpSpPr/>
          <p:nvPr/>
        </p:nvGrpSpPr>
        <p:grpSpPr>
          <a:xfrm>
            <a:off x="8535421" y="2681500"/>
            <a:ext cx="762826" cy="854393"/>
            <a:chOff x="8578910" y="2675340"/>
            <a:chExt cx="762826" cy="854393"/>
          </a:xfrm>
        </p:grpSpPr>
        <p:sp>
          <p:nvSpPr>
            <p:cNvPr id="50" name="圆角矩形 49">
              <a:extLst>
                <a:ext uri="{FF2B5EF4-FFF2-40B4-BE49-F238E27FC236}">
                  <a16:creationId xmlns:a16="http://schemas.microsoft.com/office/drawing/2014/main" id="{2BA4DCED-828E-AE9A-67EB-9F7321B4F00D}"/>
                </a:ext>
              </a:extLst>
            </p:cNvPr>
            <p:cNvSpPr/>
            <p:nvPr/>
          </p:nvSpPr>
          <p:spPr>
            <a:xfrm>
              <a:off x="8579664" y="2680149"/>
              <a:ext cx="732463" cy="849584"/>
            </a:xfrm>
            <a:prstGeom prst="round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900" b="1" dirty="0">
                  <a:latin typeface="Times New Roman Bold" panose="02020603050405020304" charset="0"/>
                  <a:cs typeface="Times New Roman Bold" panose="02020603050405020304" charset="0"/>
                </a:rPr>
                <a:t>5. Investigate</a:t>
              </a:r>
            </a:p>
          </p:txBody>
        </p:sp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EEDD6B83-83E7-5ABF-DB5C-336455EA04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63316" y="3003569"/>
              <a:ext cx="406400" cy="406400"/>
            </a:xfrm>
            <a:prstGeom prst="rect">
              <a:avLst/>
            </a:prstGeom>
          </p:spPr>
        </p:pic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80BA0F25-E784-A920-5737-D6A343C01680}"/>
                </a:ext>
              </a:extLst>
            </p:cNvPr>
            <p:cNvSpPr txBox="1"/>
            <p:nvPr/>
          </p:nvSpPr>
          <p:spPr>
            <a:xfrm>
              <a:off x="8578910" y="2675340"/>
              <a:ext cx="76282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900" b="1" dirty="0">
                  <a:latin typeface="Times New Roman Bold" panose="02020603050405020304" charset="0"/>
                  <a:cs typeface="Times New Roman Bold" panose="02020603050405020304" charset="0"/>
                </a:rPr>
                <a:t>3. </a:t>
              </a:r>
              <a:r>
                <a:rPr lang="zh-CN" altLang="en-US" sz="900" b="1" dirty="0">
                  <a:latin typeface="Times New Roman Bold" panose="02020603050405020304" charset="0"/>
                  <a:cs typeface="Times New Roman Bold" panose="02020603050405020304" charset="0"/>
                </a:rPr>
                <a:t>模式迁移</a:t>
              </a:r>
              <a:endParaRPr lang="en-US" altLang="zh-CN" sz="900" b="1" dirty="0"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cxnSp>
          <p:nvCxnSpPr>
            <p:cNvPr id="51" name="直线连接符 50">
              <a:extLst>
                <a:ext uri="{FF2B5EF4-FFF2-40B4-BE49-F238E27FC236}">
                  <a16:creationId xmlns:a16="http://schemas.microsoft.com/office/drawing/2014/main" id="{33F6C72C-F827-0A7D-A4C1-14F461D2E42C}"/>
                </a:ext>
              </a:extLst>
            </p:cNvPr>
            <p:cNvCxnSpPr/>
            <p:nvPr/>
          </p:nvCxnSpPr>
          <p:spPr>
            <a:xfrm>
              <a:off x="8588408" y="2895284"/>
              <a:ext cx="73246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8" name="图片 177">
            <a:extLst>
              <a:ext uri="{FF2B5EF4-FFF2-40B4-BE49-F238E27FC236}">
                <a16:creationId xmlns:a16="http://schemas.microsoft.com/office/drawing/2014/main" id="{3EA505D8-A01B-4AC0-8E02-283A70E8F81A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423" y="3020989"/>
            <a:ext cx="431800" cy="2260600"/>
          </a:xfrm>
          <a:prstGeom prst="rect">
            <a:avLst/>
          </a:prstGeom>
        </p:spPr>
      </p:pic>
      <p:sp>
        <p:nvSpPr>
          <p:cNvPr id="179" name="右箭头 178">
            <a:extLst>
              <a:ext uri="{FF2B5EF4-FFF2-40B4-BE49-F238E27FC236}">
                <a16:creationId xmlns:a16="http://schemas.microsoft.com/office/drawing/2014/main" id="{730BD8DA-4889-5E9F-268E-346980C2B183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3028190" y="4019867"/>
            <a:ext cx="375285" cy="133985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1EAE2716-FDED-C191-8477-B476C5F3D79C}"/>
              </a:ext>
            </a:extLst>
          </p:cNvPr>
          <p:cNvSpPr txBox="1"/>
          <p:nvPr/>
        </p:nvSpPr>
        <p:spPr>
          <a:xfrm>
            <a:off x="2519712" y="3510125"/>
            <a:ext cx="6049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DNS</a:t>
            </a:r>
            <a:r>
              <a:rPr lang="zh-CN" alt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解析</a:t>
            </a:r>
            <a:endParaRPr lang="en-US" altLang="zh-CN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A4097976-6606-3FFD-14C8-915BF63306FB}"/>
              </a:ext>
            </a:extLst>
          </p:cNvPr>
          <p:cNvSpPr txBox="1"/>
          <p:nvPr/>
        </p:nvSpPr>
        <p:spPr>
          <a:xfrm>
            <a:off x="2436403" y="4313814"/>
            <a:ext cx="85081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开源数据下载</a:t>
            </a:r>
            <a:endParaRPr lang="en-US" altLang="zh-CN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D460D13A-D9B3-D16F-8B81-5BD2E5AF26EF}"/>
              </a:ext>
            </a:extLst>
          </p:cNvPr>
          <p:cNvSpPr txBox="1"/>
          <p:nvPr/>
        </p:nvSpPr>
        <p:spPr>
          <a:xfrm>
            <a:off x="2394035" y="5172823"/>
            <a:ext cx="85081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业务流量测量</a:t>
            </a:r>
            <a:endParaRPr lang="en-US" altLang="zh-CN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3" name="右箭头 182">
            <a:extLst>
              <a:ext uri="{FF2B5EF4-FFF2-40B4-BE49-F238E27FC236}">
                <a16:creationId xmlns:a16="http://schemas.microsoft.com/office/drawing/2014/main" id="{755B77E3-1DE8-F017-6A51-5CF96E633C62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9626600" y="4020294"/>
            <a:ext cx="375285" cy="133985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6C4A19E1-97D3-89E1-3B2E-C3AF0BBBB625}"/>
              </a:ext>
            </a:extLst>
          </p:cNvPr>
          <p:cNvSpPr txBox="1"/>
          <p:nvPr/>
        </p:nvSpPr>
        <p:spPr>
          <a:xfrm>
            <a:off x="2421667" y="6574723"/>
            <a:ext cx="29825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ASN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：不同国家的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Top3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固定网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&amp;Top3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移动网</a:t>
            </a: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92717" y="492189"/>
            <a:ext cx="645602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选题背景：相关工作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4099560" y="1684020"/>
            <a:ext cx="2548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lang="en-US" altLang="zh-CN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IPv6</a:t>
            </a:r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目标地址生成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4213225" y="2096770"/>
            <a:ext cx="6155690" cy="419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从种子地址中学习地址模式，以便生成更多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IPv6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地址进行网络探测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3019233" y="3486248"/>
            <a:ext cx="755089" cy="755089"/>
            <a:chOff x="4442416" y="1010597"/>
            <a:chExt cx="800219" cy="800219"/>
          </a:xfrm>
        </p:grpSpPr>
        <p:sp>
          <p:nvSpPr>
            <p:cNvPr id="31" name="椭圆 30"/>
            <p:cNvSpPr/>
            <p:nvPr/>
          </p:nvSpPr>
          <p:spPr>
            <a:xfrm>
              <a:off x="4442416" y="1010597"/>
              <a:ext cx="800219" cy="80021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B2B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2" name="图片 31" descr="图片包含 游戏机&#10;&#10;描述已自动生成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9349" y="1224072"/>
              <a:ext cx="416627" cy="393713"/>
            </a:xfrm>
            <a:prstGeom prst="rect">
              <a:avLst/>
            </a:prstGeom>
          </p:spPr>
        </p:pic>
      </p:grpSp>
      <p:grpSp>
        <p:nvGrpSpPr>
          <p:cNvPr id="22" name="组合 21"/>
          <p:cNvGrpSpPr/>
          <p:nvPr/>
        </p:nvGrpSpPr>
        <p:grpSpPr>
          <a:xfrm>
            <a:off x="3077653" y="1900160"/>
            <a:ext cx="755089" cy="755089"/>
            <a:chOff x="4468617" y="2323574"/>
            <a:chExt cx="800219" cy="800219"/>
          </a:xfrm>
        </p:grpSpPr>
        <p:sp>
          <p:nvSpPr>
            <p:cNvPr id="33" name="椭圆 32"/>
            <p:cNvSpPr/>
            <p:nvPr/>
          </p:nvSpPr>
          <p:spPr>
            <a:xfrm>
              <a:off x="4468617" y="2323574"/>
              <a:ext cx="800219" cy="80021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B2B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7" name="图片 36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7910" y="2491395"/>
              <a:ext cx="479503" cy="479503"/>
            </a:xfrm>
            <a:prstGeom prst="rect">
              <a:avLst/>
            </a:prstGeom>
          </p:spPr>
        </p:pic>
      </p:grpSp>
      <p:sp>
        <p:nvSpPr>
          <p:cNvPr id="34" name="椭圆 33"/>
          <p:cNvSpPr/>
          <p:nvPr/>
        </p:nvSpPr>
        <p:spPr>
          <a:xfrm>
            <a:off x="2985135" y="5018405"/>
            <a:ext cx="755015" cy="755015"/>
          </a:xfrm>
          <a:prstGeom prst="ellipse">
            <a:avLst/>
          </a:prstGeom>
          <a:solidFill>
            <a:schemeClr val="bg1"/>
          </a:solidFill>
          <a:ln w="19050">
            <a:solidFill>
              <a:srgbClr val="7B2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4099560" y="3298190"/>
            <a:ext cx="3147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二、实时网络质量探测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4099560" y="3667760"/>
            <a:ext cx="5751195" cy="789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实时探测互联网所有实体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(AS/Prefix)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，从而评价公有云网络质量，以便衡量网络性能和及时发现潜在安全问题或系统故障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4099559" y="4953000"/>
            <a:ext cx="3448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三、网络异常检测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4099560" y="5238750"/>
            <a:ext cx="6080125" cy="789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识别网络中的异常模式，对检测到的异常进行深入分析，以发现故障、路由调整和流量调度</a:t>
            </a:r>
          </a:p>
        </p:txBody>
      </p:sp>
      <p:cxnSp>
        <p:nvCxnSpPr>
          <p:cNvPr id="59" name="直接连接符 58"/>
          <p:cNvCxnSpPr/>
          <p:nvPr/>
        </p:nvCxnSpPr>
        <p:spPr>
          <a:xfrm flipH="1">
            <a:off x="3077770" y="3043069"/>
            <a:ext cx="721169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H="1">
            <a:off x="3077770" y="4626239"/>
            <a:ext cx="710184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/>
          <p:cNvSpPr/>
          <p:nvPr/>
        </p:nvSpPr>
        <p:spPr>
          <a:xfrm>
            <a:off x="3341370" y="5245100"/>
            <a:ext cx="177800" cy="178435"/>
          </a:xfrm>
          <a:prstGeom prst="ellipse">
            <a:avLst/>
          </a:prstGeom>
          <a:solidFill>
            <a:schemeClr val="bg1"/>
          </a:solidFill>
          <a:ln w="2222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连接符 6"/>
          <p:cNvCxnSpPr>
            <a:stCxn id="6" idx="3"/>
          </p:cNvCxnSpPr>
          <p:nvPr/>
        </p:nvCxnSpPr>
        <p:spPr>
          <a:xfrm flipH="1">
            <a:off x="3199130" y="5397500"/>
            <a:ext cx="168275" cy="132715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矩形 52"/>
          <p:cNvSpPr/>
          <p:nvPr>
            <p:custDataLst>
              <p:tags r:id="rId1"/>
            </p:custDataLst>
          </p:nvPr>
        </p:nvSpPr>
        <p:spPr>
          <a:xfrm>
            <a:off x="-286" y="2382319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2"/>
            </p:custDataLst>
          </p:nvPr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3"/>
            </p:custDataLst>
          </p:nvPr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4"/>
            </p:custDataLst>
          </p:nvPr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5"/>
            </p:custDataLst>
          </p:nvPr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6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7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2718" y="492189"/>
            <a:ext cx="5234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相关研究工作：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IPv6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活跃地址获取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2892424" y="1324809"/>
            <a:ext cx="191791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</a:t>
            </a: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892424" y="1662253"/>
            <a:ext cx="8257930" cy="419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高效地发现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IPv6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活跃地址，为网络探测、异常分析等下游应用提供基础。</a:t>
            </a: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892423" y="2110775"/>
            <a:ext cx="4232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相关研究工作：开放数据和被动收集</a:t>
            </a: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>
            <p:custDataLst>
              <p:tags r:id="rId6"/>
            </p:custDataLst>
          </p:nvPr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>
            <p:custDataLst>
              <p:tags r:id="rId7"/>
            </p:custDataLst>
          </p:nvPr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矩形 52"/>
          <p:cNvSpPr/>
          <p:nvPr>
            <p:custDataLst>
              <p:tags r:id="rId8"/>
            </p:custDataLst>
          </p:nvPr>
        </p:nvSpPr>
        <p:spPr>
          <a:xfrm>
            <a:off x="-286" y="2382319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9"/>
            </p:custDataLst>
          </p:nvPr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10"/>
            </p:custDataLst>
          </p:nvPr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11"/>
            </p:custDataLst>
          </p:nvPr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12"/>
            </p:custDataLst>
          </p:nvPr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13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14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C9B2F8BB-7079-E24D-CC81-A9922A2E70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951902"/>
              </p:ext>
            </p:extLst>
          </p:nvPr>
        </p:nvGraphicFramePr>
        <p:xfrm>
          <a:off x="2514959" y="2616192"/>
          <a:ext cx="9564688" cy="403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2200">
                  <a:extLst>
                    <a:ext uri="{9D8B030D-6E8A-4147-A177-3AD203B41FA5}">
                      <a16:colId xmlns:a16="http://schemas.microsoft.com/office/drawing/2014/main" val="2636843035"/>
                    </a:ext>
                  </a:extLst>
                </a:gridCol>
                <a:gridCol w="3010449">
                  <a:extLst>
                    <a:ext uri="{9D8B030D-6E8A-4147-A177-3AD203B41FA5}">
                      <a16:colId xmlns:a16="http://schemas.microsoft.com/office/drawing/2014/main" val="2006170715"/>
                    </a:ext>
                  </a:extLst>
                </a:gridCol>
                <a:gridCol w="5022039">
                  <a:extLst>
                    <a:ext uri="{9D8B030D-6E8A-4147-A177-3AD203B41FA5}">
                      <a16:colId xmlns:a16="http://schemas.microsoft.com/office/drawing/2014/main" val="3005746677"/>
                    </a:ext>
                  </a:extLst>
                </a:gridCol>
              </a:tblGrid>
              <a:tr h="2994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  <a:sym typeface="+mn-ea"/>
                        </a:rPr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工作机制</a:t>
                      </a:r>
                      <a:endParaRPr lang="zh-CN" altLang="en-US" sz="1600" dirty="0"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文献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693925"/>
                  </a:ext>
                </a:extLst>
              </a:tr>
              <a:tr h="6332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DNS 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解析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从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DNS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解析的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AAAA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记录中获取活跃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IPv6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地址</a:t>
                      </a:r>
                      <a:endParaRPr lang="zh-CN" altLang="en-US" sz="16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+mn-cs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defRPr/>
                      </a:pP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[Something from Nothing]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[In </a:t>
                      </a:r>
                      <a:r>
                        <a:rPr lang="en-US" altLang="zh-CN" sz="1600" b="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rDNS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 we trust]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、</a:t>
                      </a:r>
                      <a:endParaRPr lang="en-US" altLang="zh-CN" sz="16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buFont typeface="+mj-lt"/>
                        <a:buNone/>
                      </a:pP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[Enumerating IPv6 Address]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72164"/>
                  </a:ext>
                </a:extLst>
              </a:tr>
              <a:tr h="5172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众包平台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获取志愿者访问信息，从流量中提取活跃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IPv6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地址</a:t>
                      </a:r>
                      <a:endParaRPr lang="en-US" altLang="zh-CN" sz="16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+mn-cs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defRPr/>
                      </a:pP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[MTURK]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[IPv6 hitlist]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133555"/>
                  </a:ext>
                </a:extLst>
              </a:tr>
              <a:tr h="41450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600" b="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公开数据下载</a:t>
                      </a:r>
                      <a:endParaRPr lang="zh-CN" altLang="en-US" sz="16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600" b="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开源数据下载</a:t>
                      </a:r>
                      <a:endParaRPr lang="zh-CN" altLang="en-US" sz="16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+mn-cs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defRPr/>
                      </a:pP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[IPv6 hitlist]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123145"/>
                  </a:ext>
                </a:extLst>
              </a:tr>
              <a:tr h="51721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CDN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日志获取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从启用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IPv6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的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CDN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请求日志中提取地址</a:t>
                      </a:r>
                      <a:endParaRPr lang="zh-CN" altLang="en-US" sz="16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+mn-cs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defRPr/>
                      </a:pP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[Temporal and Spatial Classification of Active IPv6 Addresses]</a:t>
                      </a:r>
                      <a:endParaRPr lang="zh-CN" altLang="en-US" sz="16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6188247"/>
                  </a:ext>
                </a:extLst>
              </a:tr>
              <a:tr h="5172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IXP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提取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从互联网交换节点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IXP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流量中提取地址</a:t>
                      </a:r>
                      <a:endParaRPr lang="zh-CN" altLang="en-US" sz="16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+mn-cs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[Scanning the IPv6 Internet]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388061"/>
                  </a:ext>
                </a:extLst>
              </a:tr>
              <a:tr h="51721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NTP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服务器获取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从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NTP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的用户请求记录中提取地址</a:t>
                      </a:r>
                      <a:endParaRPr lang="zh-CN" altLang="en-US" sz="16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+mn-cs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[IPv6 Hitlists at Scale]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524243"/>
                  </a:ext>
                </a:extLst>
              </a:tr>
              <a:tr h="29943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HTTP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请求获取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 </a:t>
                      </a:r>
                      <a:endParaRPr lang="zh-CN" altLang="en-US" sz="16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+mn-cs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从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HTTP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请求中获取客户端地址</a:t>
                      </a:r>
                      <a:endParaRPr lang="zh-CN" altLang="en-US" sz="16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+mn-cs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[Towards a user-level]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58426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2718" y="492189"/>
            <a:ext cx="523401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相关研究工作：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IPv6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目标地址生成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893871" y="1496535"/>
            <a:ext cx="8475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相关研究工作：基于种子的目标地址生成方法（</a:t>
            </a:r>
            <a:r>
              <a:rPr lang="en-US" altLang="zh-CN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Generation</a:t>
            </a:r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Algorithms</a:t>
            </a:r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997200" y="1868170"/>
            <a:ext cx="9195435" cy="425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基于统计学习方法</a:t>
            </a:r>
          </a:p>
          <a:p>
            <a:pPr marL="285750"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基于密度的方法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通过</a:t>
            </a:r>
            <a:r>
              <a:rPr lang="zh-CN" altLang="en-US" sz="1400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分析种子地址的密度分布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，优先在高密度区域生成目标地址。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[On reconnaissance with IPv6]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递归检测密集区域，而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6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Gen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通过自下而上聚类提高命中率。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DET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通过引入最小熵分裂来优化搜索空间，实现了更高的命中率，而</a:t>
            </a:r>
            <a:r>
              <a:rPr lang="en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AddrMiner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-S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通过强化学习反馈进一步增强了这一过程。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基于结构的方法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关注种子地址</a:t>
            </a:r>
            <a:r>
              <a:rPr lang="zh-CN" altLang="en-US" sz="1400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内部的统计关系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。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Entropy/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IP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模型使用熵度量来处理变异性，以揭示网络中的潜在结构模式。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marR="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基于层次结构的方法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将种子地址划分为</a:t>
            </a:r>
            <a:r>
              <a:rPr lang="zh-CN" altLang="en-US" sz="1400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子网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，并构造层次树来指导地址生成。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6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Tree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采用自顶向下聚类构建树，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6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Hit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采用强化学习优化生成策略。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6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Scan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通过在树节点中编码区域标识符来加快探测速度。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6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Graph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和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6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Forest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处理异常值以提高准确性和稳定性，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6</a:t>
            </a:r>
            <a:r>
              <a:rPr lang="en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Loda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进一步优化了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6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Forest</a:t>
            </a:r>
            <a:r>
              <a:rPr lang="zh-CN" alt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基于深度学习的方法</a:t>
            </a:r>
          </a:p>
          <a:p>
            <a:pPr marL="285750" marR="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这些方法旨在对种子地址的分布进行建模，并使用学习的细粒度特征来生成目标地址。</a:t>
            </a:r>
          </a:p>
          <a:p>
            <a:pPr marL="285750" marR="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6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GAN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利用熵聚类进行细粒度分类，将生成对抗网络（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GAN</a:t>
            </a:r>
            <a:r>
              <a:rPr lang="zh-CN" alt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）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与强化学习相结合进行训练。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6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Sense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使用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LSTM[37]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学习地址的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/64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前缀。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6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Vision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采用图像编码来学习地址之间的关联特征。</a:t>
            </a: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>
            <p:custDataLst>
              <p:tags r:id="rId6"/>
            </p:custDataLst>
          </p:nvPr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矩形 52"/>
          <p:cNvSpPr/>
          <p:nvPr>
            <p:custDataLst>
              <p:tags r:id="rId7"/>
            </p:custDataLst>
          </p:nvPr>
        </p:nvSpPr>
        <p:spPr>
          <a:xfrm>
            <a:off x="-286" y="2382319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8"/>
            </p:custDataLst>
          </p:nvPr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9"/>
            </p:custDataLst>
          </p:nvPr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10"/>
            </p:custDataLst>
          </p:nvPr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11"/>
            </p:custDataLst>
          </p:nvPr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12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13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2718" y="492189"/>
            <a:ext cx="523401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相关研究工作：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IPv6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目标地址生成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893870" y="1496535"/>
            <a:ext cx="9067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相关研究工作：无种子前缀的目标地址生成方法（</a:t>
            </a:r>
            <a:r>
              <a:rPr lang="en-US" altLang="zh-CN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Generation</a:t>
            </a:r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Algorithms</a:t>
            </a:r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997201" y="1868170"/>
            <a:ext cx="7846204" cy="2635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AddrMiner</a:t>
            </a:r>
            <a:r>
              <a:rPr lang="e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-N</a:t>
            </a:r>
            <a:r>
              <a:rPr lang="zh-CN" alt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利用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相关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AS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地址分配模式具有相似性，利用图形社区聚类算法提取模式，然后使用</a:t>
            </a:r>
            <a:r>
              <a:rPr lang="zh-CN" altLang="en-US" sz="1600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基于</a:t>
            </a:r>
            <a:r>
              <a:rPr lang="en" altLang="zh-CN" sz="1600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WHOIS</a:t>
            </a:r>
            <a:r>
              <a:rPr lang="zh-CN" altLang="en-US" sz="1600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信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息（如组织和国家）的种子前缀匹配每个无种子前缀，以识别高度相关的迁移模式。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6Genos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假设从种子前缀中学习的模式也适用于无种子前缀，自顶向下构建通用模式家谱图，选择</a:t>
            </a:r>
            <a:r>
              <a:rPr lang="zh-CN" altLang="en-US" sz="1600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熵值更低、出现频率更高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的模式，根据家谱图进行预探测动态调整模式权重，以准确地模式迁移和高效探测。</a:t>
            </a: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>
            <p:custDataLst>
              <p:tags r:id="rId6"/>
            </p:custDataLst>
          </p:nvPr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矩形 52"/>
          <p:cNvSpPr/>
          <p:nvPr>
            <p:custDataLst>
              <p:tags r:id="rId7"/>
            </p:custDataLst>
          </p:nvPr>
        </p:nvSpPr>
        <p:spPr>
          <a:xfrm>
            <a:off x="-286" y="2382319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8"/>
            </p:custDataLst>
          </p:nvPr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9"/>
            </p:custDataLst>
          </p:nvPr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10"/>
            </p:custDataLst>
          </p:nvPr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11"/>
            </p:custDataLst>
          </p:nvPr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12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13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</p:spTree>
    <p:extLst>
      <p:ext uri="{BB962C8B-B14F-4D97-AF65-F5344CB8AC3E}">
        <p14:creationId xmlns:p14="http://schemas.microsoft.com/office/powerpoint/2010/main" val="1936463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2717" y="492189"/>
            <a:ext cx="6752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相关研究工作：网络性能探测与异常检测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2892425" y="1319254"/>
            <a:ext cx="191791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</a:t>
            </a: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891155" y="1649468"/>
            <a:ext cx="8365047" cy="701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实时网络探测的目的是通过发送与业务流量相类似的探测流量，以反映网络真实状况；根据探测的时延和丢包检测网络是否出现异常和故障</a:t>
            </a: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891155" y="2389977"/>
            <a:ext cx="191791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相关研究工作</a:t>
            </a:r>
            <a:endParaRPr lang="zh-CN" altLang="en-US" b="1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891153" y="2700904"/>
            <a:ext cx="9167495" cy="1394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网络性能探测</a:t>
            </a:r>
            <a:endParaRPr lang="en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Pingmesh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通过发送 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TCP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握手包对网络性能与 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SLA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进行监控和分析。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但是其应用场景在数据中心内部，探测目标与网络拓扑相对固定明确；相比之下，面向互联网的性能监控的</a:t>
            </a:r>
            <a:r>
              <a:rPr lang="zh-CN" altLang="en-US" sz="1400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目标与路径更动态、拓扑更复杂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矩形 20"/>
          <p:cNvSpPr/>
          <p:nvPr>
            <p:custDataLst>
              <p:tags r:id="rId6"/>
            </p:custDataLst>
          </p:nvPr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>
            <p:custDataLst>
              <p:tags r:id="rId7"/>
            </p:custDataLst>
          </p:nvPr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3" name="矩形 22"/>
          <p:cNvSpPr/>
          <p:nvPr>
            <p:custDataLst>
              <p:tags r:id="rId8"/>
            </p:custDataLst>
          </p:nvPr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矩形 52"/>
          <p:cNvSpPr/>
          <p:nvPr>
            <p:custDataLst>
              <p:tags r:id="rId9"/>
            </p:custDataLst>
          </p:nvPr>
        </p:nvSpPr>
        <p:spPr>
          <a:xfrm>
            <a:off x="-286" y="2382319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10"/>
            </p:custDataLst>
          </p:nvPr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11"/>
            </p:custDataLst>
          </p:nvPr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12"/>
            </p:custDataLst>
          </p:nvPr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13"/>
            </p:custDataLst>
          </p:nvPr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14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15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8C2237-51FA-3626-9C93-9E7A98EE9FFA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2891155" y="4144262"/>
            <a:ext cx="9167495" cy="2040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互联网探测与异常检测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BlameIt</a:t>
            </a:r>
            <a:r>
              <a:rPr lang="zh-CN" alt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首先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应用被动诊断来确定故障位置，例如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PoP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、转发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AS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、对端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AS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，而后基于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Traceroute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定位具体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AS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AAsclepius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通过控制上云、下云的主动探测路径，分别测量延迟和丢包，判断互联网故障方向。</a:t>
            </a:r>
          </a:p>
          <a:p>
            <a:pPr marL="285750"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Skyline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通过在公有云和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CDN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部署双向探测节点，更加贴合用户访问云服务的流量路径，扩大故障感知范围。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但是以上工作针对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IPv4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场景，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IPv6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探测地址</a:t>
            </a:r>
            <a:r>
              <a:rPr lang="zh-CN" altLang="en-US" sz="1400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不能通过被动测量获取长期稳定地址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</a:t>
            </a:r>
            <a:r>
              <a:rPr lang="zh-CN" altLang="en-US" sz="1400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探测包未响应也不一定源自网络异常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30518" y="3828746"/>
            <a:ext cx="25291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结论和未来方向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892717" y="492189"/>
            <a:ext cx="5348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研究内容一：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IPv6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探测目标生成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(GTA)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759887" y="1683860"/>
            <a:ext cx="191791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面临的挑战</a:t>
            </a: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759710" y="1729740"/>
            <a:ext cx="8554085" cy="48983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>
              <a:lnSpc>
                <a:spcPct val="150000"/>
              </a:lnSpc>
              <a:buNone/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种子地址、目标地址有偏：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种子地址常集中在部分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AS/Prefix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，生成的候选地址同样存在偏好，而公告的前缀逐年增加，难以满足覆盖全球互联网的探测需要。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动态生成算法运行时间长：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为提高响应率和覆盖率，动态生成算法先进行预扫描，再根据结果调整前缀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/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模式权重。然而这种“扫描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-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更新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-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再生成”的有状态方法显著拉长单次运行时间，难以满足实时性的探测需要。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>
            <p:custDataLst>
              <p:tags r:id="rId6"/>
            </p:custDataLst>
          </p:nvPr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矩形 52"/>
          <p:cNvSpPr/>
          <p:nvPr>
            <p:custDataLst>
              <p:tags r:id="rId7"/>
            </p:custDataLst>
          </p:nvPr>
        </p:nvSpPr>
        <p:spPr>
          <a:xfrm>
            <a:off x="8604" y="3034464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8"/>
            </p:custDataLst>
          </p:nvPr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9"/>
            </p:custDataLst>
          </p:nvPr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10"/>
            </p:custDataLst>
          </p:nvPr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11"/>
            </p:custDataLst>
          </p:nvPr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12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13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CDDEF58-71C7-E13F-4D9F-58590435FA1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49026" y="5356060"/>
            <a:ext cx="7327900" cy="18669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CE1EEED-4859-0DE5-C289-BCC74115CD1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29542" y="4023863"/>
            <a:ext cx="7772400" cy="1414608"/>
          </a:xfrm>
          <a:prstGeom prst="rect">
            <a:avLst/>
          </a:prstGeom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7E21635E-5729-CFAC-E27A-B12F7BF9E3D6}"/>
              </a:ext>
            </a:extLst>
          </p:cNvPr>
          <p:cNvSpPr/>
          <p:nvPr/>
        </p:nvSpPr>
        <p:spPr>
          <a:xfrm>
            <a:off x="3430022" y="4135451"/>
            <a:ext cx="4005494" cy="1149667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2718" y="492189"/>
            <a:ext cx="5559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研究内容一：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IPv6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探测目标生成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(GTA)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892602" y="1502885"/>
            <a:ext cx="191791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拟解决思路</a:t>
            </a: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892425" y="1871980"/>
            <a:ext cx="9031605" cy="3759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1. 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利用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BGP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前缀地址配置模版的相似性进行迁移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：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sym typeface="+mn-ea"/>
              </a:rPr>
              <a:t>IPv6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sym typeface="+mn-ea"/>
              </a:rPr>
              <a:t>地址的接口标识符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sym typeface="+mn-ea"/>
              </a:rPr>
              <a:t>(</a:t>
            </a:r>
            <a:r>
              <a:rPr lang="en" altLang="zh-CN" i="0" dirty="0">
                <a:solidFill>
                  <a:srgbClr val="0D1239"/>
                </a:solidFill>
                <a:effectLst/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Interface Identifier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sym typeface="+mn-ea"/>
              </a:rPr>
              <a:t>)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sym typeface="+mn-ea"/>
              </a:rPr>
              <a:t>具有通用的分配方式，不同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sym typeface="+mn-ea"/>
              </a:rPr>
              <a:t>BGP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sym typeface="+mn-ea"/>
              </a:rPr>
              <a:t>前缀的地址分配模版具有</a:t>
            </a:r>
            <a:r>
              <a:rPr lang="zh-CN" altLang="en-US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sym typeface="+mn-ea"/>
              </a:rPr>
              <a:t>相似性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sym typeface="+mn-ea"/>
              </a:rPr>
              <a:t>，从种子地址挖掘的模版可以迁移到其他前缀</a:t>
            </a:r>
          </a:p>
          <a:p>
            <a:pPr algn="just">
              <a:lnSpc>
                <a:spcPct val="150000"/>
              </a:lnSpc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2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.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解耦预扫描与正式扫描以提升效率：</a:t>
            </a: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地址候选的生成与权重更新</a:t>
            </a:r>
            <a:r>
              <a:rPr lang="zh-CN" altLang="en-US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不再在同一轮探测中完成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。系统先持续生成候选地址并执行探测，探索结果持久化；每天基于前一日的扫描数据进行离线增量学习，更新目标前缀与模式权重，并在次日用于地址生成。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>
            <p:custDataLst>
              <p:tags r:id="rId6"/>
            </p:custDataLst>
          </p:nvPr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矩形 52"/>
          <p:cNvSpPr/>
          <p:nvPr>
            <p:custDataLst>
              <p:tags r:id="rId7"/>
            </p:custDataLst>
          </p:nvPr>
        </p:nvSpPr>
        <p:spPr>
          <a:xfrm>
            <a:off x="-286" y="3035099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8"/>
            </p:custDataLst>
          </p:nvPr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9"/>
            </p:custDataLst>
          </p:nvPr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10"/>
            </p:custDataLst>
          </p:nvPr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11"/>
            </p:custDataLst>
          </p:nvPr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12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13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2718" y="492189"/>
            <a:ext cx="523401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研究内容二：网络探测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892602" y="1502885"/>
            <a:ext cx="191791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面临的挑战</a:t>
            </a: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892425" y="1974215"/>
            <a:ext cx="8345070" cy="1291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地址存活时间短：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有研究发现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，现有方法生成的地址中超过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40%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来自 </a:t>
            </a:r>
            <a:r>
              <a:rPr lang="en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ISP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网络，其</a:t>
            </a:r>
            <a:r>
              <a:rPr lang="zh-CN" altLang="en-US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可达性存活周期的中位数不足 </a:t>
            </a:r>
            <a:r>
              <a:rPr lang="en-US" altLang="zh-CN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7 </a:t>
            </a:r>
            <a:r>
              <a:rPr lang="zh-CN" altLang="en-US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天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大量</a:t>
            </a:r>
            <a:r>
              <a:rPr lang="zh-CN" altLang="en-US" sz="18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仅单次可达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地址不足以支持持续的网络质量探测。</a:t>
            </a: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>
            <p:custDataLst>
              <p:tags r:id="rId6"/>
            </p:custDataLst>
          </p:nvPr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矩形 52"/>
          <p:cNvSpPr/>
          <p:nvPr>
            <p:custDataLst>
              <p:tags r:id="rId7"/>
            </p:custDataLst>
          </p:nvPr>
        </p:nvSpPr>
        <p:spPr>
          <a:xfrm>
            <a:off x="-286" y="3034464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8"/>
            </p:custDataLst>
          </p:nvPr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9"/>
            </p:custDataLst>
          </p:nvPr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10"/>
            </p:custDataLst>
          </p:nvPr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11"/>
            </p:custDataLst>
          </p:nvPr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12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13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13667D8-B061-BBF9-DE3F-7AA76DAF611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99499" y="3813649"/>
            <a:ext cx="4197696" cy="263623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A73BAE9-223B-9BB2-5B57-766600BAACE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53421" y="3902583"/>
            <a:ext cx="4197696" cy="253884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2718" y="492189"/>
            <a:ext cx="523401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研究内容二：网络探测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892602" y="1502885"/>
            <a:ext cx="191791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面临的挑战</a:t>
            </a:r>
          </a:p>
        </p:txBody>
      </p: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>
            <p:custDataLst>
              <p:tags r:id="rId4"/>
            </p:custDataLst>
          </p:nvPr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>
            <p:custDataLst>
              <p:tags r:id="rId5"/>
            </p:custDataLst>
          </p:nvPr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矩形 52"/>
          <p:cNvSpPr/>
          <p:nvPr>
            <p:custDataLst>
              <p:tags r:id="rId6"/>
            </p:custDataLst>
          </p:nvPr>
        </p:nvSpPr>
        <p:spPr>
          <a:xfrm>
            <a:off x="-286" y="3034464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7"/>
            </p:custDataLst>
          </p:nvPr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8"/>
            </p:custDataLst>
          </p:nvPr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9"/>
            </p:custDataLst>
          </p:nvPr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10"/>
            </p:custDataLst>
          </p:nvPr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11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12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  <p:sp>
        <p:nvSpPr>
          <p:cNvPr id="4" name="文本框 3"/>
          <p:cNvSpPr txBox="1"/>
          <p:nvPr>
            <p:custDataLst>
              <p:tags r:id="rId13"/>
            </p:custDataLst>
          </p:nvPr>
        </p:nvSpPr>
        <p:spPr>
          <a:xfrm>
            <a:off x="2892602" y="1975992"/>
            <a:ext cx="9003030" cy="1291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代表性缺失：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既有研究的目标增大地址空间的发现“数量”，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但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hitlist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通常</a:t>
            </a:r>
            <a:r>
              <a:rPr lang="zh-CN" altLang="en-US" sz="18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集中在某些</a:t>
            </a:r>
            <a:r>
              <a:rPr lang="en-US" altLang="zh-CN" sz="18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AS/Prefix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，包含大量别名前缀，这些特定的活跃地址不能代表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IPv6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互联网，无法反映真实的网络状况；同时，也没有考虑地址之间的可比较性。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CC41F71-C673-AE77-DF99-72FBCE8E876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66998" y="4480256"/>
            <a:ext cx="5492052" cy="175634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9860C9E-B2EC-6F10-497F-86E26533496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64288" y="4155303"/>
            <a:ext cx="4236403" cy="217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886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2718" y="492189"/>
            <a:ext cx="523401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研究内容二：网络质量探测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892602" y="1502885"/>
            <a:ext cx="191791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拟解决思路</a:t>
            </a: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892425" y="1871980"/>
            <a:ext cx="8711565" cy="453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Tx/>
              <a:buSzTx/>
              <a:buNone/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根据</a:t>
            </a:r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实体</a:t>
            </a:r>
            <a:r>
              <a:rPr lang="en-US" altLang="zh-C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(AS/Prefix)</a:t>
            </a:r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进行地址探索，保证实体内地址数</a:t>
            </a:r>
            <a:endParaRPr lang="en-US" altLang="zh-CN" sz="1800" b="1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每个实体保持</a:t>
            </a:r>
            <a:r>
              <a:rPr lang="zh-CN" altLang="en-US" sz="18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一定数量地址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，在单一地址生命周期结束的情况下，仍然有足够地址反映实体网络质量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以实体纬度整合探测结果衡量网络质量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，减小单一地址生存周期噪声</a:t>
            </a:r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None/>
            </a:pPr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None/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利用</a:t>
            </a:r>
            <a:r>
              <a:rPr lang="zh-CN" altLang="en-US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地址属性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进行代表性评价</a:t>
            </a:r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：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优先保证</a:t>
            </a:r>
            <a:r>
              <a:rPr lang="en-US" altLang="zh-CN" sz="18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Top</a:t>
            </a:r>
            <a:r>
              <a:rPr lang="zh-CN" altLang="en-US" sz="18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lang="en-US" altLang="zh-CN" sz="18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ASN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和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NetFlow</a:t>
            </a:r>
            <a:r>
              <a:rPr lang="zh-CN" altLang="en-US" sz="18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重点网段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覆盖，使探测集合更加贴近真实用户与真实流量分布，从而让探测结果能够代表大多数用户的实际网络体验。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通过对地址进行类别识别（例如服务器、客户端），根据不同类别地址在稳定性等方面差异，调整指标计算权重，得到更加合理的网络指标。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>
            <p:custDataLst>
              <p:tags r:id="rId6"/>
            </p:custDataLst>
          </p:nvPr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矩形 52"/>
          <p:cNvSpPr/>
          <p:nvPr>
            <p:custDataLst>
              <p:tags r:id="rId7"/>
            </p:custDataLst>
          </p:nvPr>
        </p:nvSpPr>
        <p:spPr>
          <a:xfrm>
            <a:off x="-286" y="3035099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8"/>
            </p:custDataLst>
          </p:nvPr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9"/>
            </p:custDataLst>
          </p:nvPr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10"/>
            </p:custDataLst>
          </p:nvPr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11"/>
            </p:custDataLst>
          </p:nvPr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12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13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2718" y="492189"/>
            <a:ext cx="523401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研究内容三：网络异常检测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892602" y="1502885"/>
            <a:ext cx="191791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面临的挑战</a:t>
            </a: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892425" y="1974215"/>
            <a:ext cx="9003030" cy="876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延迟基准问题：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高丢包率容易被归类为网络问题，但突发对高延迟可能由于瞬时的网络拥塞，有必要过滤掉这些峰值来评估网络质量是否发生变化。</a:t>
            </a: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>
            <p:custDataLst>
              <p:tags r:id="rId6"/>
            </p:custDataLst>
          </p:nvPr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矩形 52"/>
          <p:cNvSpPr/>
          <p:nvPr>
            <p:custDataLst>
              <p:tags r:id="rId7"/>
            </p:custDataLst>
          </p:nvPr>
        </p:nvSpPr>
        <p:spPr>
          <a:xfrm>
            <a:off x="-286" y="3034464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8"/>
            </p:custDataLst>
          </p:nvPr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9"/>
            </p:custDataLst>
          </p:nvPr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10"/>
            </p:custDataLst>
          </p:nvPr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11"/>
            </p:custDataLst>
          </p:nvPr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12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13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  <p:sp>
        <p:nvSpPr>
          <p:cNvPr id="4" name="文本框 3"/>
          <p:cNvSpPr txBox="1"/>
          <p:nvPr>
            <p:custDataLst>
              <p:tags r:id="rId14"/>
            </p:custDataLst>
          </p:nvPr>
        </p:nvSpPr>
        <p:spPr>
          <a:xfrm>
            <a:off x="2892425" y="2967096"/>
            <a:ext cx="9003030" cy="1291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生命周期对探测结果的干扰：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探测包没有得到回应可能源于网络设备故障，也可能地址生命周期到达，导致探测结果缺乏确定性结论，难以支持故障规避、路由调度等下游任务。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92BAC82A-D576-5793-83B8-D120C556E8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242578" cy="324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D05177DB-86C8-3AE9-FE10-4802FF60B5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696302F-FCE9-C4B7-D5F1-331B4CA6C61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38426" y="4258796"/>
            <a:ext cx="6842424" cy="11880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760E0B9-EC4B-5212-2A8A-B407F3F580B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38426" y="5430143"/>
            <a:ext cx="6754631" cy="11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597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2718" y="492189"/>
            <a:ext cx="523401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研究内容三：网络异常检测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892718" y="1347189"/>
            <a:ext cx="191791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拟解决思路</a:t>
            </a: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960988" y="1728788"/>
            <a:ext cx="8711565" cy="4615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Tx/>
              <a:buSzTx/>
              <a:buNone/>
            </a:pPr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利用</a:t>
            </a:r>
            <a:r>
              <a:rPr lang="zh-CN" altLang="en-US" sz="18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序列分析技术</a:t>
            </a:r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进行短期和长期时间窗口延迟异常检测</a:t>
            </a:r>
            <a:endParaRPr lang="en-US" altLang="zh-CN" sz="1800" b="1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短期检测：采用</a:t>
            </a:r>
            <a:r>
              <a:rPr lang="zh-CN" altLang="en-US" sz="18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局部异常因子等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对时间窗口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(5min)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内延迟分布进行异常检测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长期检测：采用</a:t>
            </a:r>
            <a:r>
              <a:rPr lang="zh-CN" altLang="en-US" sz="18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统计检验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等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来检测延迟异常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对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30min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聚合结果，根据是否偏离对数正态分布判定异常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</a:pPr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None/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利用多方法集成推断网络故障</a:t>
            </a:r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：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采用</a:t>
            </a:r>
            <a:r>
              <a:rPr lang="zh-CN" altLang="en-US" sz="18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贝叶斯</a:t>
            </a:r>
            <a:r>
              <a:rPr lang="zh-CN" altLang="en-US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等方法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建模实体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(AS/Prefix)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、生命周期变化和网络故障等因果依赖关系，推断网络故障概率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通过对地址角色进行分析，例如核心交换机、服务器、客户端等，借助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MTR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判断故障影响范围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利用别名主机响应所有地址但转发路径可能不同，辅助定位异常源自网络还是主机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>
            <p:custDataLst>
              <p:tags r:id="rId6"/>
            </p:custDataLst>
          </p:nvPr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矩形 52"/>
          <p:cNvSpPr/>
          <p:nvPr>
            <p:custDataLst>
              <p:tags r:id="rId7"/>
            </p:custDataLst>
          </p:nvPr>
        </p:nvSpPr>
        <p:spPr>
          <a:xfrm>
            <a:off x="-286" y="3035099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8"/>
            </p:custDataLst>
          </p:nvPr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9"/>
            </p:custDataLst>
          </p:nvPr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10"/>
            </p:custDataLst>
          </p:nvPr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11"/>
            </p:custDataLst>
          </p:nvPr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12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13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</p:spTree>
    <p:extLst>
      <p:ext uri="{BB962C8B-B14F-4D97-AF65-F5344CB8AC3E}">
        <p14:creationId xmlns:p14="http://schemas.microsoft.com/office/powerpoint/2010/main" val="4117319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30518" y="3828746"/>
            <a:ext cx="25291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结论和未来方向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892717" y="492189"/>
            <a:ext cx="645602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预期成果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2909059" y="1498604"/>
            <a:ext cx="8246110" cy="1142365"/>
            <a:chOff x="2904102" y="1498604"/>
            <a:chExt cx="8246110" cy="1142365"/>
          </a:xfrm>
        </p:grpSpPr>
        <p:sp>
          <p:nvSpPr>
            <p:cNvPr id="27" name="文本框 26"/>
            <p:cNvSpPr txBox="1"/>
            <p:nvPr>
              <p:custDataLst>
                <p:tags r:id="rId14"/>
              </p:custDataLst>
            </p:nvPr>
          </p:nvSpPr>
          <p:spPr>
            <a:xfrm>
              <a:off x="2904102" y="1498604"/>
              <a:ext cx="2855595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p"/>
              </a:pPr>
              <a:r>
                <a:rPr lang="zh-CN" altLang="en-US" sz="2000" b="1" dirty="0">
                  <a:solidFill>
                    <a:srgbClr val="5E06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发表</a:t>
              </a:r>
              <a:r>
                <a:rPr lang="en-US" altLang="zh-CN" sz="2000" b="1" dirty="0">
                  <a:solidFill>
                    <a:srgbClr val="5E06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 dirty="0">
                  <a:solidFill>
                    <a:srgbClr val="5E06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篇相关论文</a:t>
              </a:r>
            </a:p>
          </p:txBody>
        </p:sp>
        <p:sp>
          <p:nvSpPr>
            <p:cNvPr id="28" name="文本框 27"/>
            <p:cNvSpPr txBox="1"/>
            <p:nvPr>
              <p:custDataLst>
                <p:tags r:id="rId15"/>
              </p:custDataLst>
            </p:nvPr>
          </p:nvSpPr>
          <p:spPr>
            <a:xfrm>
              <a:off x="2904102" y="1877064"/>
              <a:ext cx="8246110" cy="7639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285750" indent="-285750" algn="just">
                <a:lnSpc>
                  <a:spcPct val="150000"/>
                </a:lnSpc>
                <a:buFont typeface="Arial" panose="020B0604020202090204" pitchFamily="34" charset="0"/>
                <a:buChar char="•"/>
              </a:pP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目前正在做研究内容二 实时网络质量探测的实验验证工作</a:t>
              </a:r>
            </a:p>
            <a:p>
              <a:pPr marL="285750" indent="-285750" algn="just">
                <a:lnSpc>
                  <a:spcPct val="150000"/>
                </a:lnSpc>
                <a:buFont typeface="Arial" panose="020B0604020202090204" pitchFamily="34" charset="0"/>
                <a:buChar char="•"/>
              </a:pP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计划完成研究内容二 实时网络质量的研究工作，并将研究成果投稿到会议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2892549" y="3597697"/>
            <a:ext cx="8262762" cy="882559"/>
            <a:chOff x="2892616" y="2695362"/>
            <a:chExt cx="8262762" cy="882559"/>
          </a:xfrm>
        </p:grpSpPr>
        <p:sp>
          <p:nvSpPr>
            <p:cNvPr id="35" name="文本框 34"/>
            <p:cNvSpPr txBox="1"/>
            <p:nvPr>
              <p:custDataLst>
                <p:tags r:id="rId12"/>
              </p:custDataLst>
            </p:nvPr>
          </p:nvSpPr>
          <p:spPr>
            <a:xfrm>
              <a:off x="2892616" y="2695362"/>
              <a:ext cx="73761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p"/>
              </a:pPr>
              <a:r>
                <a:rPr lang="zh-CN" altLang="en-US" sz="2000" b="1" dirty="0">
                  <a:solidFill>
                    <a:srgbClr val="5E06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实现互联网</a:t>
              </a:r>
              <a:r>
                <a:rPr lang="en-US" altLang="zh-CN" sz="2000" b="1" dirty="0">
                  <a:solidFill>
                    <a:srgbClr val="5E06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IPv6</a:t>
              </a:r>
              <a:r>
                <a:rPr lang="zh-CN" altLang="en-US" sz="2000" b="1" dirty="0">
                  <a:solidFill>
                    <a:srgbClr val="5E06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实时质量探测系统，并申请相关专利</a:t>
              </a:r>
            </a:p>
          </p:txBody>
        </p:sp>
        <p:sp>
          <p:nvSpPr>
            <p:cNvPr id="36" name="文本框 35"/>
            <p:cNvSpPr txBox="1"/>
            <p:nvPr>
              <p:custDataLst>
                <p:tags r:id="rId13"/>
              </p:custDataLst>
            </p:nvPr>
          </p:nvSpPr>
          <p:spPr>
            <a:xfrm>
              <a:off x="2909126" y="3158191"/>
              <a:ext cx="8246252" cy="419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buClrTx/>
                <a:buSzTx/>
                <a:buFont typeface="Arial" panose="020B0604020202090204" pitchFamily="34" charset="0"/>
                <a:buChar char="•"/>
              </a:pP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实现集成目标地址生成、实时互联网探测、网络异常分析的系统，并申请相关专利</a:t>
              </a:r>
            </a:p>
          </p:txBody>
        </p:sp>
      </p:grpSp>
      <p:sp>
        <p:nvSpPr>
          <p:cNvPr id="34" name="矩形 33"/>
          <p:cNvSpPr/>
          <p:nvPr>
            <p:custDataLst>
              <p:tags r:id="rId1"/>
            </p:custDataLst>
          </p:nvPr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矩形 40"/>
          <p:cNvSpPr/>
          <p:nvPr>
            <p:custDataLst>
              <p:tags r:id="rId2"/>
            </p:custDataLst>
          </p:nvPr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2" name="矩形 41"/>
          <p:cNvSpPr/>
          <p:nvPr>
            <p:custDataLst>
              <p:tags r:id="rId3"/>
            </p:custDataLst>
          </p:nvPr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3" name="矩形 42"/>
          <p:cNvSpPr/>
          <p:nvPr>
            <p:custDataLst>
              <p:tags r:id="rId4"/>
            </p:custDataLst>
          </p:nvPr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矩形 52"/>
          <p:cNvSpPr/>
          <p:nvPr>
            <p:custDataLst>
              <p:tags r:id="rId5"/>
            </p:custDataLst>
          </p:nvPr>
        </p:nvSpPr>
        <p:spPr>
          <a:xfrm>
            <a:off x="-3461" y="3686609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6"/>
            </p:custDataLst>
          </p:nvPr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7"/>
            </p:custDataLst>
          </p:nvPr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8"/>
            </p:custDataLst>
          </p:nvPr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9"/>
            </p:custDataLst>
          </p:nvPr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10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11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2717" y="492189"/>
            <a:ext cx="645602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进度安排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863340" y="1751330"/>
            <a:ext cx="43795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2025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年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12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月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  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完成文献调研工作</a:t>
            </a:r>
          </a:p>
        </p:txBody>
      </p:sp>
      <p:cxnSp>
        <p:nvCxnSpPr>
          <p:cNvPr id="80" name="直接连接符 79"/>
          <p:cNvCxnSpPr/>
          <p:nvPr/>
        </p:nvCxnSpPr>
        <p:spPr>
          <a:xfrm>
            <a:off x="3464560" y="1228220"/>
            <a:ext cx="0" cy="5318125"/>
          </a:xfrm>
          <a:prstGeom prst="line">
            <a:avLst/>
          </a:prstGeom>
          <a:ln w="15875">
            <a:solidFill>
              <a:srgbClr val="5E06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椭圆 90"/>
          <p:cNvSpPr/>
          <p:nvPr/>
        </p:nvSpPr>
        <p:spPr>
          <a:xfrm>
            <a:off x="3356722" y="1792874"/>
            <a:ext cx="237985" cy="237985"/>
          </a:xfrm>
          <a:prstGeom prst="ellipse">
            <a:avLst/>
          </a:prstGeom>
          <a:solidFill>
            <a:srgbClr val="5E068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/>
          <p:cNvSpPr/>
          <p:nvPr/>
        </p:nvSpPr>
        <p:spPr>
          <a:xfrm>
            <a:off x="3409419" y="1845692"/>
            <a:ext cx="132591" cy="132591"/>
          </a:xfrm>
          <a:prstGeom prst="ellipse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>
            <p:custDataLst>
              <p:tags r:id="rId1"/>
            </p:custDataLst>
          </p:nvPr>
        </p:nvSpPr>
        <p:spPr>
          <a:xfrm>
            <a:off x="3352912" y="2471054"/>
            <a:ext cx="237985" cy="237985"/>
          </a:xfrm>
          <a:prstGeom prst="ellipse">
            <a:avLst/>
          </a:prstGeom>
          <a:solidFill>
            <a:srgbClr val="5E068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3405609" y="2523872"/>
            <a:ext cx="132591" cy="132591"/>
          </a:xfrm>
          <a:prstGeom prst="ellipse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>
            <p:custDataLst>
              <p:tags r:id="rId3"/>
            </p:custDataLst>
          </p:nvPr>
        </p:nvSpPr>
        <p:spPr>
          <a:xfrm>
            <a:off x="3356722" y="3559344"/>
            <a:ext cx="237985" cy="237985"/>
          </a:xfrm>
          <a:prstGeom prst="ellipse">
            <a:avLst/>
          </a:prstGeom>
          <a:solidFill>
            <a:srgbClr val="5E068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>
            <p:custDataLst>
              <p:tags r:id="rId4"/>
            </p:custDataLst>
          </p:nvPr>
        </p:nvSpPr>
        <p:spPr>
          <a:xfrm>
            <a:off x="3409419" y="3612161"/>
            <a:ext cx="132591" cy="132591"/>
          </a:xfrm>
          <a:prstGeom prst="ellipse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>
            <p:custDataLst>
              <p:tags r:id="rId5"/>
            </p:custDataLst>
          </p:nvPr>
        </p:nvSpPr>
        <p:spPr>
          <a:xfrm>
            <a:off x="3352912" y="4269542"/>
            <a:ext cx="237985" cy="237985"/>
          </a:xfrm>
          <a:prstGeom prst="ellipse">
            <a:avLst/>
          </a:prstGeom>
          <a:solidFill>
            <a:srgbClr val="5E068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>
            <p:custDataLst>
              <p:tags r:id="rId6"/>
            </p:custDataLst>
          </p:nvPr>
        </p:nvSpPr>
        <p:spPr>
          <a:xfrm>
            <a:off x="3405609" y="4322362"/>
            <a:ext cx="132591" cy="132591"/>
          </a:xfrm>
          <a:prstGeom prst="ellipse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7"/>
            </p:custDataLst>
          </p:nvPr>
        </p:nvSpPr>
        <p:spPr>
          <a:xfrm>
            <a:off x="3352912" y="5678514"/>
            <a:ext cx="237985" cy="237985"/>
          </a:xfrm>
          <a:prstGeom prst="ellipse">
            <a:avLst/>
          </a:prstGeom>
          <a:solidFill>
            <a:srgbClr val="5E068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>
            <p:custDataLst>
              <p:tags r:id="rId8"/>
            </p:custDataLst>
          </p:nvPr>
        </p:nvSpPr>
        <p:spPr>
          <a:xfrm>
            <a:off x="3405609" y="5731332"/>
            <a:ext cx="132591" cy="132591"/>
          </a:xfrm>
          <a:prstGeom prst="ellipse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9"/>
            </p:custDataLst>
          </p:nvPr>
        </p:nvSpPr>
        <p:spPr>
          <a:xfrm>
            <a:off x="3863340" y="2392045"/>
            <a:ext cx="74663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2026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年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04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月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  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完成研究内容二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实时网络质量探测 的实验和投稿工作</a:t>
            </a:r>
          </a:p>
        </p:txBody>
      </p:sp>
      <p:sp>
        <p:nvSpPr>
          <p:cNvPr id="26" name="文本框 25"/>
          <p:cNvSpPr txBox="1"/>
          <p:nvPr>
            <p:custDataLst>
              <p:tags r:id="rId10"/>
            </p:custDataLst>
          </p:nvPr>
        </p:nvSpPr>
        <p:spPr>
          <a:xfrm>
            <a:off x="3863340" y="3446045"/>
            <a:ext cx="81959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2026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年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0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5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月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  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工作内容三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互联网探测与异常检测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系统上线，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  <a:sym typeface="+mn-ea"/>
              </a:rPr>
              <a:t>撰写专利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 M" panose="00020600040101010101" pitchFamily="18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1"/>
            </p:custDataLst>
          </p:nvPr>
        </p:nvSpPr>
        <p:spPr>
          <a:xfrm>
            <a:off x="3863340" y="4909125"/>
            <a:ext cx="69221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2027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年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04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月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  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完成硕士论文撰写完成、送审、预答辩</a:t>
            </a:r>
          </a:p>
        </p:txBody>
      </p:sp>
      <p:sp>
        <p:nvSpPr>
          <p:cNvPr id="29" name="文本框 28"/>
          <p:cNvSpPr txBox="1"/>
          <p:nvPr>
            <p:custDataLst>
              <p:tags r:id="rId12"/>
            </p:custDataLst>
          </p:nvPr>
        </p:nvSpPr>
        <p:spPr>
          <a:xfrm>
            <a:off x="3895725" y="5587440"/>
            <a:ext cx="58654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2027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年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05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月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  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硕士论文答辩</a:t>
            </a:r>
          </a:p>
        </p:txBody>
      </p:sp>
      <p:sp>
        <p:nvSpPr>
          <p:cNvPr id="31" name="文本框 30"/>
          <p:cNvSpPr txBox="1"/>
          <p:nvPr>
            <p:custDataLst>
              <p:tags r:id="rId13"/>
            </p:custDataLst>
          </p:nvPr>
        </p:nvSpPr>
        <p:spPr>
          <a:xfrm>
            <a:off x="3863340" y="4170848"/>
            <a:ext cx="74669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2026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年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2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月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  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将研究成果应用到项目并结题</a:t>
            </a:r>
          </a:p>
        </p:txBody>
      </p:sp>
      <p:sp>
        <p:nvSpPr>
          <p:cNvPr id="33" name="椭圆 32"/>
          <p:cNvSpPr/>
          <p:nvPr>
            <p:custDataLst>
              <p:tags r:id="rId14"/>
            </p:custDataLst>
          </p:nvPr>
        </p:nvSpPr>
        <p:spPr>
          <a:xfrm>
            <a:off x="3356722" y="4949399"/>
            <a:ext cx="237985" cy="237985"/>
          </a:xfrm>
          <a:prstGeom prst="ellipse">
            <a:avLst/>
          </a:prstGeom>
          <a:solidFill>
            <a:srgbClr val="5E068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>
            <p:custDataLst>
              <p:tags r:id="rId15"/>
            </p:custDataLst>
          </p:nvPr>
        </p:nvSpPr>
        <p:spPr>
          <a:xfrm>
            <a:off x="3409419" y="5002217"/>
            <a:ext cx="132591" cy="132591"/>
          </a:xfrm>
          <a:prstGeom prst="ellipse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>
            <p:custDataLst>
              <p:tags r:id="rId16"/>
            </p:custDataLst>
          </p:nvPr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矩形 35"/>
          <p:cNvSpPr/>
          <p:nvPr>
            <p:custDataLst>
              <p:tags r:id="rId17"/>
            </p:custDataLst>
          </p:nvPr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7" name="矩形 36"/>
          <p:cNvSpPr/>
          <p:nvPr>
            <p:custDataLst>
              <p:tags r:id="rId18"/>
            </p:custDataLst>
          </p:nvPr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0" name="矩形 39"/>
          <p:cNvSpPr/>
          <p:nvPr>
            <p:custDataLst>
              <p:tags r:id="rId19"/>
            </p:custDataLst>
          </p:nvPr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矩形 52"/>
          <p:cNvSpPr/>
          <p:nvPr>
            <p:custDataLst>
              <p:tags r:id="rId20"/>
            </p:custDataLst>
          </p:nvPr>
        </p:nvSpPr>
        <p:spPr>
          <a:xfrm>
            <a:off x="-3461" y="4340024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21"/>
            </p:custDataLst>
          </p:nvPr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22"/>
            </p:custDataLst>
          </p:nvPr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23"/>
            </p:custDataLst>
          </p:nvPr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24"/>
            </p:custDataLst>
          </p:nvPr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25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26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2598234" y="-719253"/>
            <a:ext cx="479502" cy="479502"/>
          </a:xfrm>
          <a:prstGeom prst="ellipse">
            <a:avLst/>
          </a:prstGeom>
          <a:solidFill>
            <a:srgbClr val="FF9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3464312" y="-886521"/>
            <a:ext cx="479502" cy="479502"/>
          </a:xfrm>
          <a:prstGeom prst="ellipse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4330390" y="-1225188"/>
            <a:ext cx="479502" cy="479502"/>
          </a:xfrm>
          <a:prstGeom prst="ellipse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5196468" y="-719253"/>
            <a:ext cx="479502" cy="479502"/>
          </a:xfrm>
          <a:prstGeom prst="ellipse">
            <a:avLst/>
          </a:prstGeom>
          <a:solidFill>
            <a:srgbClr val="7B2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7325" y="-1181100"/>
            <a:ext cx="1457325" cy="11811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57325" y="207575"/>
            <a:ext cx="1123950" cy="7334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2" y="-646190"/>
            <a:ext cx="1733550" cy="333375"/>
          </a:xfrm>
          <a:prstGeom prst="rect">
            <a:avLst/>
          </a:prstGeom>
          <a:solidFill>
            <a:srgbClr val="FF9600"/>
          </a:solidFill>
        </p:spPr>
      </p:pic>
      <p:sp>
        <p:nvSpPr>
          <p:cNvPr id="11" name="矩形 10"/>
          <p:cNvSpPr/>
          <p:nvPr/>
        </p:nvSpPr>
        <p:spPr>
          <a:xfrm>
            <a:off x="-1" y="1"/>
            <a:ext cx="3184265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563151" y="2493844"/>
            <a:ext cx="2088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参考文献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33894" y="3256193"/>
            <a:ext cx="2274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REFERENCES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370580" y="194945"/>
            <a:ext cx="8821420" cy="17081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Beverly R,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Durairajan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R,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Plonka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D, et al. In the IP of the beholder: Strategies for active IPv6 topology discovery//Proceedings of the Internet Measurement Conference 2018. Boston, USA.2018: 308-321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Vermeulen K, Rohrer J P, Beverly R, et al. Diamond-Miner: Comprehensive Discovery of the Internet's Topology Diamonds// Proceedings of the 17th USENIX Symposium on Networked Systems Design and Implementation (NSDI 20). Santa Clara, USA.2020: 479-493 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Durumeric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Z,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Wustrow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E,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Halderman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 A.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ZMap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fast internet-wide scanning and its security applications// Proceedings of the 22nd USENIX Security Symposium (USENIX Security 13). Washington, USA.2013: 605-620 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Izhikevich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L, Teixeira R,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Durumeric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Z. LZR: Identifying unexpected internet services// Proceedings of the 30th USENIX Security Symposium (USENIX Security 21). Virtual, Online. 2021: 3111-3128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[5]K.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Borgolte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Hao, T.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Fiebig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 Vigna, Enumerating active IPv6 hosts for largescale security scans via DNSSEC-signed reverse zones, in: Proc. SP 2018, IEEE,USA, 2018, pp. 770–784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[6]Y. Tao, G. Hu, B. Hou, Z. Cai, J. Xia, C.C. Fong, An alias resolution method based on delay sequence analysis, CMC-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Mater. Continua 63 (3) (2020) 1433–1443.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[7]John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Heidemann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Yuri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Pradkin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Ramesh Govindan, Christos Papadopoulos, Genevieve Bartlett, and Joseph Bannister. Census and survey of the visible internet. //Proceedings of the 8th ACM SIGCOMM conference on Internet measurement, pages 169–182, 2008.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[8]Kensuke Fukuda and John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Heidemann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Who knocks at the ipv6 door? detecting ipv6 scanning. // Proceedings of the Internet Measurement Conference 2018, pages 231–237, 2018.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[9]J.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Matherly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(2022). Shodan: The Search Engine for Internet-Connected Devices. [Online]. Available: 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https://www.shodan.io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[10]Z.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Durumeric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Adrian, A.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Mirian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Bailey, and J. A.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Halderman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,“A search engine backed by internet-wide scanning,” in Proc. 22nd ACM SIGSAC Conf.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Oct. 2015, pp. 542–553.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[11]Z.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Durumeric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Adrian, A.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Mirian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Bailey, and J. A.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Halderman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,“A search engine backed by internet-wide scanning,” in Proc. 22nd ACM SIGSAC Conf.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Oct. 2015, pp. 542–553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[12]J.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Czyz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Luckie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Allman, and M. Bailey, “Don’t forget to lock the back door! A characterization of IPv6 network security policy,” in Proc.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Syst.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Symp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2016, pp. 1–15.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[13]H. Dawood, “IPv6 security vulnerabilities,” Int. J. Inf.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Sci., vol. 1,no. 4, pp. 100–105, 2012.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[14]R. Beverly, “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Yarrp’ing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internet: Randomized high-speed active topology discovery,” in Proc. IMC, Nov. 2016, pp. 413–420.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[15]R. Beverly, R.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Durairajan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Plonka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J. P. Rohrer, “In the IP of the beholder: Strategies for active IPv6 topology discovery,” in Proc.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IMC,Oct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2018, pp. 308–321.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[16]R. Padmanabhan, J. P.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Rula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 Richter, S. D.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Strowes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Dainotti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,“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DynamIPs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 assignment practices in IPv4 and IPv6,” in Proc.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CoNEXT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Nov. 2020, pp. 55–70.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[17]E. Rye, R. Beverly, and K. C.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Claffy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“Follow the scent: Defeating IPv6 prefix rotation privacy,” in Proc. IMC, Nov. 2021, pp. 739–752.</a:t>
            </a:r>
            <a:b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[18]M.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Gharaibeh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A. Shah, B. Huffaker, H. Zhang, R.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Ensafi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and C. Papadopoulos, “A look at router geolocation in public and commercial databases,” in Proc. IMC, Nov. 2017, pp. 463–469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2598234" y="-719253"/>
            <a:ext cx="479502" cy="479502"/>
          </a:xfrm>
          <a:prstGeom prst="ellipse">
            <a:avLst/>
          </a:prstGeom>
          <a:solidFill>
            <a:srgbClr val="FF9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3464312" y="-886521"/>
            <a:ext cx="479502" cy="479502"/>
          </a:xfrm>
          <a:prstGeom prst="ellipse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4330390" y="-1225188"/>
            <a:ext cx="479502" cy="479502"/>
          </a:xfrm>
          <a:prstGeom prst="ellipse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5196468" y="-719253"/>
            <a:ext cx="479502" cy="479502"/>
          </a:xfrm>
          <a:prstGeom prst="ellipse">
            <a:avLst/>
          </a:prstGeom>
          <a:solidFill>
            <a:srgbClr val="7B2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57325" y="-1181100"/>
            <a:ext cx="1457325" cy="11811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57325" y="207575"/>
            <a:ext cx="1123950" cy="7334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722" y="-646190"/>
            <a:ext cx="1733550" cy="333375"/>
          </a:xfrm>
          <a:prstGeom prst="rect">
            <a:avLst/>
          </a:prstGeom>
          <a:solidFill>
            <a:srgbClr val="FF9600"/>
          </a:solidFill>
        </p:spPr>
      </p:pic>
      <p:sp>
        <p:nvSpPr>
          <p:cNvPr id="11" name="矩形 10"/>
          <p:cNvSpPr/>
          <p:nvPr/>
        </p:nvSpPr>
        <p:spPr>
          <a:xfrm>
            <a:off x="-1" y="1"/>
            <a:ext cx="3184265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563151" y="2493844"/>
            <a:ext cx="2088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参考文献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33894" y="3256193"/>
            <a:ext cx="2274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REFERENCES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42685" y="207575"/>
            <a:ext cx="8442325" cy="71096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[19]A.S.A.M.S. Ahmed, R. Hassan, N.E. Othman, Ipv6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neighbor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discovery protocol specifications, threats and countermeasures: a survey, IEEE Access 5 (2017) 18187–18210.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[20]Soo-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Jin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Moon, Yucheng Yin, Rahul Anand Sharma,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Yifei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Yuan, Jonathan M Spring, and Vyas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Sekar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Accurately measuring global risk of amplification attacks using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ampmap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//Proceedings of the 30th USENIX Security Symposium (USENIX Security 21), 2021.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[21]Z.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Durumeric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et al., “The matter of heart-bleed,” in Proc. IMC, 2014, pp. 475–488.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[22]Graham R.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MASSCAN.https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://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github.com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robertdavidgraham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masscan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2023,12,20.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[23]Google. IPv6 Adoption Statistics, https://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www.google.com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intl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/ipv6/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statistics.html#tab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=ipv6-adoption,2023,12,20.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[24]Thomson S,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Narten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T,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Jinmei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T. IPv6 Stateless Address Autoconfiguration[J/OL]. RFC, 2007,4862: 1-30. https://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doi.org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/10.17487/RFC4862.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[25]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Mrugalski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T,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Siodelski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M, Volz B, et al. Dynamic Host Configuration Protocol for IPv6(DHCPv6)[J/OL]. RFC, 2018, 8415: 1-154. https://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doi.org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/10.17487/RFC8415.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[26]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Droms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 E, Bound J, Volz B, et al. Dynamic host configuration protocol for ipv6 (dhcpv6)[J/OL]. RFC, 2003, 3315: 1-101. https://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doi.org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/10.17487/RFC3315.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[27]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Gont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F,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Chown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T. Network Reconnaissance in IPv6 Networks[J/OL]. RFC, 2016, 7707: 1-38.https://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doi.org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/10.17487/RFC7707.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[28]Bao C, Huitema C,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Bagnulo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M, et al. IPv6 Addressing of IPv4/IPv6 Translators[J/OL]. RFC,2010, 6052: 1-18. https://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doi.org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/10.17487/RFC6052.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[29]Huitema C. Teredo: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Tunneling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IPv6 over UDP through Network Address Translations (NATs)[J/OL]. RFC, 2006, 4380: 1-53. https://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doi.org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/10.17487/RFC4380.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[30]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Hinden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 M, Deering S E. IP Version 6 Addressing Architecture[J/OL]. RFC, 2006, 4291:1-25. https://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doi.org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/10.17487/RFC4291.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[31]Kawamura S, Kawashima M. A Recommendation for IPv6 Address Text Representation[J/OL].RFC, 2010, 5952: 1-14. https://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doi.org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/10.17487/RFC5952.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[32]Cui T, Gou G,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Xiong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G, et al. 6GAN: IPv6 multi-pattern target generation via generative adversarial nets with reinforcement learning[C]//IEEE INFOCOM 2021-IEEE Conference on Computer Communications. IEEE, 2021: 1-10.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[33] Ullrich J,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Kieseberg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P,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Krombholz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K, et al. On reconnaissance with IPv6: a pattern-based scanning approach[C]//2015 10th International Conference on Availability, Reliability and Security. IEEE, 2015: 186-192. 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[34]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Foremski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P,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Plonka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D, Berger A. Entropy/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Uncovering structure in ipv6 addresses[C]//Proceedings of the 2016 Internet Measurement Conference. 2016: 167-181.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[35]Murdock A, Li F, Bramsen P, et al. Target generation for internet-wide IPv6 scanning[C]//Proceedings of the 2017 Internet Measurement Conference. 2017: 242-253. 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[36]Liu Z,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Xiong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Y, Liu X, et al. 6Tree: Efficient dynamic discovery of active addresses in the IPv6 address space[J]. Computer Networks, 2019, 155: 31-46.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[37]Cui T, Gou G,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Xiong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G. 6gcvae: Gated convolutional variational autoencoder for ipv6 target generation[C]//Advances in Knowledge Discovery and Data Mining: 24th Pacific-Asia Conference, PAKDD 2020, Singapore, May 11–14, 2020, Proceedings, Part I 24. Springer International Publishing, 2020: 609-622.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[38]Cui T,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Xiong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G, Gou G, et al. 6veclm: Language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modeling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in vector space for ipv6 target generation[C]//Machine Learning and Knowledge Discovery in Databases: Applied Data Science Track: European Conference, ECML PKDD 2020, Ghent, Belgium, September 14–18, 2020, Proceedings, Part IV. Springer International Publishing, 2021: 192-207.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图片包含 户外, 建筑, 路, 钟表&#10;&#10;描述已自动生成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38" b="34183"/>
          <a:stretch>
            <a:fillRect/>
          </a:stretch>
        </p:blipFill>
        <p:spPr>
          <a:xfrm>
            <a:off x="0" y="1453109"/>
            <a:ext cx="12192000" cy="3218647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1453109"/>
            <a:ext cx="12192000" cy="3218647"/>
          </a:xfrm>
          <a:prstGeom prst="rect">
            <a:avLst/>
          </a:prstGeom>
          <a:solidFill>
            <a:srgbClr val="5E068C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943793" y="2496149"/>
            <a:ext cx="10304414" cy="988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感谢您的聆听！请各位老师批评指正！</a:t>
            </a:r>
          </a:p>
        </p:txBody>
      </p:sp>
      <p:sp>
        <p:nvSpPr>
          <p:cNvPr id="23" name="矩形 22"/>
          <p:cNvSpPr/>
          <p:nvPr/>
        </p:nvSpPr>
        <p:spPr>
          <a:xfrm>
            <a:off x="5788781" y="4031081"/>
            <a:ext cx="614438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26" name="图片 25" descr="图片包含 游戏机, 画, 房间&#10;&#10;描述已自动生成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9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7764" y="1719113"/>
            <a:ext cx="908696" cy="903249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0" y="4671756"/>
            <a:ext cx="12192000" cy="88069"/>
          </a:xfrm>
          <a:prstGeom prst="rect">
            <a:avLst/>
          </a:prstGeom>
          <a:solidFill>
            <a:srgbClr val="FF9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2432050" y="5342255"/>
            <a:ext cx="7856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答辩人：郑盛东  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 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指导老师：张千里   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 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答辩日期：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</p:txBody>
      </p:sp>
      <p:sp>
        <p:nvSpPr>
          <p:cNvPr id="2" name="椭圆 1"/>
          <p:cNvSpPr/>
          <p:nvPr/>
        </p:nvSpPr>
        <p:spPr>
          <a:xfrm>
            <a:off x="5196468" y="291235"/>
            <a:ext cx="1609958" cy="16099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1886" y="459274"/>
            <a:ext cx="1377135" cy="13688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 descr="图片包含 户外, 建筑, 钟表, 前&#10;&#10;描述已自动生成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04" b="18576"/>
          <a:stretch>
            <a:fillRect/>
          </a:stretch>
        </p:blipFill>
        <p:spPr>
          <a:xfrm>
            <a:off x="-10376" y="0"/>
            <a:ext cx="12182104" cy="6858000"/>
          </a:xfrm>
          <a:prstGeom prst="rect">
            <a:avLst/>
          </a:prstGeom>
          <a:ln>
            <a:noFill/>
          </a:ln>
        </p:spPr>
      </p:pic>
      <p:sp>
        <p:nvSpPr>
          <p:cNvPr id="34" name="矩形 33"/>
          <p:cNvSpPr/>
          <p:nvPr/>
        </p:nvSpPr>
        <p:spPr>
          <a:xfrm>
            <a:off x="-10376" y="0"/>
            <a:ext cx="12202376" cy="6858000"/>
          </a:xfrm>
          <a:prstGeom prst="rect">
            <a:avLst/>
          </a:prstGeom>
          <a:gradFill flip="none" rotWithShape="1">
            <a:gsLst>
              <a:gs pos="52000">
                <a:srgbClr val="FFFFFF">
                  <a:alpha val="95000"/>
                </a:srgbClr>
              </a:gs>
              <a:gs pos="0">
                <a:schemeClr val="bg1">
                  <a:alpha val="70000"/>
                </a:schemeClr>
              </a:gs>
              <a:gs pos="100000">
                <a:schemeClr val="bg1">
                  <a:alpha val="95000"/>
                </a:schemeClr>
              </a:gs>
            </a:gsLst>
            <a:lin ang="10800000" scaled="1"/>
            <a:tileRect/>
          </a:gradFill>
          <a:ln w="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1301750" y="1952625"/>
            <a:ext cx="9791366" cy="2004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IPv6</a:t>
            </a:r>
            <a:r>
              <a: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互联网性能测量与异常检测研究</a:t>
            </a:r>
            <a:endParaRPr lang="zh-CN" alt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313139" y="3008094"/>
            <a:ext cx="549955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硕士论文开题报告</a:t>
            </a:r>
            <a:endParaRPr lang="zh-CN" altLang="en-US" sz="2800" b="1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429072" y="3898190"/>
            <a:ext cx="1112334" cy="880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25" name="图片 24" descr="图片包含 游戏机, 画&#10;&#10;描述已自动生成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5" y="558275"/>
            <a:ext cx="5426935" cy="122695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888833" y="2158192"/>
            <a:ext cx="169333" cy="1588463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1301564" y="4345426"/>
            <a:ext cx="744382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答辩人：郑盛东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指导老师：张千里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答辩日期：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2025.12.23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5E068C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5E068C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清华大学毕业答辩学术PPT模板</Template>
  <TotalTime>12589</TotalTime>
  <Words>7117</Words>
  <Application>Microsoft Macintosh PowerPoint</Application>
  <PresentationFormat>宽屏</PresentationFormat>
  <Paragraphs>542</Paragraphs>
  <Slides>23</Slides>
  <Notes>21</Notes>
  <HiddenSlides>1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8" baseType="lpstr">
      <vt:lpstr>等线</vt:lpstr>
      <vt:lpstr>等线 Light</vt:lpstr>
      <vt:lpstr>微软雅黑</vt:lpstr>
      <vt:lpstr>Alibaba PuHuiTi M</vt:lpstr>
      <vt:lpstr>Kaiti SC Regular</vt:lpstr>
      <vt:lpstr>Microsoft YaHei Light</vt:lpstr>
      <vt:lpstr>PingFang SC</vt:lpstr>
      <vt:lpstr>Times New Roman Bold</vt:lpstr>
      <vt:lpstr>Times New Roman Regular</vt:lpstr>
      <vt:lpstr>Arial</vt:lpstr>
      <vt:lpstr>Calibri</vt:lpstr>
      <vt:lpstr>Times New Roman</vt:lpstr>
      <vt:lpstr>Wingdings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duaiduai</dc:creator>
  <cp:lastModifiedBy>dongdong</cp:lastModifiedBy>
  <cp:revision>191</cp:revision>
  <dcterms:created xsi:type="dcterms:W3CDTF">2023-12-25T03:33:28Z</dcterms:created>
  <dcterms:modified xsi:type="dcterms:W3CDTF">2025-12-23T03:51:12Z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90610EE527238749E1B27A6527E0B04A_43</vt:lpwstr>
  </property>
  <property fmtid="{D5CDD505-2E9C-101B-9397-08002B2CF9AE}" pid="3" name="KSOProductBuildVer">
    <vt:lpwstr>2052-6.4.0.8550</vt:lpwstr>
  </property>
</Properties>
</file>